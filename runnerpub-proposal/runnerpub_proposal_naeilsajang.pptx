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발신은 주식회사 내일사장입니다. 가맹 개설 영업을 전면 위임받겠다는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러너펍은 개설 이후 구조가 완비돼 있습니다. 남은 한 가지가 계약 가능한 창업자 모수입니다.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모수를 새로 만드실 필요가 없습니다. 이 값은 이번 제안 이전에 확보돼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2023년 설립 이후 프랜차이즈 본사를 상대로 쌓아 온 이력입니다.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가맹 개설을 본사에서 직접 해 본 사람들이 만든 회사입니다.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플랫폼 지표가 아니라 가맹을 판 실적입니다.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러너펍에 필요한 창업 수요는 이 제휴망 안에서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창업자가 결정을 미루는 자리마다 근거 문서를 내놓습니다.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본사는 승인만 하시면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대안과 나란히 놓아야 위임이 계산됩니다.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청구는 계약이 체결되고 가맹비 입금이 확인된 뒤에만 발생합니다.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계약 시점에 이미 흑자입니다.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준법은 사람이 아니라 시스템이 강제합니다.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숨기지 않고 먼저 말씀드립니다. 검증 방법은 본사가 정하십니다.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가지만 정해 주시면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3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3.png"/><Relationship Id="rId5" Type="http://schemas.openxmlformats.org/officeDocument/2006/relationships/image" Target="../media/image-12-3.png"/><Relationship Id="rId6" Type="http://schemas.openxmlformats.org/officeDocument/2006/relationships/image" Target="../media/image-12-3.png"/><Relationship Id="rId7" Type="http://schemas.openxmlformats.org/officeDocument/2006/relationships/image" Target="../media/image-12-3.png"/><Relationship Id="rId8" Type="http://schemas.openxmlformats.org/officeDocument/2006/relationships/image" Target="../media/image-12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358384"/>
          </a:xfrm>
          <a:prstGeom prst="rect">
            <a:avLst/>
          </a:prstGeom>
        </p:spPr>
      </p:pic>
      <p:pic>
        <p:nvPicPr>
          <p:cNvPr id="3" name="Image 1" descr="/home/user/onewillco-meeting-2026/runnerpub-proposal/assets/gr_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8384"/>
            <a:ext cx="12191695" cy="149961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5800" y="859536"/>
            <a:ext cx="62179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4"/>
              </a:lnSpc>
              <a:buNone/>
            </a:pPr>
            <a:r>
              <a:rPr lang="en-US" sz="1100" b="1" spc="2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영업 전면 위임</a:t>
            </a:r>
            <a:endParaRPr lang="en-US" sz="1100" dirty="0"/>
          </a:p>
        </p:txBody>
      </p:sp>
      <p:sp>
        <p:nvSpPr>
          <p:cNvPr id="5" name="Shape 1"/>
          <p:cNvSpPr/>
          <p:nvPr/>
        </p:nvSpPr>
        <p:spPr>
          <a:xfrm>
            <a:off x="685800" y="1225296"/>
            <a:ext cx="1463040" cy="27432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" name="Text 2"/>
          <p:cNvSpPr/>
          <p:nvPr/>
        </p:nvSpPr>
        <p:spPr>
          <a:xfrm>
            <a:off x="685800" y="1444752"/>
            <a:ext cx="6217920" cy="8046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가맹영업대행 제안서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85800" y="2304288"/>
            <a:ext cx="6217920" cy="493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갖춘 개설 구조에 내일사장이 확보한 창업 수요를 붙입니다.</a:t>
            </a:r>
            <a:endParaRPr lang="en-US" sz="11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계약이 성사된 건에만 비용이 발생합니다.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85800" y="2926080"/>
            <a:ext cx="62179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3035808"/>
            <a:ext cx="6217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1건당 성공보수 (VAT 별도)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3310128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-14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</a:t>
            </a:r>
            <a:pPr indent="0" marL="0"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만원</a:t>
            </a:r>
            <a:endParaRPr lang="en-US" sz="4200" dirty="0"/>
          </a:p>
        </p:txBody>
      </p:sp>
      <p:sp>
        <p:nvSpPr>
          <p:cNvPr id="11" name="Text 7"/>
          <p:cNvSpPr/>
          <p:nvPr/>
        </p:nvSpPr>
        <p:spPr>
          <a:xfrm>
            <a:off x="685800" y="4114800"/>
            <a:ext cx="6217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1,500만원 − 성공보수 1,000만원 = 계약 시점 본사 순수취 +500만원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85800" y="4645152"/>
            <a:ext cx="6217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계약 체결 및 가맹비 입금 완료 건에만 청구하며, 착수금 · 월 고정비 · 광고비 없음 (러너펍 공개 가맹 안내 기준)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7269480" y="1513508"/>
            <a:ext cx="4236415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40"/>
              </a:lnSpc>
              <a:buNone/>
            </a:pPr>
            <a:r>
              <a:rPr lang="en-US" sz="1000" b="1" spc="14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대상 업종  ·  RUNNER PUB 홀덤 라운지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69480" y="1879268"/>
            <a:ext cx="4236415" cy="2313080"/>
          </a:xfrm>
          <a:prstGeom prst="roundRect">
            <a:avLst>
              <a:gd name="adj" fmla="val 2372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15" name="Image 2" descr="/home/user/onewillco-meeting-2026/runnerpub-proposal/assets/p11_p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153588"/>
            <a:ext cx="3687775" cy="15449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452360" y="3790012"/>
            <a:ext cx="387065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대상 매장 구성 — 홀덤 테이블 · 바 · 라운지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85800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확보된 창업 수요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85800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10만 · 예비창업자 DB 5,114명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262808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0" name="Text 15"/>
          <p:cNvSpPr/>
          <p:nvPr/>
        </p:nvSpPr>
        <p:spPr>
          <a:xfrm>
            <a:off x="3390824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범위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390824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발굴부터 클로징까지 전 과정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967832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3" name="Text 18"/>
          <p:cNvSpPr/>
          <p:nvPr/>
        </p:nvSpPr>
        <p:spPr>
          <a:xfrm>
            <a:off x="6095848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구조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095848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성사 건에만 1,000만원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8672855" y="5614416"/>
            <a:ext cx="9144" cy="402336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sp>
        <p:nvSpPr>
          <p:cNvPr id="26" name="Text 21"/>
          <p:cNvSpPr/>
          <p:nvPr/>
        </p:nvSpPr>
        <p:spPr>
          <a:xfrm>
            <a:off x="8800871" y="5577840"/>
            <a:ext cx="24489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방식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8800871" y="5779008"/>
            <a:ext cx="2448992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기간 · 건수 본사 결정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685800" y="6126480"/>
            <a:ext cx="10820095" cy="9144"/>
          </a:xfrm>
          <a:prstGeom prst="rect">
            <a:avLst/>
          </a:prstGeom>
          <a:solidFill>
            <a:srgbClr val="3A5580"/>
          </a:solidFill>
          <a:ln>
            <a:noFill/>
          </a:ln>
        </p:spPr>
      </p:sp>
      <p:pic>
        <p:nvPicPr>
          <p:cNvPr id="29" name="Image 3" descr="/home/user/onewillco-meeting-2026/runnerpub-proposal/assets/ns_logo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6309370"/>
            <a:ext cx="1237578" cy="274300"/>
          </a:xfrm>
          <a:prstGeom prst="rect">
            <a:avLst/>
          </a:prstGeom>
        </p:spPr>
      </p:pic>
      <p:pic>
        <p:nvPicPr>
          <p:cNvPr id="30" name="Image 4" descr="/home/user/onewillco-meeting-2026/runnerpub-proposal/assets/ic_arrow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834" y="6336792"/>
            <a:ext cx="219456" cy="219456"/>
          </a:xfrm>
          <a:prstGeom prst="rect">
            <a:avLst/>
          </a:prstGeom>
        </p:spPr>
      </p:pic>
      <p:pic>
        <p:nvPicPr>
          <p:cNvPr id="31" name="Image 5" descr="/home/user/onewillco-meeting-2026/runnerpub-proposal/asset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746" y="6279559"/>
            <a:ext cx="1016607" cy="33392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19495" y="621792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F7F9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 러너스튜디오(주) 귀중 · 대표 박경관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019495" y="643737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8C0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 지용관 본부장 · 010-3629-7778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0"/>
            <a:ext cx="5516575" cy="56052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5120" y="0"/>
            <a:ext cx="9144" cy="5605272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685800" y="1263701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갖춘 것과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채우는 것</a:t>
            </a:r>
            <a:endParaRPr lang="en-US" sz="2500" dirty="0"/>
          </a:p>
        </p:txBody>
      </p:sp>
      <p:sp>
        <p:nvSpPr>
          <p:cNvPr id="10" name="Shape 6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1" name="Text 7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2" name="Text 8"/>
          <p:cNvSpPr/>
          <p:nvPr/>
        </p:nvSpPr>
        <p:spPr>
          <a:xfrm>
            <a:off x="1005840" y="2359152"/>
            <a:ext cx="519379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러너펍이 이미 갖춘 것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85800" y="2659075"/>
            <a:ext cx="556869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4" name="Shape 10"/>
          <p:cNvSpPr/>
          <p:nvPr/>
        </p:nvSpPr>
        <p:spPr>
          <a:xfrm>
            <a:off x="685800" y="291693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5" name="Text 11"/>
          <p:cNvSpPr/>
          <p:nvPr/>
        </p:nvSpPr>
        <p:spPr>
          <a:xfrm>
            <a:off x="685800" y="291693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978408" y="2871216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러너러너 앱 (예약 · 회원관리 · 정산 · 토너먼트)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8" name="Text 14"/>
          <p:cNvSpPr/>
          <p:nvPr/>
        </p:nvSpPr>
        <p:spPr>
          <a:xfrm>
            <a:off x="685800" y="333756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978408" y="3291840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검증 점포 추천 체계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85800" y="3758184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1" name="Text 17"/>
          <p:cNvSpPr/>
          <p:nvPr/>
        </p:nvSpPr>
        <p:spPr>
          <a:xfrm>
            <a:off x="685800" y="375818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2" name="Text 18"/>
          <p:cNvSpPr/>
          <p:nvPr/>
        </p:nvSpPr>
        <p:spPr>
          <a:xfrm>
            <a:off x="978408" y="3712464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운영 기준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85800" y="4178808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20"/>
          <p:cNvSpPr/>
          <p:nvPr/>
        </p:nvSpPr>
        <p:spPr>
          <a:xfrm>
            <a:off x="685800" y="417880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5" name="Text 21"/>
          <p:cNvSpPr/>
          <p:nvPr/>
        </p:nvSpPr>
        <p:spPr>
          <a:xfrm>
            <a:off x="978408" y="4133088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절차 9단계 · 계약에서 오픈까지 4~6주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" y="4599432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7" name="Text 23"/>
          <p:cNvSpPr/>
          <p:nvPr/>
        </p:nvSpPr>
        <p:spPr>
          <a:xfrm>
            <a:off x="685800" y="45994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8" name="Text 24"/>
          <p:cNvSpPr/>
          <p:nvPr/>
        </p:nvSpPr>
        <p:spPr>
          <a:xfrm>
            <a:off x="978408" y="4553712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래빗 페스티벌 · 시즌 랭킹전 · 매장 간 콜라보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85800" y="502005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0" name="Text 26"/>
          <p:cNvSpPr/>
          <p:nvPr/>
        </p:nvSpPr>
        <p:spPr>
          <a:xfrm>
            <a:off x="685800" y="50200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31" name="Text 27"/>
          <p:cNvSpPr/>
          <p:nvPr/>
        </p:nvSpPr>
        <p:spPr>
          <a:xfrm>
            <a:off x="978408" y="4974336"/>
            <a:ext cx="527608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리뉴얼 후 플랫폼 이용자 1.5배 증가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85800" y="5321808"/>
            <a:ext cx="556869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: IT비즈뉴스(2024.7.4) · 앱 리뉴얼 후 플랫폼 이용자 증가분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709574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4" name="Text 30"/>
          <p:cNvSpPr/>
          <p:nvPr/>
        </p:nvSpPr>
        <p:spPr>
          <a:xfrm>
            <a:off x="709574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5" name="Text 31"/>
          <p:cNvSpPr/>
          <p:nvPr/>
        </p:nvSpPr>
        <p:spPr>
          <a:xfrm>
            <a:off x="7415784" y="2359152"/>
            <a:ext cx="403524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한 가지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7095744" y="2659075"/>
            <a:ext cx="441015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3"/>
          <p:cNvSpPr/>
          <p:nvPr/>
        </p:nvSpPr>
        <p:spPr>
          <a:xfrm>
            <a:off x="7260336" y="2816352"/>
            <a:ext cx="4245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가능한 창업자 모수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7260336" y="3145536"/>
            <a:ext cx="408096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속도를 결정하는 계약 이전 구간의 접점 총량</a:t>
            </a:r>
            <a:endParaRPr lang="en-US" sz="950" dirty="0"/>
          </a:p>
        </p:txBody>
      </p:sp>
      <p:sp>
        <p:nvSpPr>
          <p:cNvPr id="39" name="Shape 35"/>
          <p:cNvSpPr/>
          <p:nvPr/>
        </p:nvSpPr>
        <p:spPr>
          <a:xfrm>
            <a:off x="7214616" y="3803904"/>
            <a:ext cx="18288" cy="1115568"/>
          </a:xfrm>
          <a:prstGeom prst="rect">
            <a:avLst/>
          </a:prstGeom>
          <a:solidFill>
            <a:srgbClr val="A8C0F8"/>
          </a:solidFill>
          <a:ln>
            <a:noFill/>
          </a:ln>
        </p:spPr>
      </p:sp>
      <p:sp>
        <p:nvSpPr>
          <p:cNvPr id="40" name="Shape 36"/>
          <p:cNvSpPr/>
          <p:nvPr/>
        </p:nvSpPr>
        <p:spPr>
          <a:xfrm>
            <a:off x="7095744" y="3712464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1" name="Text 37"/>
          <p:cNvSpPr/>
          <p:nvPr/>
        </p:nvSpPr>
        <p:spPr>
          <a:xfrm>
            <a:off x="7095744" y="3712464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42" name="Text 38"/>
          <p:cNvSpPr/>
          <p:nvPr/>
        </p:nvSpPr>
        <p:spPr>
          <a:xfrm>
            <a:off x="7461504" y="3675888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접점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7461504" y="3886200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수요가 상주하는 플랫폼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7095744" y="4224528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5" name="Text 41"/>
          <p:cNvSpPr/>
          <p:nvPr/>
        </p:nvSpPr>
        <p:spPr>
          <a:xfrm>
            <a:off x="7095744" y="4224528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46" name="Text 42"/>
          <p:cNvSpPr/>
          <p:nvPr/>
        </p:nvSpPr>
        <p:spPr>
          <a:xfrm>
            <a:off x="7461504" y="4187952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상담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7461504" y="4398264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DB 5,114명 · 상담 기록 499건</a:t>
            </a:r>
            <a:endParaRPr lang="en-US" sz="1100" dirty="0"/>
          </a:p>
        </p:txBody>
      </p:sp>
      <p:sp>
        <p:nvSpPr>
          <p:cNvPr id="48" name="Shape 44"/>
          <p:cNvSpPr/>
          <p:nvPr/>
        </p:nvSpPr>
        <p:spPr>
          <a:xfrm>
            <a:off x="7095744" y="4736592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Text 45"/>
          <p:cNvSpPr/>
          <p:nvPr/>
        </p:nvSpPr>
        <p:spPr>
          <a:xfrm>
            <a:off x="7095744" y="473659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50" name="Text 46"/>
          <p:cNvSpPr/>
          <p:nvPr/>
        </p:nvSpPr>
        <p:spPr>
          <a:xfrm>
            <a:off x="7461504" y="4700016"/>
            <a:ext cx="404439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</a:t>
            </a:r>
            <a:endParaRPr lang="en-US" sz="900" dirty="0"/>
          </a:p>
        </p:txBody>
      </p:sp>
      <p:sp>
        <p:nvSpPr>
          <p:cNvPr id="51" name="Text 47"/>
          <p:cNvSpPr/>
          <p:nvPr/>
        </p:nvSpPr>
        <p:spPr>
          <a:xfrm>
            <a:off x="7461504" y="4910328"/>
            <a:ext cx="4044391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가맹계약 체결</a:t>
            </a:r>
            <a:endParaRPr lang="en-US" sz="1100" dirty="0"/>
          </a:p>
        </p:txBody>
      </p:sp>
      <p:sp>
        <p:nvSpPr>
          <p:cNvPr id="52" name="Shape 48"/>
          <p:cNvSpPr/>
          <p:nvPr/>
        </p:nvSpPr>
        <p:spPr>
          <a:xfrm>
            <a:off x="7095744" y="5175504"/>
            <a:ext cx="4410151" cy="301752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49"/>
          <p:cNvSpPr/>
          <p:nvPr/>
        </p:nvSpPr>
        <p:spPr>
          <a:xfrm>
            <a:off x="7278624" y="5175504"/>
            <a:ext cx="4044391" cy="3017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내일사장이 붙이는 구간 — 접점 확보부터 계약 체결까지</a:t>
            </a:r>
            <a:endParaRPr lang="en-US" sz="1050" dirty="0"/>
          </a:p>
        </p:txBody>
      </p:sp>
      <p:pic>
        <p:nvPicPr>
          <p:cNvPr id="54" name="Image 2" descr="/home/user/onewillco-meeting-2026/runnerpub-proposal/assets/gr_b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5272"/>
            <a:ext cx="12191695" cy="65836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685800" y="5751576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이후 구조는 러너펍이 완비 · 계약 이전 구간의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수요는 내일사장이 보유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Capability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제안 이전에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확보된 창업 수요</a:t>
            </a:r>
            <a:endParaRPr lang="en-US" sz="2500" dirty="0"/>
          </a:p>
        </p:txBody>
      </p:sp>
      <p:sp>
        <p:nvSpPr>
          <p:cNvPr id="9" name="Text 5"/>
          <p:cNvSpPr/>
          <p:nvPr/>
        </p:nvSpPr>
        <p:spPr>
          <a:xfrm>
            <a:off x="685800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누적 다운로드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85800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100,000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685800" y="3328416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</a:t>
            </a:r>
            <a:endParaRPr lang="en-US" sz="850" dirty="0"/>
          </a:p>
        </p:txBody>
      </p:sp>
      <p:pic>
        <p:nvPicPr>
          <p:cNvPr id="12" name="Image 2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374136"/>
            <a:ext cx="435689" cy="1188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86736" y="3328416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3만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685800" y="3566160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850" dirty="0"/>
          </a:p>
        </p:txBody>
      </p:sp>
      <p:pic>
        <p:nvPicPr>
          <p:cNvPr id="15" name="Image 3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" y="3611880"/>
            <a:ext cx="1161837" cy="1188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686736" y="3566160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8만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685800" y="3803904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850" dirty="0"/>
          </a:p>
        </p:txBody>
      </p:sp>
      <p:pic>
        <p:nvPicPr>
          <p:cNvPr id="18" name="Image 4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7864" y="3849624"/>
            <a:ext cx="1452296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686736" y="3803904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10만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85800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누적 기준</a:t>
            </a:r>
            <a:endParaRPr lang="en-US" sz="800" dirty="0"/>
          </a:p>
        </p:txBody>
      </p:sp>
      <p:sp>
        <p:nvSpPr>
          <p:cNvPr id="21" name="Text 14"/>
          <p:cNvSpPr/>
          <p:nvPr/>
        </p:nvSpPr>
        <p:spPr>
          <a:xfrm>
            <a:off x="3454832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활성 이용자 MAU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3454832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50,000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en-US" sz="3600" dirty="0"/>
          </a:p>
        </p:txBody>
      </p:sp>
      <p:sp>
        <p:nvSpPr>
          <p:cNvPr id="23" name="Shape 16"/>
          <p:cNvSpPr/>
          <p:nvPr/>
        </p:nvSpPr>
        <p:spPr>
          <a:xfrm>
            <a:off x="3454832" y="3429000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4" name="Text 17"/>
          <p:cNvSpPr/>
          <p:nvPr/>
        </p:nvSpPr>
        <p:spPr>
          <a:xfrm>
            <a:off x="3454832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기준</a:t>
            </a:r>
            <a:endParaRPr lang="en-US" sz="800" dirty="0"/>
          </a:p>
        </p:txBody>
      </p:sp>
      <p:sp>
        <p:nvSpPr>
          <p:cNvPr id="25" name="Text 18"/>
          <p:cNvSpPr/>
          <p:nvPr/>
        </p:nvSpPr>
        <p:spPr>
          <a:xfrm>
            <a:off x="6223864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DB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223864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5,114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</a:t>
            </a:r>
            <a:endParaRPr lang="en-US" sz="3600" dirty="0"/>
          </a:p>
        </p:txBody>
      </p:sp>
      <p:sp>
        <p:nvSpPr>
          <p:cNvPr id="27" name="Shape 20"/>
          <p:cNvSpPr/>
          <p:nvPr/>
        </p:nvSpPr>
        <p:spPr>
          <a:xfrm>
            <a:off x="6223864" y="3429000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Text 21"/>
          <p:cNvSpPr/>
          <p:nvPr/>
        </p:nvSpPr>
        <p:spPr>
          <a:xfrm>
            <a:off x="6223864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2026.06 사내 ERP 기준 · 상담 기록 499건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8992895" y="2359152"/>
            <a:ext cx="251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매물 거래 규모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992895" y="2633472"/>
            <a:ext cx="2513000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14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1,600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억원</a:t>
            </a:r>
            <a:endParaRPr lang="en-US" sz="3600" dirty="0"/>
          </a:p>
        </p:txBody>
      </p:sp>
      <p:sp>
        <p:nvSpPr>
          <p:cNvPr id="31" name="Shape 24"/>
          <p:cNvSpPr/>
          <p:nvPr/>
        </p:nvSpPr>
        <p:spPr>
          <a:xfrm>
            <a:off x="8992895" y="3429000"/>
            <a:ext cx="251300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5"/>
          <p:cNvSpPr/>
          <p:nvPr/>
        </p:nvSpPr>
        <p:spPr>
          <a:xfrm>
            <a:off x="8992895" y="4114800"/>
            <a:ext cx="2513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2026.07 누적 · 매물 등록 10,000건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685800" y="4686300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4" name="Text 27"/>
          <p:cNvSpPr/>
          <p:nvPr/>
        </p:nvSpPr>
        <p:spPr>
          <a:xfrm>
            <a:off x="685800" y="468630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5" name="Text 28"/>
          <p:cNvSpPr/>
          <p:nvPr/>
        </p:nvSpPr>
        <p:spPr>
          <a:xfrm>
            <a:off x="1005840" y="4626864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인증 서비스 활용 전후 비교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685800" y="492678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0"/>
          <p:cNvSpPr/>
          <p:nvPr/>
        </p:nvSpPr>
        <p:spPr>
          <a:xfrm>
            <a:off x="685800" y="5157216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자영업자 1년 생존율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454603" y="51206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67%</a:t>
            </a:r>
            <a:pPr indent="0" marL="0"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2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99%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223406" y="5138928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32%p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8992210" y="5184648"/>
            <a:ext cx="25136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내일사장 인증 서비스 이용 건 기준</a:t>
            </a:r>
            <a:endParaRPr lang="en-US" sz="850" dirty="0"/>
          </a:p>
        </p:txBody>
      </p:sp>
      <p:sp>
        <p:nvSpPr>
          <p:cNvPr id="41" name="Text 34"/>
          <p:cNvSpPr/>
          <p:nvPr/>
        </p:nvSpPr>
        <p:spPr>
          <a:xfrm>
            <a:off x="685800" y="576072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양도양수 성공비율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3454603" y="572414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47%</a:t>
            </a:r>
            <a:pPr indent="0" marL="0"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2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80%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6223406" y="5742432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44"/>
              </a:lnSpc>
              <a:buNone/>
            </a:pPr>
            <a:r>
              <a:rPr lang="en-US" sz="16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↑ 33%p</a:t>
            </a:r>
            <a:endParaRPr lang="en-US" sz="1600" dirty="0"/>
          </a:p>
        </p:txBody>
      </p:sp>
      <p:sp>
        <p:nvSpPr>
          <p:cNvPr id="44" name="Text 37"/>
          <p:cNvSpPr/>
          <p:nvPr/>
        </p:nvSpPr>
        <p:spPr>
          <a:xfrm>
            <a:off x="8992210" y="5788152"/>
            <a:ext cx="251368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내일사장 인증 서비스 이용 건 기준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본사와 일해 온 회사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현황 및 연혁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현황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2743200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2761488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777240" y="2761488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240280" y="2761488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주식회사 내일사장  ·  2023년 1월 설립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057400" y="3163824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Shape 13"/>
          <p:cNvSpPr/>
          <p:nvPr/>
        </p:nvSpPr>
        <p:spPr>
          <a:xfrm>
            <a:off x="685800" y="3163824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777240" y="3163824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240280" y="3163824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박규태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057400" y="3566160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0" name="Shape 17"/>
          <p:cNvSpPr/>
          <p:nvPr/>
        </p:nvSpPr>
        <p:spPr>
          <a:xfrm>
            <a:off x="685800" y="3566160"/>
            <a:ext cx="1371600" cy="402336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21" name="Text 18"/>
          <p:cNvSpPr/>
          <p:nvPr/>
        </p:nvSpPr>
        <p:spPr>
          <a:xfrm>
            <a:off x="777240" y="3566160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240280" y="3566160"/>
            <a:ext cx="3218688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경기도 하남시 조정대로 45 미사센텀비즈 922호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3968496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Shape 21"/>
          <p:cNvSpPr/>
          <p:nvPr/>
        </p:nvSpPr>
        <p:spPr>
          <a:xfrm>
            <a:off x="685800" y="4320540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5" name="Text 22"/>
          <p:cNvSpPr/>
          <p:nvPr/>
        </p:nvSpPr>
        <p:spPr>
          <a:xfrm>
            <a:off x="685800" y="4320540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6" name="Text 23"/>
          <p:cNvSpPr/>
          <p:nvPr/>
        </p:nvSpPr>
        <p:spPr>
          <a:xfrm>
            <a:off x="1005840" y="4261104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협력기관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85800" y="4561027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Shape 25"/>
          <p:cNvSpPr/>
          <p:nvPr/>
        </p:nvSpPr>
        <p:spPr>
          <a:xfrm>
            <a:off x="685800" y="4645152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9" name="Shape 26"/>
          <p:cNvSpPr/>
          <p:nvPr/>
        </p:nvSpPr>
        <p:spPr>
          <a:xfrm>
            <a:off x="685800" y="4663440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777240" y="4663440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관계사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240280" y="4663440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씨엔티테크 (CNT TECH)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057400" y="5084064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Shape 30"/>
          <p:cNvSpPr/>
          <p:nvPr/>
        </p:nvSpPr>
        <p:spPr>
          <a:xfrm>
            <a:off x="685800" y="5084064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777240" y="5084064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협력사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2240280" y="5084064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한국프랜차이즈산업협회 (KFA)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057400" y="5504688"/>
            <a:ext cx="34747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Shape 34"/>
          <p:cNvSpPr/>
          <p:nvPr/>
        </p:nvSpPr>
        <p:spPr>
          <a:xfrm>
            <a:off x="685800" y="5504688"/>
            <a:ext cx="1371600" cy="420624"/>
          </a:xfrm>
          <a:prstGeom prst="rect">
            <a:avLst/>
          </a:prstGeom>
          <a:solidFill>
            <a:srgbClr val="EFF1F4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777240" y="5504688"/>
            <a:ext cx="118872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오픈 이노베이션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2240280" y="5504688"/>
            <a:ext cx="3218688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다날 · SPC 섹타나인 · 토스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685800" y="5925312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1" name="Shape 38"/>
          <p:cNvSpPr/>
          <p:nvPr/>
        </p:nvSpPr>
        <p:spPr>
          <a:xfrm>
            <a:off x="5916168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5916168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3" name="Text 40"/>
          <p:cNvSpPr/>
          <p:nvPr/>
        </p:nvSpPr>
        <p:spPr>
          <a:xfrm>
            <a:off x="6236208" y="2359152"/>
            <a:ext cx="5214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연혁</a:t>
            </a:r>
            <a:endParaRPr lang="en-US" sz="1250" dirty="0"/>
          </a:p>
        </p:txBody>
      </p:sp>
      <p:sp>
        <p:nvSpPr>
          <p:cNvPr id="44" name="Shape 41"/>
          <p:cNvSpPr/>
          <p:nvPr/>
        </p:nvSpPr>
        <p:spPr>
          <a:xfrm>
            <a:off x="5916168" y="2659075"/>
            <a:ext cx="5589727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5" name="Shape 42"/>
          <p:cNvSpPr/>
          <p:nvPr/>
        </p:nvSpPr>
        <p:spPr>
          <a:xfrm>
            <a:off x="5998464" y="2798064"/>
            <a:ext cx="20117" cy="2766060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6" name="Shape 43"/>
          <p:cNvSpPr/>
          <p:nvPr/>
        </p:nvSpPr>
        <p:spPr>
          <a:xfrm>
            <a:off x="5934456" y="2816352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7" name="Shape 44"/>
          <p:cNvSpPr/>
          <p:nvPr/>
        </p:nvSpPr>
        <p:spPr>
          <a:xfrm>
            <a:off x="5934456" y="3200400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8" name="Shape 45"/>
          <p:cNvSpPr/>
          <p:nvPr/>
        </p:nvSpPr>
        <p:spPr>
          <a:xfrm>
            <a:off x="5934456" y="4174236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Shape 46"/>
          <p:cNvSpPr/>
          <p:nvPr/>
        </p:nvSpPr>
        <p:spPr>
          <a:xfrm>
            <a:off x="5934456" y="5344668"/>
            <a:ext cx="146304" cy="14630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0" name="Shape 47"/>
          <p:cNvSpPr/>
          <p:nvPr/>
        </p:nvSpPr>
        <p:spPr>
          <a:xfrm>
            <a:off x="6227064" y="2766060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51" name="Text 48"/>
          <p:cNvSpPr/>
          <p:nvPr/>
        </p:nvSpPr>
        <p:spPr>
          <a:xfrm>
            <a:off x="6391656" y="2766060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2020년 ~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324344" y="2743200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 자문사 설립 및 운영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6227064" y="3150108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54" name="Text 51"/>
          <p:cNvSpPr/>
          <p:nvPr/>
        </p:nvSpPr>
        <p:spPr>
          <a:xfrm>
            <a:off x="6391656" y="3150108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324344" y="3127248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개발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6318504" y="3419856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내일사장 1.0 버전 출시 · 웹 버전 오픈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6318504" y="3616452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벤처기업 인증 · 기업부설연구소 설립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6318504" y="3813048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매물인증 기반 부동산 중개방법 특허출원 3건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227064" y="4123944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60" name="Text 57"/>
          <p:cNvSpPr/>
          <p:nvPr/>
        </p:nvSpPr>
        <p:spPr>
          <a:xfrm>
            <a:off x="6391656" y="4123944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900" dirty="0"/>
          </a:p>
        </p:txBody>
      </p:sp>
      <p:sp>
        <p:nvSpPr>
          <p:cNvPr id="61" name="Text 58"/>
          <p:cNvSpPr/>
          <p:nvPr/>
        </p:nvSpPr>
        <p:spPr>
          <a:xfrm>
            <a:off x="7324344" y="4101084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BM모델 구축</a:t>
            </a:r>
            <a:endParaRPr lang="en-US" sz="1200" dirty="0"/>
          </a:p>
        </p:txBody>
      </p:sp>
      <p:sp>
        <p:nvSpPr>
          <p:cNvPr id="62" name="Text 59"/>
          <p:cNvSpPr/>
          <p:nvPr/>
        </p:nvSpPr>
        <p:spPr>
          <a:xfrm>
            <a:off x="6318504" y="4393692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서브웨이 등 주요 프랜차이즈 약 20곳 브랜드인증관 입점</a:t>
            </a:r>
            <a:endParaRPr lang="en-US" sz="950" dirty="0"/>
          </a:p>
        </p:txBody>
      </p:sp>
      <p:sp>
        <p:nvSpPr>
          <p:cNvPr id="63" name="Text 60"/>
          <p:cNvSpPr/>
          <p:nvPr/>
        </p:nvSpPr>
        <p:spPr>
          <a:xfrm>
            <a:off x="6318504" y="4590288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한국프랜차이즈산업협회 공동사업단 설립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6318504" y="4786884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SPC · 삼성웰스토리 · 다날 업무협약 체결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318504" y="4983480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초기창업패키지 · R&amp;D 디딤돌사업 선정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6227064" y="5294376"/>
            <a:ext cx="950976" cy="246888"/>
          </a:xfrm>
          <a:prstGeom prst="roundRect">
            <a:avLst>
              <a:gd name="adj" fmla="val 48148"/>
            </a:avLst>
          </a:prstGeom>
          <a:solidFill>
            <a:srgbClr val="2868F0"/>
          </a:solidFill>
          <a:ln>
            <a:noFill/>
          </a:ln>
        </p:spPr>
      </p:sp>
      <p:sp>
        <p:nvSpPr>
          <p:cNvPr id="67" name="Text 64"/>
          <p:cNvSpPr/>
          <p:nvPr/>
        </p:nvSpPr>
        <p:spPr>
          <a:xfrm>
            <a:off x="6391656" y="5294376"/>
            <a:ext cx="621792" cy="246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7324344" y="5271516"/>
            <a:ext cx="418155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BM모델 고도화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6318504" y="5564124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구글 우수 스타트업 선정 (Google 창구)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6318504" y="5760720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TIPS 선정 (중소벤처기업부)</a:t>
            </a:r>
            <a:endParaRPr lang="en-US" sz="950" dirty="0"/>
          </a:p>
        </p:txBody>
      </p:sp>
      <p:sp>
        <p:nvSpPr>
          <p:cNvPr id="71" name="Text 68"/>
          <p:cNvSpPr/>
          <p:nvPr/>
        </p:nvSpPr>
        <p:spPr>
          <a:xfrm>
            <a:off x="6318504" y="5957316"/>
            <a:ext cx="5187391" cy="1965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디지털 이노베이션 IT플랫폼부문 대상 (과기정통부)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세종대학교 겸임교수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들이 만든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창업 지원 플랫폼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447141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대표이사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84632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685800" y="27432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박규태  </a:t>
            </a:r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CEO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303580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유통학 박사 · 세종사이버대 외식창업프랜차이즈학과 겸임교수</a:t>
            </a:r>
            <a:endParaRPr lang="en-US" sz="980" dirty="0"/>
          </a:p>
        </p:txBody>
      </p:sp>
      <p:sp>
        <p:nvSpPr>
          <p:cNvPr id="13" name="Text 10"/>
          <p:cNvSpPr/>
          <p:nvPr/>
        </p:nvSpPr>
        <p:spPr>
          <a:xfrm>
            <a:off x="685800" y="3310128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(주)내일사장 대표이사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685800" y="3529584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중앙그룹 외식부문 신사업 팀장</a:t>
            </a:r>
            <a:endParaRPr lang="en-US" sz="980" dirty="0"/>
          </a:p>
        </p:txBody>
      </p:sp>
      <p:sp>
        <p:nvSpPr>
          <p:cNvPr id="15" name="Text 12"/>
          <p:cNvSpPr/>
          <p:nvPr/>
        </p:nvSpPr>
        <p:spPr>
          <a:xfrm>
            <a:off x="685800" y="3749040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이삭토스트 총괄사업부장 (COO)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685800" y="3968496"/>
            <a:ext cx="4846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SPC 파리바게뜨 가맹사업본부</a:t>
            </a:r>
            <a:endParaRPr lang="en-US" sz="980" dirty="0"/>
          </a:p>
        </p:txBody>
      </p:sp>
      <p:sp>
        <p:nvSpPr>
          <p:cNvPr id="17" name="Shape 14"/>
          <p:cNvSpPr/>
          <p:nvPr/>
        </p:nvSpPr>
        <p:spPr>
          <a:xfrm>
            <a:off x="685800" y="4224528"/>
            <a:ext cx="4846320" cy="18288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685800" y="4242816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8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프랜차이즈 재직 11년  +  외식 시스템 구축 7년</a:t>
            </a:r>
            <a:endParaRPr lang="en-US" sz="980" dirty="0"/>
          </a:p>
        </p:txBody>
      </p:sp>
      <p:sp>
        <p:nvSpPr>
          <p:cNvPr id="19" name="Shape 16"/>
          <p:cNvSpPr/>
          <p:nvPr/>
        </p:nvSpPr>
        <p:spPr>
          <a:xfrm>
            <a:off x="5916168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5916168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1" name="Text 18"/>
          <p:cNvSpPr/>
          <p:nvPr/>
        </p:nvSpPr>
        <p:spPr>
          <a:xfrm>
            <a:off x="6236208" y="2359152"/>
            <a:ext cx="5214823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창업 Specialist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916168" y="2659075"/>
            <a:ext cx="5589727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Shape 20"/>
          <p:cNvSpPr/>
          <p:nvPr/>
        </p:nvSpPr>
        <p:spPr>
          <a:xfrm>
            <a:off x="5916168" y="2761488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062472" y="2761488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본부구축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84184" y="2761488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8930488" y="2761488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모객 · 매장 활성화 마케팅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16168" y="3639312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6062472" y="3639312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가맹점 운영관리 (SV)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84184" y="3639312"/>
            <a:ext cx="2721712" cy="768096"/>
          </a:xfrm>
          <a:prstGeom prst="roundRect">
            <a:avLst>
              <a:gd name="adj" fmla="val 714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8930488" y="3639312"/>
            <a:ext cx="242910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 · 점포개발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85800" y="4535424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685800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천영식  </a:t>
            </a:r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CMO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685800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경영학 석사 · 창업마케팅 저서 다수</a:t>
            </a:r>
            <a:endParaRPr lang="en-US" sz="930" dirty="0"/>
          </a:p>
        </p:txBody>
      </p:sp>
      <p:sp>
        <p:nvSpPr>
          <p:cNvPr id="34" name="Text 31"/>
          <p:cNvSpPr/>
          <p:nvPr/>
        </p:nvSpPr>
        <p:spPr>
          <a:xfrm>
            <a:off x="685800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경기창조센터 마케팅 전임교수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685800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한촌 · 육수당 마케팅 본부장</a:t>
            </a:r>
            <a:endParaRPr lang="en-US" sz="930" dirty="0"/>
          </a:p>
        </p:txBody>
      </p:sp>
      <p:sp>
        <p:nvSpPr>
          <p:cNvPr id="36" name="Text 33"/>
          <p:cNvSpPr/>
          <p:nvPr/>
        </p:nvSpPr>
        <p:spPr>
          <a:xfrm>
            <a:off x="685800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죠스떡볶이 · 바르다김선생 마케팅 팀장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685800" y="5820156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창업마케팅 와이즈컴퍼니 대표</a:t>
            </a:r>
            <a:endParaRPr lang="en-US" sz="930" dirty="0"/>
          </a:p>
        </p:txBody>
      </p:sp>
      <p:sp>
        <p:nvSpPr>
          <p:cNvPr id="38" name="Shape 35"/>
          <p:cNvSpPr/>
          <p:nvPr/>
        </p:nvSpPr>
        <p:spPr>
          <a:xfrm>
            <a:off x="4255922" y="4645152"/>
            <a:ext cx="7315" cy="1225296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9" name="Text 36"/>
          <p:cNvSpPr/>
          <p:nvPr/>
        </p:nvSpPr>
        <p:spPr>
          <a:xfrm>
            <a:off x="4365650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김우곤  </a:t>
            </a:r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COO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4365650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유통학 박사 · 세종대학교 유통학과 겸임교수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4365650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McDonald's · Subway International B.V</a:t>
            </a:r>
            <a:endParaRPr lang="en-US" sz="930" dirty="0"/>
          </a:p>
        </p:txBody>
      </p:sp>
      <p:sp>
        <p:nvSpPr>
          <p:cNvPr id="42" name="Text 39"/>
          <p:cNvSpPr/>
          <p:nvPr/>
        </p:nvSpPr>
        <p:spPr>
          <a:xfrm>
            <a:off x="4365650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Delivery Hero Korea · 투썸플레이스 · 폴바셋</a:t>
            </a:r>
            <a:endParaRPr lang="en-US" sz="930" dirty="0"/>
          </a:p>
        </p:txBody>
      </p:sp>
      <p:sp>
        <p:nvSpPr>
          <p:cNvPr id="43" name="Text 40"/>
          <p:cNvSpPr/>
          <p:nvPr/>
        </p:nvSpPr>
        <p:spPr>
          <a:xfrm>
            <a:off x="4365650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SPC 등 외식 프랜차이즈 15년</a:t>
            </a:r>
            <a:endParaRPr lang="en-US" sz="930" dirty="0"/>
          </a:p>
        </p:txBody>
      </p:sp>
      <p:sp>
        <p:nvSpPr>
          <p:cNvPr id="44" name="Shape 41"/>
          <p:cNvSpPr/>
          <p:nvPr/>
        </p:nvSpPr>
        <p:spPr>
          <a:xfrm>
            <a:off x="7935773" y="4645152"/>
            <a:ext cx="7315" cy="1225296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5" name="Text 42"/>
          <p:cNvSpPr/>
          <p:nvPr/>
        </p:nvSpPr>
        <p:spPr>
          <a:xfrm>
            <a:off x="8045501" y="4626864"/>
            <a:ext cx="346039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김준영  </a:t>
            </a:r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CSO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8045501" y="4901184"/>
            <a:ext cx="346039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호텔관광경영학 박사 · 세종대학교 유통학과 겸임교수</a:t>
            </a:r>
            <a:endParaRPr lang="en-US" sz="930" dirty="0"/>
          </a:p>
        </p:txBody>
      </p:sp>
      <p:sp>
        <p:nvSpPr>
          <p:cNvPr id="47" name="Text 44"/>
          <p:cNvSpPr/>
          <p:nvPr/>
        </p:nvSpPr>
        <p:spPr>
          <a:xfrm>
            <a:off x="8045501" y="5175504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현] 한국외식협회 전문위원</a:t>
            </a:r>
            <a:endParaRPr lang="en-US" sz="930" dirty="0"/>
          </a:p>
        </p:txBody>
      </p:sp>
      <p:sp>
        <p:nvSpPr>
          <p:cNvPr id="48" name="Text 45"/>
          <p:cNvSpPr/>
          <p:nvPr/>
        </p:nvSpPr>
        <p:spPr>
          <a:xfrm>
            <a:off x="8045501" y="5390388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제너시스그룹 BBQ OSM팀 실무 관리자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8045501" y="5605272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한국프랜차이즈학회 간사</a:t>
            </a:r>
            <a:endParaRPr lang="en-US" sz="930" dirty="0"/>
          </a:p>
        </p:txBody>
      </p:sp>
      <p:sp>
        <p:nvSpPr>
          <p:cNvPr id="50" name="Text 47"/>
          <p:cNvSpPr/>
          <p:nvPr/>
        </p:nvSpPr>
        <p:spPr>
          <a:xfrm>
            <a:off x="8045501" y="5820156"/>
            <a:ext cx="3460394" cy="2148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전] 알파랩 2.0 수석연구원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수행 업무 3종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및 수행 브랜드 현황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383133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러너펍에 투입할 수행 업무 3종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4206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pic>
        <p:nvPicPr>
          <p:cNvPr id="11" name="Image 1" descr="/home/user/onewillco-meeting-2026/runnerpub-proposal/assets/ic_d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98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14984" y="2889504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가맹영업대행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014984" y="316382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예비창업자 모객 · 1차 상담 · 등급 분류</a:t>
            </a:r>
            <a:endParaRPr lang="en-US" sz="930" dirty="0"/>
          </a:p>
        </p:txBody>
      </p:sp>
      <p:sp>
        <p:nvSpPr>
          <p:cNvPr id="14" name="Text 10"/>
          <p:cNvSpPr/>
          <p:nvPr/>
        </p:nvSpPr>
        <p:spPr>
          <a:xfrm>
            <a:off x="1014984" y="3383280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조건별 브랜드 매칭 및 미팅 주선</a:t>
            </a:r>
            <a:endParaRPr lang="en-US" sz="930" dirty="0"/>
          </a:p>
        </p:txBody>
      </p:sp>
      <p:sp>
        <p:nvSpPr>
          <p:cNvPr id="15" name="Text 11"/>
          <p:cNvSpPr/>
          <p:nvPr/>
        </p:nvSpPr>
        <p:spPr>
          <a:xfrm>
            <a:off x="1014984" y="360273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인·적성검사, 정보공개서 제공부터 계약 체결까지 절차 관리</a:t>
            </a:r>
            <a:endParaRPr lang="en-US" sz="930" dirty="0"/>
          </a:p>
        </p:txBody>
      </p:sp>
      <p:pic>
        <p:nvPicPr>
          <p:cNvPr id="16" name="Image 2" descr="/home/user/onewillco-meeting-2026/runnerpub-proposal/assets/ic_meg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9592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14984" y="3986784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014984" y="426110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블로그 · 네이버 플레이스 · 검색광고 · SNS</a:t>
            </a:r>
            <a:endParaRPr lang="en-US" sz="930" dirty="0"/>
          </a:p>
        </p:txBody>
      </p:sp>
      <p:sp>
        <p:nvSpPr>
          <p:cNvPr id="19" name="Text 14"/>
          <p:cNvSpPr/>
          <p:nvPr/>
        </p:nvSpPr>
        <p:spPr>
          <a:xfrm>
            <a:off x="1014984" y="4480560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창업박람회 부스 · 사업설명회</a:t>
            </a:r>
            <a:endParaRPr lang="en-US" sz="930" dirty="0"/>
          </a:p>
        </p:txBody>
      </p:sp>
      <p:sp>
        <p:nvSpPr>
          <p:cNvPr id="20" name="Text 15"/>
          <p:cNvSpPr/>
          <p:nvPr/>
        </p:nvSpPr>
        <p:spPr>
          <a:xfrm>
            <a:off x="1014984" y="470001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매장 오픈 마케팅</a:t>
            </a:r>
            <a:endParaRPr lang="en-US" sz="930" dirty="0"/>
          </a:p>
        </p:txBody>
      </p:sp>
      <p:pic>
        <p:nvPicPr>
          <p:cNvPr id="21" name="Image 3" descr="/home/user/onewillco-meeting-2026/runnerpub-proposal/assets/ic_sto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0932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4984" y="5084064"/>
            <a:ext cx="387705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 → 물건화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014984" y="5358384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보증금 · 권리금 · 월세 · 평수 수집</a:t>
            </a:r>
            <a:endParaRPr lang="en-US" sz="930" dirty="0"/>
          </a:p>
        </p:txBody>
      </p:sp>
      <p:sp>
        <p:nvSpPr>
          <p:cNvPr id="24" name="Text 18"/>
          <p:cNvSpPr/>
          <p:nvPr/>
        </p:nvSpPr>
        <p:spPr>
          <a:xfrm>
            <a:off x="1014984" y="5577840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실측 · 현장사진 · 인테리어 견적 산출</a:t>
            </a:r>
            <a:endParaRPr lang="en-US" sz="930" dirty="0"/>
          </a:p>
        </p:txBody>
      </p:sp>
      <p:sp>
        <p:nvSpPr>
          <p:cNvPr id="25" name="Text 19"/>
          <p:cNvSpPr/>
          <p:nvPr/>
        </p:nvSpPr>
        <p:spPr>
          <a:xfrm>
            <a:off x="1014984" y="5797296"/>
            <a:ext cx="38770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즉시 브리핑 가능한 상태로 완성</a:t>
            </a:r>
            <a:endParaRPr lang="en-US" sz="930" dirty="0"/>
          </a:p>
        </p:txBody>
      </p:sp>
      <p:sp>
        <p:nvSpPr>
          <p:cNvPr id="26" name="Shape 20"/>
          <p:cNvSpPr/>
          <p:nvPr/>
        </p:nvSpPr>
        <p:spPr>
          <a:xfrm>
            <a:off x="531266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7" name="Text 21"/>
          <p:cNvSpPr/>
          <p:nvPr/>
        </p:nvSpPr>
        <p:spPr>
          <a:xfrm>
            <a:off x="531266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8" name="Text 22"/>
          <p:cNvSpPr/>
          <p:nvPr/>
        </p:nvSpPr>
        <p:spPr>
          <a:xfrm>
            <a:off x="5632704" y="2359152"/>
            <a:ext cx="219456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 브랜드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312664" y="2659075"/>
            <a:ext cx="61932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0" name="Text 24"/>
          <p:cNvSpPr/>
          <p:nvPr/>
        </p:nvSpPr>
        <p:spPr>
          <a:xfrm>
            <a:off x="10225735" y="2395728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 18개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312664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2" name="Text 26"/>
          <p:cNvSpPr/>
          <p:nvPr/>
        </p:nvSpPr>
        <p:spPr>
          <a:xfrm>
            <a:off x="5385816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33떡볶이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897548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6970700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백소정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8482432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6" name="Text 30"/>
          <p:cNvSpPr/>
          <p:nvPr/>
        </p:nvSpPr>
        <p:spPr>
          <a:xfrm>
            <a:off x="8555584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원앤원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10067315" y="2834640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8" name="Text 32"/>
          <p:cNvSpPr/>
          <p:nvPr/>
        </p:nvSpPr>
        <p:spPr>
          <a:xfrm>
            <a:off x="10140467" y="2834640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투썸플레이스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5312664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0" name="Text 34"/>
          <p:cNvSpPr/>
          <p:nvPr/>
        </p:nvSpPr>
        <p:spPr>
          <a:xfrm>
            <a:off x="5385816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명륜진사갈비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6897548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2" name="Text 36"/>
          <p:cNvSpPr/>
          <p:nvPr/>
        </p:nvSpPr>
        <p:spPr>
          <a:xfrm>
            <a:off x="6970700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요아정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8482432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4" name="Text 38"/>
          <p:cNvSpPr/>
          <p:nvPr/>
        </p:nvSpPr>
        <p:spPr>
          <a:xfrm>
            <a:off x="8555584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차알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10067315" y="3517392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6" name="Text 40"/>
          <p:cNvSpPr/>
          <p:nvPr/>
        </p:nvSpPr>
        <p:spPr>
          <a:xfrm>
            <a:off x="10140467" y="3517392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밀본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5312664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8" name="Text 42"/>
          <p:cNvSpPr/>
          <p:nvPr/>
        </p:nvSpPr>
        <p:spPr>
          <a:xfrm>
            <a:off x="5385816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오레노카츠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6897548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0" name="Text 44"/>
          <p:cNvSpPr/>
          <p:nvPr/>
        </p:nvSpPr>
        <p:spPr>
          <a:xfrm>
            <a:off x="6970700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랑데자뷰</a:t>
            </a:r>
            <a:endParaRPr lang="en-US" sz="1050" dirty="0"/>
          </a:p>
        </p:txBody>
      </p:sp>
      <p:sp>
        <p:nvSpPr>
          <p:cNvPr id="51" name="Shape 45"/>
          <p:cNvSpPr/>
          <p:nvPr/>
        </p:nvSpPr>
        <p:spPr>
          <a:xfrm>
            <a:off x="8482432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2" name="Text 46"/>
          <p:cNvSpPr/>
          <p:nvPr/>
        </p:nvSpPr>
        <p:spPr>
          <a:xfrm>
            <a:off x="8555584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청년피자</a:t>
            </a:r>
            <a:endParaRPr lang="en-US" sz="1050" dirty="0"/>
          </a:p>
        </p:txBody>
      </p:sp>
      <p:sp>
        <p:nvSpPr>
          <p:cNvPr id="53" name="Shape 47"/>
          <p:cNvSpPr/>
          <p:nvPr/>
        </p:nvSpPr>
        <p:spPr>
          <a:xfrm>
            <a:off x="10067315" y="4200144"/>
            <a:ext cx="1438580" cy="554736"/>
          </a:xfrm>
          <a:prstGeom prst="roundRect">
            <a:avLst>
              <a:gd name="adj" fmla="val 8242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4" name="Text 48"/>
          <p:cNvSpPr/>
          <p:nvPr/>
        </p:nvSpPr>
        <p:spPr>
          <a:xfrm>
            <a:off x="10140467" y="4200144"/>
            <a:ext cx="1292276" cy="554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셀렉토커피</a:t>
            </a:r>
            <a:endParaRPr lang="en-US" sz="1050" dirty="0"/>
          </a:p>
        </p:txBody>
      </p:sp>
      <p:sp>
        <p:nvSpPr>
          <p:cNvPr id="55" name="Shape 49"/>
          <p:cNvSpPr/>
          <p:nvPr/>
        </p:nvSpPr>
        <p:spPr>
          <a:xfrm>
            <a:off x="5312664" y="4924044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6" name="Text 50"/>
          <p:cNvSpPr/>
          <p:nvPr/>
        </p:nvSpPr>
        <p:spPr>
          <a:xfrm>
            <a:off x="5312664" y="4924044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57" name="Text 51"/>
          <p:cNvSpPr/>
          <p:nvPr/>
        </p:nvSpPr>
        <p:spPr>
          <a:xfrm>
            <a:off x="5632704" y="4864608"/>
            <a:ext cx="581832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사례</a:t>
            </a:r>
            <a:endParaRPr lang="en-US" sz="1250" dirty="0"/>
          </a:p>
        </p:txBody>
      </p:sp>
      <p:sp>
        <p:nvSpPr>
          <p:cNvPr id="58" name="Shape 52"/>
          <p:cNvSpPr/>
          <p:nvPr/>
        </p:nvSpPr>
        <p:spPr>
          <a:xfrm>
            <a:off x="5312664" y="5164531"/>
            <a:ext cx="61932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9" name="Shape 53"/>
          <p:cNvSpPr/>
          <p:nvPr/>
        </p:nvSpPr>
        <p:spPr>
          <a:xfrm>
            <a:off x="5312664" y="5303520"/>
            <a:ext cx="6193231" cy="585216"/>
          </a:xfrm>
          <a:prstGeom prst="roundRect">
            <a:avLst>
              <a:gd name="adj" fmla="val 12500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60" name="Text 54"/>
          <p:cNvSpPr/>
          <p:nvPr/>
        </p:nvSpPr>
        <p:spPr>
          <a:xfrm>
            <a:off x="5513832" y="5303520"/>
            <a:ext cx="5790895" cy="5852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33떡볶이 강동역점 — 임대차 · 가맹 예약 완료 · 주간 실매출 2,150 / 1,500만원 2주 실측</a:t>
            </a:r>
            <a:endParaRPr lang="en-US" sz="1200" dirty="0"/>
          </a:p>
        </p:txBody>
      </p:sp>
      <p:sp>
        <p:nvSpPr>
          <p:cNvPr id="61" name="Text 55"/>
          <p:cNvSpPr/>
          <p:nvPr/>
        </p:nvSpPr>
        <p:spPr>
          <a:xfrm>
            <a:off x="5312664" y="5961888"/>
            <a:ext cx="619323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2025~2026 영업 수행 브랜드 기준 · 브랜드별 계약 체결 건수는 미팅 시 원장 기준으로 제시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접점을 넓히는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전략적 제휴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현황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창업 수요 확보에 활용되는 제휴망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2308022" y="3049524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0"/>
          <p:cNvSpPr/>
          <p:nvPr/>
        </p:nvSpPr>
        <p:spPr>
          <a:xfrm>
            <a:off x="2472614" y="3049524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868680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SPC 플랫폼 개발 참여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68680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Text 13"/>
          <p:cNvSpPr/>
          <p:nvPr/>
        </p:nvSpPr>
        <p:spPr>
          <a:xfrm>
            <a:off x="868680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파리바게뜨 · 던킨 등 가맹점 6,000개</a:t>
            </a:r>
            <a:endParaRPr lang="en-US" sz="930" dirty="0"/>
          </a:p>
        </p:txBody>
      </p:sp>
      <p:sp>
        <p:nvSpPr>
          <p:cNvPr id="17" name="Shape 14"/>
          <p:cNvSpPr/>
          <p:nvPr/>
        </p:nvSpPr>
        <p:spPr>
          <a:xfrm>
            <a:off x="3454832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E7EFFA"/>
          </a:solidFill>
          <a:ln>
            <a:noFill/>
          </a:ln>
        </p:spPr>
      </p:sp>
      <p:pic>
        <p:nvPicPr>
          <p:cNvPr id="18" name="Image 1" descr="/home/user/onewillco-meeting-2026/runnerpub-proposal/assets/lg_kf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712" y="3091824"/>
            <a:ext cx="1178034" cy="13485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077054" y="3049524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5241646" y="3049524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3637712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KFA 공동사업단 공동설립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3637712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Text 19"/>
          <p:cNvSpPr/>
          <p:nvPr/>
        </p:nvSpPr>
        <p:spPr>
          <a:xfrm>
            <a:off x="3637712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프랜차이즈 본사 1,400여개 대상 · 인증매장 · 위생교육</a:t>
            </a:r>
            <a:endParaRPr lang="en-US" sz="930" dirty="0"/>
          </a:p>
        </p:txBody>
      </p:sp>
      <p:sp>
        <p:nvSpPr>
          <p:cNvPr id="24" name="Shape 20"/>
          <p:cNvSpPr/>
          <p:nvPr/>
        </p:nvSpPr>
        <p:spPr>
          <a:xfrm>
            <a:off x="6223864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E7EFFA"/>
          </a:solidFill>
          <a:ln>
            <a:noFill/>
          </a:ln>
        </p:spPr>
      </p:sp>
      <p:pic>
        <p:nvPicPr>
          <p:cNvPr id="25" name="Image 2" descr="/home/user/onewillco-meeting-2026/runnerpub-proposal/assets/lg_bar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6744" y="3088476"/>
            <a:ext cx="1122304" cy="14155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7954035" y="3049524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Text 22"/>
          <p:cNvSpPr/>
          <p:nvPr/>
        </p:nvSpPr>
        <p:spPr>
          <a:xfrm>
            <a:off x="8118627" y="3049524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406744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바로고 든든상점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6406744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0" name="Text 25"/>
          <p:cNvSpPr/>
          <p:nvPr/>
        </p:nvSpPr>
        <p:spPr>
          <a:xfrm>
            <a:off x="6406744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등록매장 18만 대상 배너 · 푸시 상호 노출</a:t>
            </a:r>
            <a:endParaRPr lang="en-US" sz="930" dirty="0"/>
          </a:p>
        </p:txBody>
      </p:sp>
      <p:sp>
        <p:nvSpPr>
          <p:cNvPr id="31" name="Shape 26"/>
          <p:cNvSpPr/>
          <p:nvPr/>
        </p:nvSpPr>
        <p:spPr>
          <a:xfrm>
            <a:off x="8992895" y="2903220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2" name="Shape 27"/>
          <p:cNvSpPr/>
          <p:nvPr/>
        </p:nvSpPr>
        <p:spPr>
          <a:xfrm>
            <a:off x="10723067" y="3049524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28"/>
          <p:cNvSpPr/>
          <p:nvPr/>
        </p:nvSpPr>
        <p:spPr>
          <a:xfrm>
            <a:off x="10887659" y="3049524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9175775" y="3378708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삼성웰스토리 365솔루션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9175775" y="3817620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6" name="Text 31"/>
          <p:cNvSpPr/>
          <p:nvPr/>
        </p:nvSpPr>
        <p:spPr>
          <a:xfrm>
            <a:off x="9175775" y="3872484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사업단 공동설립 · 브랜드인증관 입점 및 광고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685800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38" name="Image 3" descr="/home/user/onewillco-meeting-2026/runnerpub-proposal/assets/lg_yogiy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77740"/>
            <a:ext cx="536827" cy="27432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2415972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0" name="Text 34"/>
          <p:cNvSpPr/>
          <p:nvPr/>
        </p:nvSpPr>
        <p:spPr>
          <a:xfrm>
            <a:off x="2580564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868680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요기요</a:t>
            </a:r>
            <a:endParaRPr lang="en-US" sz="1150" dirty="0"/>
          </a:p>
        </p:txBody>
      </p:sp>
      <p:sp>
        <p:nvSpPr>
          <p:cNvPr id="42" name="Shape 36"/>
          <p:cNvSpPr/>
          <p:nvPr/>
        </p:nvSpPr>
        <p:spPr>
          <a:xfrm>
            <a:off x="868680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868680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배너 · 내일사장 제작 콘텐츠 노출</a:t>
            </a:r>
            <a:endParaRPr lang="en-US" sz="930" dirty="0"/>
          </a:p>
        </p:txBody>
      </p:sp>
      <p:sp>
        <p:nvSpPr>
          <p:cNvPr id="44" name="Shape 38"/>
          <p:cNvSpPr/>
          <p:nvPr/>
        </p:nvSpPr>
        <p:spPr>
          <a:xfrm>
            <a:off x="3454832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45" name="Image 4" descr="/home/user/onewillco-meeting-2026/runnerpub-proposal/assets/lg_sara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7712" y="4814966"/>
            <a:ext cx="794848" cy="199867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5185004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7" name="Text 40"/>
          <p:cNvSpPr/>
          <p:nvPr/>
        </p:nvSpPr>
        <p:spPr>
          <a:xfrm>
            <a:off x="5349596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3637712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동네알바 (사람인)</a:t>
            </a:r>
            <a:endParaRPr lang="en-US" sz="1150" dirty="0"/>
          </a:p>
        </p:txBody>
      </p:sp>
      <p:sp>
        <p:nvSpPr>
          <p:cNvPr id="49" name="Shape 42"/>
          <p:cNvSpPr/>
          <p:nvPr/>
        </p:nvSpPr>
        <p:spPr>
          <a:xfrm>
            <a:off x="3637712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0" name="Text 43"/>
          <p:cNvSpPr/>
          <p:nvPr/>
        </p:nvSpPr>
        <p:spPr>
          <a:xfrm>
            <a:off x="3637712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배너 노출</a:t>
            </a:r>
            <a:endParaRPr lang="en-US" sz="930" dirty="0"/>
          </a:p>
        </p:txBody>
      </p:sp>
      <p:sp>
        <p:nvSpPr>
          <p:cNvPr id="51" name="Shape 44"/>
          <p:cNvSpPr/>
          <p:nvPr/>
        </p:nvSpPr>
        <p:spPr>
          <a:xfrm>
            <a:off x="6223864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pic>
        <p:nvPicPr>
          <p:cNvPr id="52" name="Image 5" descr="/home/user/onewillco-meeting-2026/runnerpub-proposal/assets/lg_forbe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744" y="4805379"/>
            <a:ext cx="725270" cy="219041"/>
          </a:xfrm>
          <a:prstGeom prst="rect">
            <a:avLst/>
          </a:prstGeom>
        </p:spPr>
      </p:pic>
      <p:sp>
        <p:nvSpPr>
          <p:cNvPr id="53" name="Shape 45"/>
          <p:cNvSpPr/>
          <p:nvPr/>
        </p:nvSpPr>
        <p:spPr>
          <a:xfrm>
            <a:off x="7846085" y="4805172"/>
            <a:ext cx="70789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 46"/>
          <p:cNvSpPr/>
          <p:nvPr/>
        </p:nvSpPr>
        <p:spPr>
          <a:xfrm>
            <a:off x="8010677" y="4805172"/>
            <a:ext cx="37871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</a:t>
            </a:r>
            <a:endParaRPr lang="en-US" sz="850" dirty="0"/>
          </a:p>
        </p:txBody>
      </p:sp>
      <p:sp>
        <p:nvSpPr>
          <p:cNvPr id="55" name="Text 47"/>
          <p:cNvSpPr/>
          <p:nvPr/>
        </p:nvSpPr>
        <p:spPr>
          <a:xfrm>
            <a:off x="6406744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포브스코리아 어워즈</a:t>
            </a:r>
            <a:endParaRPr lang="en-US" sz="1150" dirty="0"/>
          </a:p>
        </p:txBody>
      </p:sp>
      <p:sp>
        <p:nvSpPr>
          <p:cNvPr id="56" name="Shape 48"/>
          <p:cNvSpPr/>
          <p:nvPr/>
        </p:nvSpPr>
        <p:spPr>
          <a:xfrm>
            <a:off x="6406744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7" name="Text 49"/>
          <p:cNvSpPr/>
          <p:nvPr/>
        </p:nvSpPr>
        <p:spPr>
          <a:xfrm>
            <a:off x="6406744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중앙일보 주최 · 내일사장 주관</a:t>
            </a:r>
            <a:endParaRPr lang="en-US" sz="930" dirty="0"/>
          </a:p>
        </p:txBody>
      </p:sp>
      <p:sp>
        <p:nvSpPr>
          <p:cNvPr id="58" name="Shape 50"/>
          <p:cNvSpPr/>
          <p:nvPr/>
        </p:nvSpPr>
        <p:spPr>
          <a:xfrm>
            <a:off x="8992895" y="4658868"/>
            <a:ext cx="2513000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9" name="Shape 51"/>
          <p:cNvSpPr/>
          <p:nvPr/>
        </p:nvSpPr>
        <p:spPr>
          <a:xfrm>
            <a:off x="10723067" y="4805172"/>
            <a:ext cx="5999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0" name="Text 52"/>
          <p:cNvSpPr/>
          <p:nvPr/>
        </p:nvSpPr>
        <p:spPr>
          <a:xfrm>
            <a:off x="10887659" y="4805172"/>
            <a:ext cx="2707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모객</a:t>
            </a:r>
            <a:endParaRPr lang="en-US" sz="850" dirty="0"/>
          </a:p>
        </p:txBody>
      </p:sp>
      <p:sp>
        <p:nvSpPr>
          <p:cNvPr id="61" name="Text 53"/>
          <p:cNvSpPr/>
          <p:nvPr/>
        </p:nvSpPr>
        <p:spPr>
          <a:xfrm>
            <a:off x="9175775" y="5134356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아프니까 사장이다</a:t>
            </a:r>
            <a:endParaRPr lang="en-US" sz="1150" dirty="0"/>
          </a:p>
        </p:txBody>
      </p:sp>
      <p:sp>
        <p:nvSpPr>
          <p:cNvPr id="62" name="Shape 54"/>
          <p:cNvSpPr/>
          <p:nvPr/>
        </p:nvSpPr>
        <p:spPr>
          <a:xfrm>
            <a:off x="9175775" y="5573268"/>
            <a:ext cx="214724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3" name="Text 55"/>
          <p:cNvSpPr/>
          <p:nvPr/>
        </p:nvSpPr>
        <p:spPr>
          <a:xfrm>
            <a:off x="9175775" y="5628132"/>
            <a:ext cx="2147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210만 대상 바이럴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31136"/>
            <a:ext cx="12191695" cy="462686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31136"/>
            <a:ext cx="12191695" cy="914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지연 구간별 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문서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제공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685800" y="1775765"/>
            <a:ext cx="990165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홈택스 신고자료 연동 · 검증 리포트 · 상권 분석 · 정보공개서 D-day까지 이미 운영 중인 화면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8580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8580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2" name="Image 2" descr="/home/user/onewillco-meeting-2026/runnerpub-proposal/assets/p07_ste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52629"/>
            <a:ext cx="2343836" cy="138929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8580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14" name="Shape 9"/>
          <p:cNvSpPr/>
          <p:nvPr/>
        </p:nvSpPr>
        <p:spPr>
          <a:xfrm>
            <a:off x="68580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15" name="Shape 10"/>
          <p:cNvSpPr/>
          <p:nvPr/>
        </p:nvSpPr>
        <p:spPr>
          <a:xfrm>
            <a:off x="68580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6" name="Text 11"/>
          <p:cNvSpPr/>
          <p:nvPr/>
        </p:nvSpPr>
        <p:spPr>
          <a:xfrm>
            <a:off x="80467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홈택스 연동 실매출 확인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3249092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18" name="Text 13"/>
          <p:cNvSpPr/>
          <p:nvPr/>
        </p:nvSpPr>
        <p:spPr>
          <a:xfrm>
            <a:off x="345026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45026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0" name="Image 3" descr="/home/user/onewillco-meeting-2026/runnerpub-proposal/assets/p07_step2_fl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700" y="3341638"/>
            <a:ext cx="2343836" cy="2000287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45026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2" name="Shape 16"/>
          <p:cNvSpPr/>
          <p:nvPr/>
        </p:nvSpPr>
        <p:spPr>
          <a:xfrm>
            <a:off x="345026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23" name="Shape 17"/>
          <p:cNvSpPr/>
          <p:nvPr/>
        </p:nvSpPr>
        <p:spPr>
          <a:xfrm>
            <a:off x="345026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18"/>
          <p:cNvSpPr/>
          <p:nvPr/>
        </p:nvSpPr>
        <p:spPr>
          <a:xfrm>
            <a:off x="356913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리포트 제공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013552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26" name="Text 20"/>
          <p:cNvSpPr/>
          <p:nvPr/>
        </p:nvSpPr>
        <p:spPr>
          <a:xfrm>
            <a:off x="6214720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214720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8" name="Image 4" descr="/home/user/onewillco-meeting-2026/runnerpub-proposal/assets/p07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6160" y="3859793"/>
            <a:ext cx="2343836" cy="1482131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214720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30" name="Shape 23"/>
          <p:cNvSpPr/>
          <p:nvPr/>
        </p:nvSpPr>
        <p:spPr>
          <a:xfrm>
            <a:off x="6214720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31" name="Shape 24"/>
          <p:cNvSpPr/>
          <p:nvPr/>
        </p:nvSpPr>
        <p:spPr>
          <a:xfrm>
            <a:off x="6214720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2" name="Text 25"/>
          <p:cNvSpPr/>
          <p:nvPr/>
        </p:nvSpPr>
        <p:spPr>
          <a:xfrm>
            <a:off x="6333592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입지 출점 검토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778011" y="4409237"/>
            <a:ext cx="164592" cy="20117"/>
          </a:xfrm>
          <a:prstGeom prst="rect">
            <a:avLst/>
          </a:prstGeom>
          <a:solidFill>
            <a:srgbClr val="A6B6D2"/>
          </a:solidFill>
          <a:ln>
            <a:noFill/>
          </a:ln>
        </p:spPr>
      </p:sp>
      <p:sp>
        <p:nvSpPr>
          <p:cNvPr id="34" name="Text 27"/>
          <p:cNvSpPr/>
          <p:nvPr/>
        </p:nvSpPr>
        <p:spPr>
          <a:xfrm>
            <a:off x="8979179" y="2781605"/>
            <a:ext cx="25267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8979179" y="3110789"/>
            <a:ext cx="2526716" cy="2615184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6" name="Image 5" descr="/home/user/onewillco-meeting-2026/runnerpub-proposal/assets/p07_dd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619" y="3721921"/>
            <a:ext cx="2343836" cy="162000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979179" y="5396789"/>
            <a:ext cx="2526716" cy="329184"/>
          </a:xfrm>
          <a:prstGeom prst="roundRect">
            <a:avLst>
              <a:gd name="adj" fmla="val 16667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38" name="Shape 30"/>
          <p:cNvSpPr/>
          <p:nvPr/>
        </p:nvSpPr>
        <p:spPr>
          <a:xfrm>
            <a:off x="8979179" y="5396789"/>
            <a:ext cx="2526716" cy="164592"/>
          </a:xfrm>
          <a:prstGeom prst="rect">
            <a:avLst/>
          </a:prstGeom>
          <a:solidFill>
            <a:srgbClr val="E7EFFA"/>
          </a:solidFill>
          <a:ln>
            <a:noFill/>
          </a:ln>
        </p:spPr>
      </p:sp>
      <p:sp>
        <p:nvSpPr>
          <p:cNvPr id="39" name="Shape 31"/>
          <p:cNvSpPr/>
          <p:nvPr/>
        </p:nvSpPr>
        <p:spPr>
          <a:xfrm>
            <a:off x="8979179" y="5396789"/>
            <a:ext cx="45720" cy="329184"/>
          </a:xfrm>
          <a:prstGeom prst="rect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0" name="Text 32"/>
          <p:cNvSpPr/>
          <p:nvPr/>
        </p:nvSpPr>
        <p:spPr>
          <a:xfrm>
            <a:off x="9098051" y="5396789"/>
            <a:ext cx="2334692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D-day 카운트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85800" y="5876849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2" name="Text 34"/>
          <p:cNvSpPr/>
          <p:nvPr/>
        </p:nvSpPr>
        <p:spPr>
          <a:xfrm>
            <a:off x="685800" y="5876849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3" name="Text 35"/>
          <p:cNvSpPr/>
          <p:nvPr/>
        </p:nvSpPr>
        <p:spPr>
          <a:xfrm>
            <a:off x="1005840" y="5835701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도구</a:t>
            </a:r>
            <a:endParaRPr lang="en-US" sz="1250" dirty="0"/>
          </a:p>
        </p:txBody>
      </p:sp>
      <p:sp>
        <p:nvSpPr>
          <p:cNvPr id="44" name="Shape 36"/>
          <p:cNvSpPr/>
          <p:nvPr/>
        </p:nvSpPr>
        <p:spPr>
          <a:xfrm>
            <a:off x="685800" y="609904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5" name="Shape 37"/>
          <p:cNvSpPr/>
          <p:nvPr/>
        </p:nvSpPr>
        <p:spPr>
          <a:xfrm>
            <a:off x="1929384" y="5863133"/>
            <a:ext cx="95402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6" name="Text 38"/>
          <p:cNvSpPr/>
          <p:nvPr/>
        </p:nvSpPr>
        <p:spPr>
          <a:xfrm>
            <a:off x="2093976" y="5863133"/>
            <a:ext cx="624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홈택스 연동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3029712" y="5863133"/>
            <a:ext cx="116992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8" name="Text 40"/>
          <p:cNvSpPr/>
          <p:nvPr/>
        </p:nvSpPr>
        <p:spPr>
          <a:xfrm>
            <a:off x="3194304" y="5863133"/>
            <a:ext cx="8407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상권분석 보고서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4345940" y="5863133"/>
            <a:ext cx="1061974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Text 42"/>
          <p:cNvSpPr/>
          <p:nvPr/>
        </p:nvSpPr>
        <p:spPr>
          <a:xfrm>
            <a:off x="4510532" y="5863133"/>
            <a:ext cx="73279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거리제한 지도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5554218" y="5863133"/>
            <a:ext cx="1267079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2" name="Text 44"/>
          <p:cNvSpPr/>
          <p:nvPr/>
        </p:nvSpPr>
        <p:spPr>
          <a:xfrm>
            <a:off x="5718810" y="5863133"/>
            <a:ext cx="93789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D-day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6967601" y="5863133"/>
            <a:ext cx="815848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4" name="Text 46"/>
          <p:cNvSpPr/>
          <p:nvPr/>
        </p:nvSpPr>
        <p:spPr>
          <a:xfrm>
            <a:off x="7132193" y="5863133"/>
            <a:ext cx="48666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7929753" y="5863133"/>
            <a:ext cx="1079246" cy="21945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6" name="Text 48"/>
          <p:cNvSpPr/>
          <p:nvPr/>
        </p:nvSpPr>
        <p:spPr>
          <a:xfrm>
            <a:off x="8094345" y="5863133"/>
            <a:ext cx="75006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SV 점검보고서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Terms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발굴부터 클로징까지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과정 위임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본사는 승인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7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업무별 수행 주체와 본사 승인 사항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3442063"/>
            <a:ext cx="10820095" cy="296527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685800" y="4035117"/>
            <a:ext cx="10820095" cy="296527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4" name="Shape 11"/>
          <p:cNvSpPr/>
          <p:nvPr/>
        </p:nvSpPr>
        <p:spPr>
          <a:xfrm>
            <a:off x="685800" y="4628170"/>
            <a:ext cx="10820095" cy="296527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5" name="Shape 12"/>
          <p:cNvSpPr/>
          <p:nvPr/>
        </p:nvSpPr>
        <p:spPr>
          <a:xfrm>
            <a:off x="685800" y="2798064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6" name="Text 13"/>
          <p:cNvSpPr/>
          <p:nvPr/>
        </p:nvSpPr>
        <p:spPr>
          <a:xfrm>
            <a:off x="685800" y="287121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54680" y="2871216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수행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458200" y="2871216"/>
            <a:ext cx="304769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" y="3145536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685800" y="3191256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조직 운영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154680" y="3191256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가맹영업팀 운영 · 두 트랙 동시 영업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458200" y="3191256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85800" y="344206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85800" y="3487783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마케팅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154680" y="3487783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예비창업자 리드 확보 · 창업마케팅 집행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8458200" y="3487783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승인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85800" y="373859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685800" y="3784310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 상담 및 브리핑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3154680" y="3784310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손익 자료와 인·적성검사 결과로 결정 마무리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58200" y="3784310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승인 문구 사용 · 점주 승인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85800" y="403511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685800" y="4080837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점포개발 및 물건화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3154680" y="4080837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실측 · 견적까지 끝낸 브리핑 상태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8458200" y="4080837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승인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85800" y="433164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685800" y="4377363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주선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154680" y="4377363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 협의 및 클로징 지원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458200" y="4377363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85800" y="462817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685800" y="4673890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3154680" y="4673890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공사주관 및 도급계약 수행 가능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8458200" y="4673890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여부 · 수익 분배 협의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85800" y="492469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685800" y="4970417"/>
            <a:ext cx="232257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유입 건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154680" y="4970417"/>
            <a:ext cx="5157216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대상 제외 · 리드 최초 유입 경로 기준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8458200" y="4970417"/>
            <a:ext cx="2901391" cy="2050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 경로 본사 확인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85800" y="5221224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8" name="Shape 45"/>
          <p:cNvSpPr/>
          <p:nvPr/>
        </p:nvSpPr>
        <p:spPr>
          <a:xfrm>
            <a:off x="685800" y="5408676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9" name="Text 46"/>
          <p:cNvSpPr/>
          <p:nvPr/>
        </p:nvSpPr>
        <p:spPr>
          <a:xfrm>
            <a:off x="685800" y="5408676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50" name="Text 47"/>
          <p:cNvSpPr/>
          <p:nvPr/>
        </p:nvSpPr>
        <p:spPr>
          <a:xfrm>
            <a:off x="1005840" y="5349240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2트랙</a:t>
            </a:r>
            <a:endParaRPr lang="en-US" sz="1250" dirty="0"/>
          </a:p>
        </p:txBody>
      </p:sp>
      <p:sp>
        <p:nvSpPr>
          <p:cNvPr id="51" name="Shape 48"/>
          <p:cNvSpPr/>
          <p:nvPr/>
        </p:nvSpPr>
        <p:spPr>
          <a:xfrm>
            <a:off x="685800" y="564916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2" name="Shape 49"/>
          <p:cNvSpPr/>
          <p:nvPr/>
        </p:nvSpPr>
        <p:spPr>
          <a:xfrm>
            <a:off x="685800" y="5733288"/>
            <a:ext cx="5272888" cy="438912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3" name="Text 50"/>
          <p:cNvSpPr/>
          <p:nvPr/>
        </p:nvSpPr>
        <p:spPr>
          <a:xfrm>
            <a:off x="850392" y="5751576"/>
            <a:ext cx="841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A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728216" y="5742432"/>
            <a:ext cx="4065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창업자</a:t>
            </a:r>
            <a:endParaRPr lang="en-US" sz="1200" dirty="0"/>
          </a:p>
        </p:txBody>
      </p:sp>
      <p:sp>
        <p:nvSpPr>
          <p:cNvPr id="55" name="Text 52"/>
          <p:cNvSpPr/>
          <p:nvPr/>
        </p:nvSpPr>
        <p:spPr>
          <a:xfrm>
            <a:off x="850392" y="5980176"/>
            <a:ext cx="494370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상주 창업 수요 · 예비창업자 DB 5,114명</a:t>
            </a:r>
            <a:endParaRPr lang="en-US" sz="930" dirty="0"/>
          </a:p>
        </p:txBody>
      </p:sp>
      <p:sp>
        <p:nvSpPr>
          <p:cNvPr id="56" name="Shape 53"/>
          <p:cNvSpPr/>
          <p:nvPr/>
        </p:nvSpPr>
        <p:spPr>
          <a:xfrm>
            <a:off x="6233008" y="5733288"/>
            <a:ext cx="5272888" cy="438912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7" name="Text 54"/>
          <p:cNvSpPr/>
          <p:nvPr/>
        </p:nvSpPr>
        <p:spPr>
          <a:xfrm>
            <a:off x="6397600" y="5751576"/>
            <a:ext cx="8412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TRACK B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7275424" y="5742432"/>
            <a:ext cx="40658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홀덤펍 리브랜딩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6397600" y="5980176"/>
            <a:ext cx="494370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중인 점주 대상 · 검토 기간 단축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채용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일반 대행 · 내일사장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방식 비교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685800" y="2475281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2475281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6"/>
          <p:cNvSpPr/>
          <p:nvPr/>
        </p:nvSpPr>
        <p:spPr>
          <a:xfrm>
            <a:off x="1005840" y="2415845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가맹 개설 영업 방식 항목별 비교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271576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8"/>
          <p:cNvSpPr/>
          <p:nvPr/>
        </p:nvSpPr>
        <p:spPr>
          <a:xfrm>
            <a:off x="8770925" y="2854757"/>
            <a:ext cx="2734970" cy="2439619"/>
          </a:xfrm>
          <a:prstGeom prst="roundRect">
            <a:avLst>
              <a:gd name="adj" fmla="val 2999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13" name="Shape 9"/>
          <p:cNvSpPr/>
          <p:nvPr/>
        </p:nvSpPr>
        <p:spPr>
          <a:xfrm>
            <a:off x="685800" y="3501107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4" name="Shape 10"/>
          <p:cNvSpPr/>
          <p:nvPr/>
        </p:nvSpPr>
        <p:spPr>
          <a:xfrm>
            <a:off x="685800" y="4098863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5" name="Shape 11"/>
          <p:cNvSpPr/>
          <p:nvPr/>
        </p:nvSpPr>
        <p:spPr>
          <a:xfrm>
            <a:off x="685800" y="4696620"/>
            <a:ext cx="8085125" cy="298878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6" name="Shape 12"/>
          <p:cNvSpPr/>
          <p:nvPr/>
        </p:nvSpPr>
        <p:spPr>
          <a:xfrm>
            <a:off x="685800" y="2854757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7" name="Text 13"/>
          <p:cNvSpPr/>
          <p:nvPr/>
        </p:nvSpPr>
        <p:spPr>
          <a:xfrm>
            <a:off x="685800" y="2927909"/>
            <a:ext cx="2615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300984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채용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6035954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대행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770925" y="2927909"/>
            <a:ext cx="273497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85800" y="320222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2" name="Text 18"/>
          <p:cNvSpPr/>
          <p:nvPr/>
        </p:nvSpPr>
        <p:spPr>
          <a:xfrm>
            <a:off x="685800" y="3247949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시점 비용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3300984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급여 · 4대보험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035954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 발생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770925" y="3247949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85800" y="350110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7" name="Text 23"/>
          <p:cNvSpPr/>
          <p:nvPr/>
        </p:nvSpPr>
        <p:spPr>
          <a:xfrm>
            <a:off x="685800" y="3546827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미계약 건 원가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3300984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부담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035954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부담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770925" y="3546827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부담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85800" y="379998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2" name="Text 28"/>
          <p:cNvSpPr/>
          <p:nvPr/>
        </p:nvSpPr>
        <p:spPr>
          <a:xfrm>
            <a:off x="685800" y="3845705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창업자 모수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3300984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모객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6035954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규모에 따름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8770925" y="3845705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 10만 · DB 5,114명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85800" y="409886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7" name="Text 33"/>
          <p:cNvSpPr/>
          <p:nvPr/>
        </p:nvSpPr>
        <p:spPr>
          <a:xfrm>
            <a:off x="685800" y="4144583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점주 선별 기준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3300984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판단</a:t>
            </a:r>
            <a:endParaRPr lang="en-US" sz="1150" dirty="0"/>
          </a:p>
        </p:txBody>
      </p:sp>
      <p:sp>
        <p:nvSpPr>
          <p:cNvPr id="39" name="Text 35"/>
          <p:cNvSpPr/>
          <p:nvPr/>
        </p:nvSpPr>
        <p:spPr>
          <a:xfrm>
            <a:off x="6035954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재량</a:t>
            </a:r>
            <a:endParaRPr lang="en-US" sz="1150" dirty="0"/>
          </a:p>
        </p:txBody>
      </p:sp>
      <p:sp>
        <p:nvSpPr>
          <p:cNvPr id="40" name="Text 36"/>
          <p:cNvSpPr/>
          <p:nvPr/>
        </p:nvSpPr>
        <p:spPr>
          <a:xfrm>
            <a:off x="8770925" y="4144583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인·적성검사 결과 제출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685800" y="4397741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2" name="Text 38"/>
          <p:cNvSpPr/>
          <p:nvPr/>
        </p:nvSpPr>
        <p:spPr>
          <a:xfrm>
            <a:off x="685800" y="4443461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브리핑 자료</a:t>
            </a:r>
            <a:endParaRPr lang="en-US" sz="1150" dirty="0"/>
          </a:p>
        </p:txBody>
      </p:sp>
      <p:sp>
        <p:nvSpPr>
          <p:cNvPr id="43" name="Text 39"/>
          <p:cNvSpPr/>
          <p:nvPr/>
        </p:nvSpPr>
        <p:spPr>
          <a:xfrm>
            <a:off x="3300984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제작</a:t>
            </a:r>
            <a:endParaRPr lang="en-US" sz="1150" dirty="0"/>
          </a:p>
        </p:txBody>
      </p:sp>
      <p:sp>
        <p:nvSpPr>
          <p:cNvPr id="44" name="Text 40"/>
          <p:cNvSpPr/>
          <p:nvPr/>
        </p:nvSpPr>
        <p:spPr>
          <a:xfrm>
            <a:off x="6035954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브랜드 자료 전달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8770925" y="4443461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 · 손익 직접 산출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685800" y="46966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7" name="Text 43"/>
          <p:cNvSpPr/>
          <p:nvPr/>
        </p:nvSpPr>
        <p:spPr>
          <a:xfrm>
            <a:off x="685800" y="4742340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준법 관리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3300984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 역량</a:t>
            </a:r>
            <a:endParaRPr lang="en-US" sz="1150" dirty="0"/>
          </a:p>
        </p:txBody>
      </p:sp>
      <p:sp>
        <p:nvSpPr>
          <p:cNvPr id="49" name="Text 45"/>
          <p:cNvSpPr/>
          <p:nvPr/>
        </p:nvSpPr>
        <p:spPr>
          <a:xfrm>
            <a:off x="6035954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대행사 재량</a:t>
            </a:r>
            <a:endParaRPr lang="en-US" sz="1150" dirty="0"/>
          </a:p>
        </p:txBody>
      </p:sp>
      <p:sp>
        <p:nvSpPr>
          <p:cNvPr id="50" name="Text 46"/>
          <p:cNvSpPr/>
          <p:nvPr/>
        </p:nvSpPr>
        <p:spPr>
          <a:xfrm>
            <a:off x="8770925" y="4742340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강제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685800" y="4995498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2" name="Text 48"/>
          <p:cNvSpPr/>
          <p:nvPr/>
        </p:nvSpPr>
        <p:spPr>
          <a:xfrm>
            <a:off x="685800" y="5041218"/>
            <a:ext cx="2468880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인력 증원</a:t>
            </a:r>
            <a:endParaRPr lang="en-US" sz="1150" dirty="0"/>
          </a:p>
        </p:txBody>
      </p:sp>
      <p:sp>
        <p:nvSpPr>
          <p:cNvPr id="53" name="Text 49"/>
          <p:cNvSpPr/>
          <p:nvPr/>
        </p:nvSpPr>
        <p:spPr>
          <a:xfrm>
            <a:off x="3300984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6035954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인력 필요</a:t>
            </a:r>
            <a:endParaRPr lang="en-US" sz="1150" dirty="0"/>
          </a:p>
        </p:txBody>
      </p:sp>
      <p:sp>
        <p:nvSpPr>
          <p:cNvPr id="55" name="Text 51"/>
          <p:cNvSpPr/>
          <p:nvPr/>
        </p:nvSpPr>
        <p:spPr>
          <a:xfrm>
            <a:off x="8770925" y="5041218"/>
            <a:ext cx="2588666" cy="2074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0명</a:t>
            </a:r>
            <a:endParaRPr lang="en-US" sz="1150" dirty="0"/>
          </a:p>
        </p:txBody>
      </p:sp>
      <p:sp>
        <p:nvSpPr>
          <p:cNvPr id="56" name="Shape 52"/>
          <p:cNvSpPr/>
          <p:nvPr/>
        </p:nvSpPr>
        <p:spPr>
          <a:xfrm>
            <a:off x="685800" y="5294376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7" name="Text 53"/>
          <p:cNvSpPr/>
          <p:nvPr/>
        </p:nvSpPr>
        <p:spPr>
          <a:xfrm>
            <a:off x="3300984" y="5349240"/>
            <a:ext cx="820491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직영 채용 — 계약 성사 여부와 무관하게 급여 · 4대보험 매월 발생    ※ 일반 대행 — 착수금 유무 및 반환 조건은 대행사별 계약에 따름</a:t>
            </a:r>
            <a:endParaRPr lang="en-US" sz="850" dirty="0"/>
          </a:p>
        </p:txBody>
      </p:sp>
      <p:pic>
        <p:nvPicPr>
          <p:cNvPr id="58" name="Image 2" descr="/home/user/onewillco-meeting-2026/runnerpub-proposal/assets/gr_b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05272"/>
            <a:ext cx="12191695" cy="658368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685800" y="5751576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A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미위임 시 채용 고정비와 미계약 건 원가 본사 부담 · 위임 시 </a:t>
            </a:r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성사 건에만 비용 발생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발생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시점과</a:t>
            </a:r>
            <a:endParaRPr lang="en-US" sz="25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정산 기준</a:t>
            </a:r>
            <a:endParaRPr lang="en-US" sz="2500" dirty="0"/>
          </a:p>
        </p:txBody>
      </p:sp>
      <p:sp>
        <p:nvSpPr>
          <p:cNvPr id="7" name="Shape 4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8" name="Text 5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9" name="Text 6"/>
          <p:cNvSpPr/>
          <p:nvPr/>
        </p:nvSpPr>
        <p:spPr>
          <a:xfrm>
            <a:off x="1005840" y="2359152"/>
            <a:ext cx="5294376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발생 시점과 금액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85800" y="2659075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1" name="Shape 8"/>
          <p:cNvSpPr/>
          <p:nvPr/>
        </p:nvSpPr>
        <p:spPr>
          <a:xfrm>
            <a:off x="685800" y="3686861"/>
            <a:ext cx="5669280" cy="541325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4769510"/>
            <a:ext cx="5669280" cy="541325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685800" y="2798064"/>
            <a:ext cx="5669280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14" name="Text 11"/>
          <p:cNvSpPr/>
          <p:nvPr/>
        </p:nvSpPr>
        <p:spPr>
          <a:xfrm>
            <a:off x="685800" y="2871216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057400" y="2871216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시점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00600" y="2871216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금액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85800" y="3145536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685800" y="3191256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착수금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057400" y="3191256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800600" y="3191256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85800" y="3686861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2" name="Text 19"/>
          <p:cNvSpPr/>
          <p:nvPr/>
        </p:nvSpPr>
        <p:spPr>
          <a:xfrm>
            <a:off x="685800" y="3732581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고정비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057400" y="3732581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없음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800600" y="3732581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85800" y="4228186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685800" y="4273906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광고비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2057400" y="4273906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 개설 영업 대가 청구 없음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4800600" y="4273906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85800" y="4769510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685800" y="4815230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2057400" y="4815230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체결 및 가맹비 입금 완료 후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4800600" y="4815230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85800" y="5310835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685800" y="5356555"/>
            <a:ext cx="12252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· 환불 시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2057400" y="5356555"/>
            <a:ext cx="2596896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정책에 맞춰 착수 전 협의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4800600" y="5356555"/>
            <a:ext cx="1554480" cy="4498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협의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85800" y="5852160"/>
            <a:ext cx="56692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685800" y="5925312"/>
            <a:ext cx="5669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성공보수는 부가가치세 별도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77570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677570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1" name="Text 38"/>
          <p:cNvSpPr/>
          <p:nvPr/>
        </p:nvSpPr>
        <p:spPr>
          <a:xfrm>
            <a:off x="7095744" y="2359152"/>
            <a:ext cx="435528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귀속과 해제 시 환수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775704" y="2659075"/>
            <a:ext cx="473019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3" name="Shape 40"/>
          <p:cNvSpPr/>
          <p:nvPr/>
        </p:nvSpPr>
        <p:spPr>
          <a:xfrm>
            <a:off x="6775704" y="2798064"/>
            <a:ext cx="4730191" cy="54864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6940296" y="2834640"/>
            <a:ext cx="4401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 귀속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6940296" y="3035808"/>
            <a:ext cx="44010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할인액 전액 내일사장 성공보수에서 차감 · 본사 가맹비 수취 1,500만원 불변</a:t>
            </a:r>
            <a:endParaRPr lang="en-US" sz="930" dirty="0"/>
          </a:p>
        </p:txBody>
      </p:sp>
      <p:sp>
        <p:nvSpPr>
          <p:cNvPr id="46" name="Shape 43"/>
          <p:cNvSpPr/>
          <p:nvPr/>
        </p:nvSpPr>
        <p:spPr>
          <a:xfrm>
            <a:off x="6775704" y="3401568"/>
            <a:ext cx="4730191" cy="54864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47" name="Text 44"/>
          <p:cNvSpPr/>
          <p:nvPr/>
        </p:nvSpPr>
        <p:spPr>
          <a:xfrm>
            <a:off x="6940296" y="3438144"/>
            <a:ext cx="4401007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해제 시 환수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940296" y="3639312"/>
            <a:ext cx="4401007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가맹계약 해제 · 환불 발생 시 성공보수 환수 기준을 착수 전 협의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6775704" y="4005072"/>
            <a:ext cx="473019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할인 한도는 건별 본사 승인 후 확정 · 내일사장 단독 조건 제시 없음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6775704" y="433882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1" name="Text 48"/>
          <p:cNvSpPr/>
          <p:nvPr/>
        </p:nvSpPr>
        <p:spPr>
          <a:xfrm>
            <a:off x="6775704" y="433882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52" name="Text 49"/>
          <p:cNvSpPr/>
          <p:nvPr/>
        </p:nvSpPr>
        <p:spPr>
          <a:xfrm>
            <a:off x="7095744" y="4279392"/>
            <a:ext cx="435528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LSM 광고 집행 기준 · 내일사장 수취 구간</a:t>
            </a:r>
            <a:endParaRPr lang="en-US" sz="1250" dirty="0"/>
          </a:p>
        </p:txBody>
      </p:sp>
      <p:sp>
        <p:nvSpPr>
          <p:cNvPr id="53" name="Shape 50"/>
          <p:cNvSpPr/>
          <p:nvPr/>
        </p:nvSpPr>
        <p:spPr>
          <a:xfrm>
            <a:off x="6775704" y="4579315"/>
            <a:ext cx="473019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4" name="Shape 51"/>
          <p:cNvSpPr/>
          <p:nvPr/>
        </p:nvSpPr>
        <p:spPr>
          <a:xfrm>
            <a:off x="6775704" y="4700016"/>
            <a:ext cx="4730191" cy="438912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55" name="Shape 52"/>
          <p:cNvSpPr/>
          <p:nvPr/>
        </p:nvSpPr>
        <p:spPr>
          <a:xfrm>
            <a:off x="6922008" y="4800600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56" name="Text 53"/>
          <p:cNvSpPr/>
          <p:nvPr/>
        </p:nvSpPr>
        <p:spPr>
          <a:xfrm>
            <a:off x="6922008" y="480060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57" name="Text 54"/>
          <p:cNvSpPr/>
          <p:nvPr/>
        </p:nvSpPr>
        <p:spPr>
          <a:xfrm>
            <a:off x="7269480" y="4718304"/>
            <a:ext cx="407182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800만원 이하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7269480" y="4919472"/>
            <a:ext cx="407182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집행</a:t>
            </a:r>
            <a:endParaRPr lang="en-US" sz="930" dirty="0"/>
          </a:p>
        </p:txBody>
      </p:sp>
      <p:sp>
        <p:nvSpPr>
          <p:cNvPr id="59" name="Shape 56"/>
          <p:cNvSpPr/>
          <p:nvPr/>
        </p:nvSpPr>
        <p:spPr>
          <a:xfrm>
            <a:off x="6775704" y="5193792"/>
            <a:ext cx="4730191" cy="438912"/>
          </a:xfrm>
          <a:prstGeom prst="roundRect">
            <a:avLst>
              <a:gd name="adj" fmla="val 12500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60" name="Shape 57"/>
          <p:cNvSpPr/>
          <p:nvPr/>
        </p:nvSpPr>
        <p:spPr>
          <a:xfrm>
            <a:off x="6922008" y="5294376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1" name="Text 58"/>
          <p:cNvSpPr/>
          <p:nvPr/>
        </p:nvSpPr>
        <p:spPr>
          <a:xfrm>
            <a:off x="6922008" y="5294376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62" name="Text 59"/>
          <p:cNvSpPr/>
          <p:nvPr/>
        </p:nvSpPr>
        <p:spPr>
          <a:xfrm>
            <a:off x="7269480" y="5212080"/>
            <a:ext cx="407182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800만원 초과 ~ 1,000만원 미만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7269480" y="5413248"/>
            <a:ext cx="407182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양사 협의</a:t>
            </a:r>
            <a:endParaRPr lang="en-US" sz="930" dirty="0"/>
          </a:p>
        </p:txBody>
      </p:sp>
      <p:sp>
        <p:nvSpPr>
          <p:cNvPr id="64" name="Shape 61"/>
          <p:cNvSpPr/>
          <p:nvPr/>
        </p:nvSpPr>
        <p:spPr>
          <a:xfrm>
            <a:off x="6775704" y="5687568"/>
            <a:ext cx="4730191" cy="438912"/>
          </a:xfrm>
          <a:prstGeom prst="roundRect">
            <a:avLst>
              <a:gd name="adj" fmla="val 12500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65" name="Shape 62"/>
          <p:cNvSpPr/>
          <p:nvPr/>
        </p:nvSpPr>
        <p:spPr>
          <a:xfrm>
            <a:off x="6922008" y="5788152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66" name="Text 63"/>
          <p:cNvSpPr/>
          <p:nvPr/>
        </p:nvSpPr>
        <p:spPr>
          <a:xfrm>
            <a:off x="6922008" y="578815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67" name="Text 64"/>
          <p:cNvSpPr/>
          <p:nvPr/>
        </p:nvSpPr>
        <p:spPr>
          <a:xfrm>
            <a:off x="7269480" y="5705856"/>
            <a:ext cx="4071823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1,000만원 전액 수취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7269480" y="5907024"/>
            <a:ext cx="4071823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집행 · 수취액 중 200만원 매장 LSM 광고비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nel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77840" y="0"/>
            <a:ext cx="9144" cy="6858000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" name="Shape 1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5" name="Text 2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pic>
        <p:nvPicPr>
          <p:cNvPr id="6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85800" y="1263701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시점부터 흑자,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로열티 전액 순증</a:t>
            </a:r>
            <a:endParaRPr lang="en-US" sz="2500" dirty="0"/>
          </a:p>
        </p:txBody>
      </p:sp>
      <p:sp>
        <p:nvSpPr>
          <p:cNvPr id="9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0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1" name="Text 7"/>
          <p:cNvSpPr/>
          <p:nvPr/>
        </p:nvSpPr>
        <p:spPr>
          <a:xfrm>
            <a:off x="1005840" y="2359152"/>
            <a:ext cx="4096512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1건 · 계약 시점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2659075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3" name="Text 9"/>
          <p:cNvSpPr/>
          <p:nvPr/>
        </p:nvSpPr>
        <p:spPr>
          <a:xfrm>
            <a:off x="685800" y="2889504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(본사 수취)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154680" y="2889504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76"/>
              </a:lnSpc>
              <a:buNone/>
            </a:pPr>
            <a:r>
              <a:rPr lang="en-US" sz="1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+1,500만원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85800" y="3236976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6" name="Text 12"/>
          <p:cNvSpPr/>
          <p:nvPr/>
        </p:nvSpPr>
        <p:spPr>
          <a:xfrm>
            <a:off x="685800" y="3328416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성공보수 (내일사장)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154680" y="3328416"/>
            <a:ext cx="200253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876"/>
              </a:lnSpc>
              <a:buNone/>
            </a:pPr>
            <a:r>
              <a:rPr lang="en-US" sz="1400" b="1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−1,000만원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3675888"/>
            <a:ext cx="4471416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9" name="Shape 15"/>
          <p:cNvSpPr/>
          <p:nvPr/>
        </p:nvSpPr>
        <p:spPr>
          <a:xfrm>
            <a:off x="685800" y="3840480"/>
            <a:ext cx="4471416" cy="786384"/>
          </a:xfrm>
          <a:prstGeom prst="roundRect">
            <a:avLst>
              <a:gd name="adj" fmla="val 9302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868680" y="3931920"/>
            <a:ext cx="41056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시점 본사 순수취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868680" y="4133088"/>
            <a:ext cx="4105656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12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+500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만원</a:t>
            </a:r>
            <a:endParaRPr lang="en-US" sz="3000" dirty="0"/>
          </a:p>
        </p:txBody>
      </p:sp>
      <p:sp>
        <p:nvSpPr>
          <p:cNvPr id="22" name="Text 18"/>
          <p:cNvSpPr/>
          <p:nvPr/>
        </p:nvSpPr>
        <p:spPr>
          <a:xfrm>
            <a:off x="685800" y="4754880"/>
            <a:ext cx="4471416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이후 월 로열티 150만원 전액 본사 순증 — 개설 대가 추가 청구 없음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5800" y="5065776"/>
            <a:ext cx="4471416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개설 기본비용 1,600만원 전액 할인 프로모션은 본사 정책 그대로 유지 · 성공보수는 가맹비 1,500만원 범위 안에서만 정산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85800" y="5925312"/>
            <a:ext cx="4471416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러너펍 공개 가맹 안내 기준 시뮬레이션 · 실제 조건은 본사 정책에 따름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5998464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2"/>
          <p:cNvSpPr/>
          <p:nvPr/>
        </p:nvSpPr>
        <p:spPr>
          <a:xfrm>
            <a:off x="5998464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27" name="Text 23"/>
          <p:cNvSpPr/>
          <p:nvPr/>
        </p:nvSpPr>
        <p:spPr>
          <a:xfrm>
            <a:off x="6318504" y="2359152"/>
            <a:ext cx="513252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1개점 누적 본사 순수취 — 성공보수 차감 후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5998464" y="2659075"/>
            <a:ext cx="55074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9" name="Text 25"/>
          <p:cNvSpPr/>
          <p:nvPr/>
        </p:nvSpPr>
        <p:spPr>
          <a:xfrm>
            <a:off x="5998464" y="2889504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</a:t>
            </a:r>
            <a:endParaRPr lang="en-US" sz="1050" dirty="0"/>
          </a:p>
        </p:txBody>
      </p:sp>
      <p:pic>
        <p:nvPicPr>
          <p:cNvPr id="30" name="Image 2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152" y="2935224"/>
            <a:ext cx="1213037" cy="16459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0116007" y="28895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2,300만원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5998464" y="3328416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24개월</a:t>
            </a:r>
            <a:endParaRPr lang="en-US" sz="1050" dirty="0"/>
          </a:p>
        </p:txBody>
      </p:sp>
      <p:pic>
        <p:nvPicPr>
          <p:cNvPr id="33" name="Image 3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3374136"/>
            <a:ext cx="2162370" cy="16459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0116007" y="3328416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4,100만원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998464" y="3767328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36개월</a:t>
            </a:r>
            <a:endParaRPr lang="en-US" sz="1050" dirty="0"/>
          </a:p>
        </p:txBody>
      </p:sp>
      <p:pic>
        <p:nvPicPr>
          <p:cNvPr id="36" name="Image 4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3813048"/>
            <a:ext cx="3111703" cy="16459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0116007" y="3767328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5,900만원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5998464" y="430225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9" name="Text 32"/>
          <p:cNvSpPr/>
          <p:nvPr/>
        </p:nvSpPr>
        <p:spPr>
          <a:xfrm>
            <a:off x="5998464" y="430225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40" name="Text 33"/>
          <p:cNvSpPr/>
          <p:nvPr/>
        </p:nvSpPr>
        <p:spPr>
          <a:xfrm>
            <a:off x="6318504" y="4242816"/>
            <a:ext cx="5132527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출점 규모별 36개월 누적 순수취</a:t>
            </a:r>
            <a:endParaRPr lang="en-US" sz="1250" dirty="0"/>
          </a:p>
        </p:txBody>
      </p:sp>
      <p:sp>
        <p:nvSpPr>
          <p:cNvPr id="41" name="Shape 34"/>
          <p:cNvSpPr/>
          <p:nvPr/>
        </p:nvSpPr>
        <p:spPr>
          <a:xfrm>
            <a:off x="5998464" y="4542739"/>
            <a:ext cx="5507431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2" name="Text 35"/>
          <p:cNvSpPr/>
          <p:nvPr/>
        </p:nvSpPr>
        <p:spPr>
          <a:xfrm>
            <a:off x="5998464" y="4754880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3개점</a:t>
            </a:r>
            <a:endParaRPr lang="en-US" sz="1050" dirty="0"/>
          </a:p>
        </p:txBody>
      </p:sp>
      <p:pic>
        <p:nvPicPr>
          <p:cNvPr id="43" name="Image 5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4800600"/>
            <a:ext cx="840242" cy="16459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805111" y="4754880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1억 7,700만원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998464" y="5157216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5개점</a:t>
            </a:r>
            <a:endParaRPr lang="en-US" sz="1050" dirty="0"/>
          </a:p>
        </p:txBody>
      </p:sp>
      <p:pic>
        <p:nvPicPr>
          <p:cNvPr id="46" name="Image 6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1152" y="5202936"/>
            <a:ext cx="1400404" cy="16459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9805111" y="5157216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2억 9,500만원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5998464" y="5559552"/>
            <a:ext cx="87782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0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10개점</a:t>
            </a:r>
            <a:endParaRPr lang="en-US" sz="1050" dirty="0"/>
          </a:p>
        </p:txBody>
      </p:sp>
      <p:pic>
        <p:nvPicPr>
          <p:cNvPr id="49" name="Image 7" descr="/home/user/onewillco-meeting-2026/runnerpub-proposal/assets/gr_bar_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1152" y="5605272"/>
            <a:ext cx="2800807" cy="164592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9805111" y="5559552"/>
            <a:ext cx="1700784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474"/>
              </a:lnSpc>
              <a:buNone/>
            </a:pPr>
            <a:r>
              <a:rPr lang="en-US" sz="11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5억 9,000만원</a:t>
            </a:r>
            <a:endParaRPr lang="en-US" sz="1100" dirty="0"/>
          </a:p>
        </p:txBody>
      </p:sp>
      <p:sp>
        <p:nvSpPr>
          <p:cNvPr id="51" name="Text 41"/>
          <p:cNvSpPr/>
          <p:nvPr/>
        </p:nvSpPr>
        <p:spPr>
          <a:xfrm>
            <a:off x="5998464" y="5961888"/>
            <a:ext cx="5507431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가맹비 1,500만원 + 월 로열티 150만원 × 36개월 − 성공보수 1,000만원 기준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pic>
        <p:nvPicPr>
          <p:cNvPr id="4" name="Image 0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" y="843077"/>
            <a:ext cx="10820095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200" b="1" spc="-5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Governance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아닌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기반의 준법 통제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85800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85800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10" name="Text 7"/>
          <p:cNvSpPr/>
          <p:nvPr/>
        </p:nvSpPr>
        <p:spPr>
          <a:xfrm>
            <a:off x="1005840" y="2359152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잠금 흐름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85800" y="265907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685800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13" name="Shape 10"/>
          <p:cNvSpPr/>
          <p:nvPr/>
        </p:nvSpPr>
        <p:spPr>
          <a:xfrm>
            <a:off x="832104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4" name="Text 11"/>
          <p:cNvSpPr/>
          <p:nvPr/>
        </p:nvSpPr>
        <p:spPr>
          <a:xfrm>
            <a:off x="832104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Text 12"/>
          <p:cNvSpPr/>
          <p:nvPr/>
        </p:nvSpPr>
        <p:spPr>
          <a:xfrm>
            <a:off x="1124712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제공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124712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자료 그대로 전달</a:t>
            </a:r>
            <a:endParaRPr lang="en-US" sz="930" dirty="0"/>
          </a:p>
        </p:txBody>
      </p:sp>
      <p:pic>
        <p:nvPicPr>
          <p:cNvPr id="17" name="Image 1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940" y="3017520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486836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19" name="Shape 15"/>
          <p:cNvSpPr/>
          <p:nvPr/>
        </p:nvSpPr>
        <p:spPr>
          <a:xfrm>
            <a:off x="3633140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3633140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3925748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D-14 자동 카운트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925748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가맹사업법 제7조제3항</a:t>
            </a:r>
            <a:endParaRPr lang="en-US" sz="930" dirty="0"/>
          </a:p>
        </p:txBody>
      </p:sp>
      <p:pic>
        <p:nvPicPr>
          <p:cNvPr id="23" name="Image 2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76" y="3017520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87872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E7EFFA"/>
          </a:solidFill>
          <a:ln>
            <a:noFill/>
          </a:ln>
        </p:spPr>
      </p:sp>
      <p:sp>
        <p:nvSpPr>
          <p:cNvPr id="25" name="Shape 20"/>
          <p:cNvSpPr/>
          <p:nvPr/>
        </p:nvSpPr>
        <p:spPr>
          <a:xfrm>
            <a:off x="6434176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1"/>
          <p:cNvSpPr/>
          <p:nvPr/>
        </p:nvSpPr>
        <p:spPr>
          <a:xfrm>
            <a:off x="6434176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60" dirty="0"/>
          </a:p>
        </p:txBody>
      </p:sp>
      <p:sp>
        <p:nvSpPr>
          <p:cNvPr id="27" name="Text 22"/>
          <p:cNvSpPr/>
          <p:nvPr/>
        </p:nvSpPr>
        <p:spPr>
          <a:xfrm>
            <a:off x="6726784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전자계약 시스템 잠금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726784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경과 전 체결 불가</a:t>
            </a:r>
            <a:endParaRPr lang="en-US" sz="930" dirty="0"/>
          </a:p>
        </p:txBody>
      </p:sp>
      <p:pic>
        <p:nvPicPr>
          <p:cNvPr id="29" name="Image 3" descr="/home/user/onewillco-meeting-2026/runnerpub-proposal/assets/ic_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011" y="3017520"/>
            <a:ext cx="219456" cy="21945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9088907" y="2798064"/>
            <a:ext cx="2416988" cy="658368"/>
          </a:xfrm>
          <a:prstGeom prst="roundRect">
            <a:avLst>
              <a:gd name="adj" fmla="val 8333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9235211" y="2889504"/>
            <a:ext cx="219456" cy="219456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2" name="Text 26"/>
          <p:cNvSpPr/>
          <p:nvPr/>
        </p:nvSpPr>
        <p:spPr>
          <a:xfrm>
            <a:off x="9235211" y="288950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60" dirty="0"/>
          </a:p>
        </p:txBody>
      </p:sp>
      <p:sp>
        <p:nvSpPr>
          <p:cNvPr id="33" name="Text 27"/>
          <p:cNvSpPr/>
          <p:nvPr/>
        </p:nvSpPr>
        <p:spPr>
          <a:xfrm>
            <a:off x="9527819" y="2852928"/>
            <a:ext cx="18500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경과 후 잠금 해제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9527819" y="3108960"/>
            <a:ext cx="18500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93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계약 진행</a:t>
            </a:r>
            <a:endParaRPr lang="en-US" sz="930" dirty="0"/>
          </a:p>
        </p:txBody>
      </p:sp>
      <p:sp>
        <p:nvSpPr>
          <p:cNvPr id="35" name="Shape 29"/>
          <p:cNvSpPr/>
          <p:nvPr/>
        </p:nvSpPr>
        <p:spPr>
          <a:xfrm>
            <a:off x="685800" y="3662172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6" name="Text 30"/>
          <p:cNvSpPr/>
          <p:nvPr/>
        </p:nvSpPr>
        <p:spPr>
          <a:xfrm>
            <a:off x="685800" y="3662172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7" name="Text 31"/>
          <p:cNvSpPr/>
          <p:nvPr/>
        </p:nvSpPr>
        <p:spPr>
          <a:xfrm>
            <a:off x="1005840" y="3602736"/>
            <a:ext cx="10445191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준법 기준</a:t>
            </a:r>
            <a:endParaRPr lang="en-US" sz="1250" dirty="0"/>
          </a:p>
        </p:txBody>
      </p:sp>
      <p:sp>
        <p:nvSpPr>
          <p:cNvPr id="38" name="Shape 32"/>
          <p:cNvSpPr/>
          <p:nvPr/>
        </p:nvSpPr>
        <p:spPr>
          <a:xfrm>
            <a:off x="685800" y="390265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685800" y="468630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685800" y="528066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1" name="Shape 35"/>
          <p:cNvSpPr/>
          <p:nvPr/>
        </p:nvSpPr>
        <p:spPr>
          <a:xfrm>
            <a:off x="685800" y="5875020"/>
            <a:ext cx="10820095" cy="297180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42" name="Shape 36"/>
          <p:cNvSpPr/>
          <p:nvPr/>
        </p:nvSpPr>
        <p:spPr>
          <a:xfrm>
            <a:off x="685800" y="4041648"/>
            <a:ext cx="10820095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3" name="Text 37"/>
          <p:cNvSpPr/>
          <p:nvPr/>
        </p:nvSpPr>
        <p:spPr>
          <a:xfrm>
            <a:off x="685800" y="4114800"/>
            <a:ext cx="303580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00" dirty="0"/>
          </a:p>
        </p:txBody>
      </p:sp>
      <p:sp>
        <p:nvSpPr>
          <p:cNvPr id="44" name="Text 38"/>
          <p:cNvSpPr/>
          <p:nvPr/>
        </p:nvSpPr>
        <p:spPr>
          <a:xfrm>
            <a:off x="3721608" y="4114800"/>
            <a:ext cx="7784287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685800" y="43891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6" name="Text 40"/>
          <p:cNvSpPr/>
          <p:nvPr/>
        </p:nvSpPr>
        <p:spPr>
          <a:xfrm>
            <a:off x="685800" y="443484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정보공개서 · 계약서</a:t>
            </a:r>
            <a:endParaRPr lang="en-US" sz="1150" dirty="0"/>
          </a:p>
        </p:txBody>
      </p:sp>
      <p:sp>
        <p:nvSpPr>
          <p:cNvPr id="47" name="Text 41"/>
          <p:cNvSpPr/>
          <p:nvPr/>
        </p:nvSpPr>
        <p:spPr>
          <a:xfrm>
            <a:off x="3721608" y="443484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제공 · 내일사장은 전달 및 설명 보조 · 인근가맹점 현황문서(법 제7조제2항) 동봉 확인</a:t>
            </a:r>
            <a:endParaRPr lang="en-US" sz="1150" dirty="0"/>
          </a:p>
        </p:txBody>
      </p:sp>
      <p:sp>
        <p:nvSpPr>
          <p:cNvPr id="48" name="Shape 42"/>
          <p:cNvSpPr/>
          <p:nvPr/>
        </p:nvSpPr>
        <p:spPr>
          <a:xfrm>
            <a:off x="685800" y="468630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9" name="Text 43"/>
          <p:cNvSpPr/>
          <p:nvPr/>
        </p:nvSpPr>
        <p:spPr>
          <a:xfrm>
            <a:off x="685800" y="473202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숙고기간</a:t>
            </a:r>
            <a:endParaRPr lang="en-US" sz="1150" dirty="0"/>
          </a:p>
        </p:txBody>
      </p:sp>
      <p:sp>
        <p:nvSpPr>
          <p:cNvPr id="50" name="Text 44"/>
          <p:cNvSpPr/>
          <p:nvPr/>
        </p:nvSpPr>
        <p:spPr>
          <a:xfrm>
            <a:off x="3721608" y="473202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가맹사업법 제7조제3항 14일 준수 · 기간 단축 유도 금지</a:t>
            </a:r>
            <a:endParaRPr lang="en-US" sz="1150" dirty="0"/>
          </a:p>
        </p:txBody>
      </p:sp>
      <p:sp>
        <p:nvSpPr>
          <p:cNvPr id="51" name="Shape 45"/>
          <p:cNvSpPr/>
          <p:nvPr/>
        </p:nvSpPr>
        <p:spPr>
          <a:xfrm>
            <a:off x="685800" y="498348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2" name="Text 46"/>
          <p:cNvSpPr/>
          <p:nvPr/>
        </p:nvSpPr>
        <p:spPr>
          <a:xfrm>
            <a:off x="685800" y="502920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예상매출 진술</a:t>
            </a:r>
            <a:endParaRPr lang="en-US" sz="1150" dirty="0"/>
          </a:p>
        </p:txBody>
      </p:sp>
      <p:sp>
        <p:nvSpPr>
          <p:cNvPr id="53" name="Text 47"/>
          <p:cNvSpPr/>
          <p:nvPr/>
        </p:nvSpPr>
        <p:spPr>
          <a:xfrm>
            <a:off x="3721608" y="502920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구두 약속 금지 · 본사 승인 문구만 사용</a:t>
            </a:r>
            <a:endParaRPr lang="en-US" sz="1150" dirty="0"/>
          </a:p>
        </p:txBody>
      </p:sp>
      <p:sp>
        <p:nvSpPr>
          <p:cNvPr id="54" name="Shape 48"/>
          <p:cNvSpPr/>
          <p:nvPr/>
        </p:nvSpPr>
        <p:spPr>
          <a:xfrm>
            <a:off x="685800" y="528066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5" name="Text 49"/>
          <p:cNvSpPr/>
          <p:nvPr/>
        </p:nvSpPr>
        <p:spPr>
          <a:xfrm>
            <a:off x="685800" y="532638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· 상담 스크립트</a:t>
            </a:r>
            <a:endParaRPr lang="en-US" sz="1150" dirty="0"/>
          </a:p>
        </p:txBody>
      </p:sp>
      <p:sp>
        <p:nvSpPr>
          <p:cNvPr id="56" name="Text 50"/>
          <p:cNvSpPr/>
          <p:nvPr/>
        </p:nvSpPr>
        <p:spPr>
          <a:xfrm>
            <a:off x="3721608" y="532638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사전 승인 후 사용</a:t>
            </a:r>
            <a:endParaRPr lang="en-US" sz="1150" dirty="0"/>
          </a:p>
        </p:txBody>
      </p:sp>
      <p:sp>
        <p:nvSpPr>
          <p:cNvPr id="57" name="Shape 51"/>
          <p:cNvSpPr/>
          <p:nvPr/>
        </p:nvSpPr>
        <p:spPr>
          <a:xfrm>
            <a:off x="685800" y="557784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8" name="Text 52"/>
          <p:cNvSpPr/>
          <p:nvPr/>
        </p:nvSpPr>
        <p:spPr>
          <a:xfrm>
            <a:off x="685800" y="562356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위반 확인 시</a:t>
            </a:r>
            <a:endParaRPr lang="en-US" sz="1150" dirty="0"/>
          </a:p>
        </p:txBody>
      </p:sp>
      <p:sp>
        <p:nvSpPr>
          <p:cNvPr id="59" name="Text 53"/>
          <p:cNvSpPr/>
          <p:nvPr/>
        </p:nvSpPr>
        <p:spPr>
          <a:xfrm>
            <a:off x="3721608" y="562356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건 영업 즉시 중단 및 본사 통보</a:t>
            </a:r>
            <a:endParaRPr lang="en-US" sz="1150" dirty="0"/>
          </a:p>
        </p:txBody>
      </p:sp>
      <p:sp>
        <p:nvSpPr>
          <p:cNvPr id="60" name="Shape 54"/>
          <p:cNvSpPr/>
          <p:nvPr/>
        </p:nvSpPr>
        <p:spPr>
          <a:xfrm>
            <a:off x="685800" y="587502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1" name="Text 55"/>
          <p:cNvSpPr/>
          <p:nvPr/>
        </p:nvSpPr>
        <p:spPr>
          <a:xfrm>
            <a:off x="685800" y="5920740"/>
            <a:ext cx="288950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인허가 · 게임물 기준</a:t>
            </a:r>
            <a:endParaRPr lang="en-US" sz="1150" dirty="0"/>
          </a:p>
        </p:txBody>
      </p:sp>
      <p:sp>
        <p:nvSpPr>
          <p:cNvPr id="62" name="Text 56"/>
          <p:cNvSpPr/>
          <p:nvPr/>
        </p:nvSpPr>
        <p:spPr>
          <a:xfrm>
            <a:off x="3721608" y="5920740"/>
            <a:ext cx="7637983" cy="20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본사 기준 그대로 적용 · 내일사장 독자 판단 및 안내 금지</a:t>
            </a:r>
            <a:endParaRPr lang="en-US" sz="1150" dirty="0"/>
          </a:p>
        </p:txBody>
      </p:sp>
      <p:sp>
        <p:nvSpPr>
          <p:cNvPr id="63" name="Shape 57"/>
          <p:cNvSpPr/>
          <p:nvPr/>
        </p:nvSpPr>
        <p:spPr>
          <a:xfrm>
            <a:off x="685800" y="6172200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4" name="Text 1"/>
          <p:cNvSpPr/>
          <p:nvPr/>
        </p:nvSpPr>
        <p:spPr>
          <a:xfrm>
            <a:off x="685800" y="495605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2"/>
              </a:lnSpc>
              <a:buNone/>
            </a:pPr>
            <a:r>
              <a:rPr lang="en-US" sz="1300" b="1" spc="15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pic>
        <p:nvPicPr>
          <p:cNvPr id="5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685800" y="1263701"/>
            <a:ext cx="10820095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
</a:t>
            </a:r>
            <a:pPr algn="l" indent="0" marL="0">
              <a:lnSpc>
                <a:spcPts val="3400"/>
              </a:lnSpc>
              <a:buNone/>
            </a:pPr>
            <a:r>
              <a:rPr lang="en-US" sz="25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이력 없음</a:t>
            </a:r>
            <a:endParaRPr lang="en-US" sz="2500" dirty="0"/>
          </a:p>
        </p:txBody>
      </p:sp>
      <p:sp>
        <p:nvSpPr>
          <p:cNvPr id="8" name="Shape 4"/>
          <p:cNvSpPr/>
          <p:nvPr/>
        </p:nvSpPr>
        <p:spPr>
          <a:xfrm>
            <a:off x="685800" y="2359152"/>
            <a:ext cx="4315968" cy="1481328"/>
          </a:xfrm>
          <a:prstGeom prst="roundRect">
            <a:avLst>
              <a:gd name="adj" fmla="val 4938"/>
            </a:avLst>
          </a:prstGeom>
          <a:solidFill>
            <a:srgbClr val="F4F7FD"/>
          </a:solidFill>
          <a:ln>
            <a:noFill/>
          </a:ln>
        </p:spPr>
      </p:sp>
      <p:sp>
        <p:nvSpPr>
          <p:cNvPr id="9" name="Shape 5"/>
          <p:cNvSpPr/>
          <p:nvPr/>
        </p:nvSpPr>
        <p:spPr>
          <a:xfrm>
            <a:off x="868680" y="2505456"/>
            <a:ext cx="1092200" cy="219456"/>
          </a:xfrm>
          <a:prstGeom prst="roundRect">
            <a:avLst>
              <a:gd name="adj" fmla="val 25000"/>
            </a:avLst>
          </a:prstGeom>
          <a:solidFill>
            <a:srgbClr val="EFF1F4"/>
          </a:solidFill>
          <a:ln>
            <a:noFill/>
          </a:ln>
        </p:spPr>
      </p:sp>
      <p:sp>
        <p:nvSpPr>
          <p:cNvPr id="10" name="Text 6"/>
          <p:cNvSpPr/>
          <p:nvPr/>
        </p:nvSpPr>
        <p:spPr>
          <a:xfrm>
            <a:off x="1033272" y="2505456"/>
            <a:ext cx="7630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업종 경험 없음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868680" y="2852928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홀덤 업종 영업 이력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68680" y="3090672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pPr indent="0" marL="0">
              <a:buNone/>
            </a:pPr>
            <a:r>
              <a:rPr lang="en-US" sz="1300" b="1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2898648" y="2852928"/>
            <a:ext cx="7315" cy="786384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4" name="Text 10"/>
          <p:cNvSpPr/>
          <p:nvPr/>
        </p:nvSpPr>
        <p:spPr>
          <a:xfrm>
            <a:off x="3081528" y="2852928"/>
            <a:ext cx="1737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정하시는 항목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081528" y="3090672"/>
            <a:ext cx="15544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2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pPr indent="0" marL="0">
              <a:buNone/>
            </a:pPr>
            <a:r>
              <a:rPr lang="en-US" sz="130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</a:t>
            </a:r>
            <a:endParaRPr lang="en-US" sz="3200" dirty="0"/>
          </a:p>
        </p:txBody>
      </p:sp>
      <p:sp>
        <p:nvSpPr>
          <p:cNvPr id="16" name="Shape 12"/>
          <p:cNvSpPr/>
          <p:nvPr/>
        </p:nvSpPr>
        <p:spPr>
          <a:xfrm>
            <a:off x="685800" y="4142232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7" name="Text 13"/>
          <p:cNvSpPr/>
          <p:nvPr/>
        </p:nvSpPr>
        <p:spPr>
          <a:xfrm>
            <a:off x="685800" y="414223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18" name="Text 14"/>
          <p:cNvSpPr/>
          <p:nvPr/>
        </p:nvSpPr>
        <p:spPr>
          <a:xfrm>
            <a:off x="978408" y="41148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구간 파일럿 운영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85800" y="4562856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0" name="Text 16"/>
          <p:cNvSpPr/>
          <p:nvPr/>
        </p:nvSpPr>
        <p:spPr>
          <a:xfrm>
            <a:off x="685800" y="456285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978408" y="453542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건수 · 기간 · 중단 시점 본사 단독 결정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" y="4983480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3" name="Text 19"/>
          <p:cNvSpPr/>
          <p:nvPr/>
        </p:nvSpPr>
        <p:spPr>
          <a:xfrm>
            <a:off x="685800" y="49834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4" name="Text 20"/>
          <p:cNvSpPr/>
          <p:nvPr/>
        </p:nvSpPr>
        <p:spPr>
          <a:xfrm>
            <a:off x="978408" y="49560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장치 — 파일럿 · 주 단위 리포트 · 본사 승인 자료 전용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85800" y="5404104"/>
            <a:ext cx="182880" cy="182880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6" name="Text 22"/>
          <p:cNvSpPr/>
          <p:nvPr/>
        </p:nvSpPr>
        <p:spPr>
          <a:xfrm>
            <a:off x="685800" y="540410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20" dirty="0"/>
          </a:p>
        </p:txBody>
      </p:sp>
      <p:sp>
        <p:nvSpPr>
          <p:cNvPr id="27" name="Text 23"/>
          <p:cNvSpPr/>
          <p:nvPr/>
        </p:nvSpPr>
        <p:spPr>
          <a:xfrm>
            <a:off x="978408" y="5376672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러너펍 브랜드 및 러너러너 앱 본사 교육 이수 후 영업 투입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685800" y="5888736"/>
            <a:ext cx="4315968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리브랜딩 트랙은 운영 중 점주 대상이며, 입지 · 손익 · 계약 절차는 업종과 무관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422392" y="2418588"/>
            <a:ext cx="192024" cy="19202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30" name="Text 26"/>
          <p:cNvSpPr/>
          <p:nvPr/>
        </p:nvSpPr>
        <p:spPr>
          <a:xfrm>
            <a:off x="5422392" y="2418588"/>
            <a:ext cx="192024" cy="1920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6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966" dirty="0"/>
          </a:p>
        </p:txBody>
      </p:sp>
      <p:sp>
        <p:nvSpPr>
          <p:cNvPr id="31" name="Text 27"/>
          <p:cNvSpPr/>
          <p:nvPr/>
        </p:nvSpPr>
        <p:spPr>
          <a:xfrm>
            <a:off x="5742432" y="2359152"/>
            <a:ext cx="5708599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A55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운영 기준 — 본사 결정 사항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5422392" y="2659075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Shape 29"/>
          <p:cNvSpPr/>
          <p:nvPr/>
        </p:nvSpPr>
        <p:spPr>
          <a:xfrm>
            <a:off x="5422392" y="3523869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4" name="Shape 30"/>
          <p:cNvSpPr/>
          <p:nvPr/>
        </p:nvSpPr>
        <p:spPr>
          <a:xfrm>
            <a:off x="5422392" y="4280535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5" name="Shape 31"/>
          <p:cNvSpPr/>
          <p:nvPr/>
        </p:nvSpPr>
        <p:spPr>
          <a:xfrm>
            <a:off x="5422392" y="5037201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6" name="Shape 32"/>
          <p:cNvSpPr/>
          <p:nvPr/>
        </p:nvSpPr>
        <p:spPr>
          <a:xfrm>
            <a:off x="5422392" y="5793867"/>
            <a:ext cx="6083503" cy="378333"/>
          </a:xfrm>
          <a:prstGeom prst="rect">
            <a:avLst/>
          </a:prstGeom>
          <a:solidFill>
            <a:srgbClr val="F4F7FD"/>
          </a:solidFill>
          <a:ln>
            <a:noFill/>
          </a:ln>
        </p:spPr>
      </p:sp>
      <p:sp>
        <p:nvSpPr>
          <p:cNvPr id="37" name="Shape 33"/>
          <p:cNvSpPr/>
          <p:nvPr/>
        </p:nvSpPr>
        <p:spPr>
          <a:xfrm>
            <a:off x="5422392" y="2798064"/>
            <a:ext cx="6083503" cy="14630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sp>
        <p:nvSpPr>
          <p:cNvPr id="38" name="Text 34"/>
          <p:cNvSpPr/>
          <p:nvPr/>
        </p:nvSpPr>
        <p:spPr>
          <a:xfrm>
            <a:off x="5422392" y="2871216"/>
            <a:ext cx="221284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7635240" y="2871216"/>
            <a:ext cx="3870655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6"/>
              </a:lnSpc>
              <a:buNone/>
            </a:pPr>
            <a:r>
              <a:rPr lang="en-US" sz="900" b="1" spc="80" kern="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결정 사항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422392" y="3145536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1" name="Text 37"/>
          <p:cNvSpPr/>
          <p:nvPr/>
        </p:nvSpPr>
        <p:spPr>
          <a:xfrm>
            <a:off x="5422392" y="3191256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기간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7635240" y="3191256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별지로 기간 확정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5422392" y="3523869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4" name="Text 40"/>
          <p:cNvSpPr/>
          <p:nvPr/>
        </p:nvSpPr>
        <p:spPr>
          <a:xfrm>
            <a:off x="5422392" y="3569589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건수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7635240" y="3569589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전 별지로 목표 건수 확정</a:t>
            </a:r>
            <a:endParaRPr lang="en-US" sz="1150" dirty="0"/>
          </a:p>
        </p:txBody>
      </p:sp>
      <p:sp>
        <p:nvSpPr>
          <p:cNvPr id="46" name="Shape 42"/>
          <p:cNvSpPr/>
          <p:nvPr/>
        </p:nvSpPr>
        <p:spPr>
          <a:xfrm>
            <a:off x="5422392" y="3902202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47" name="Text 43"/>
          <p:cNvSpPr/>
          <p:nvPr/>
        </p:nvSpPr>
        <p:spPr>
          <a:xfrm>
            <a:off x="5422392" y="3947922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 범위</a:t>
            </a:r>
            <a:endParaRPr lang="en-US" sz="1150" dirty="0"/>
          </a:p>
        </p:txBody>
      </p:sp>
      <p:sp>
        <p:nvSpPr>
          <p:cNvPr id="48" name="Text 44"/>
          <p:cNvSpPr/>
          <p:nvPr/>
        </p:nvSpPr>
        <p:spPr>
          <a:xfrm>
            <a:off x="7635240" y="3947922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또는 특정 권역 중 선택</a:t>
            </a:r>
            <a:endParaRPr lang="en-US" sz="1150" dirty="0"/>
          </a:p>
        </p:txBody>
      </p:sp>
      <p:sp>
        <p:nvSpPr>
          <p:cNvPr id="49" name="Shape 45"/>
          <p:cNvSpPr/>
          <p:nvPr/>
        </p:nvSpPr>
        <p:spPr>
          <a:xfrm>
            <a:off x="5422392" y="4280535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0" name="Text 46"/>
          <p:cNvSpPr/>
          <p:nvPr/>
        </p:nvSpPr>
        <p:spPr>
          <a:xfrm>
            <a:off x="5422392" y="4326255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지표</a:t>
            </a:r>
            <a:endParaRPr lang="en-US" sz="1150" dirty="0"/>
          </a:p>
        </p:txBody>
      </p:sp>
      <p:sp>
        <p:nvSpPr>
          <p:cNvPr id="51" name="Text 47"/>
          <p:cNvSpPr/>
          <p:nvPr/>
        </p:nvSpPr>
        <p:spPr>
          <a:xfrm>
            <a:off x="7635240" y="4326255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리드 수 · 상담 진행 수 · 계약 체결 건수</a:t>
            </a:r>
            <a:endParaRPr lang="en-US" sz="1150" dirty="0"/>
          </a:p>
        </p:txBody>
      </p:sp>
      <p:sp>
        <p:nvSpPr>
          <p:cNvPr id="52" name="Shape 48"/>
          <p:cNvSpPr/>
          <p:nvPr/>
        </p:nvSpPr>
        <p:spPr>
          <a:xfrm>
            <a:off x="5422392" y="4658868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3" name="Text 49"/>
          <p:cNvSpPr/>
          <p:nvPr/>
        </p:nvSpPr>
        <p:spPr>
          <a:xfrm>
            <a:off x="5422392" y="4704588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</a:t>
            </a:r>
            <a:endParaRPr lang="en-US" sz="1150" dirty="0"/>
          </a:p>
        </p:txBody>
      </p:sp>
      <p:sp>
        <p:nvSpPr>
          <p:cNvPr id="54" name="Text 50"/>
          <p:cNvSpPr/>
          <p:nvPr/>
        </p:nvSpPr>
        <p:spPr>
          <a:xfrm>
            <a:off x="7635240" y="4704588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 단위 리포트 — 활동 지표 및 단계별 파이프라인</a:t>
            </a:r>
            <a:endParaRPr lang="en-US" sz="1150" dirty="0"/>
          </a:p>
        </p:txBody>
      </p:sp>
      <p:sp>
        <p:nvSpPr>
          <p:cNvPr id="55" name="Shape 51"/>
          <p:cNvSpPr/>
          <p:nvPr/>
        </p:nvSpPr>
        <p:spPr>
          <a:xfrm>
            <a:off x="5422392" y="5037201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6" name="Text 52"/>
          <p:cNvSpPr/>
          <p:nvPr/>
        </p:nvSpPr>
        <p:spPr>
          <a:xfrm>
            <a:off x="5422392" y="5082921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착수 조건</a:t>
            </a:r>
            <a:endParaRPr lang="en-US" sz="1150" dirty="0"/>
          </a:p>
        </p:txBody>
      </p:sp>
      <p:sp>
        <p:nvSpPr>
          <p:cNvPr id="57" name="Text 53"/>
          <p:cNvSpPr/>
          <p:nvPr/>
        </p:nvSpPr>
        <p:spPr>
          <a:xfrm>
            <a:off x="7635240" y="5082921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승인 자료 확정 후 즉시 착수 · 착수금 없음</a:t>
            </a:r>
            <a:endParaRPr lang="en-US" sz="1150" dirty="0"/>
          </a:p>
        </p:txBody>
      </p:sp>
      <p:sp>
        <p:nvSpPr>
          <p:cNvPr id="58" name="Shape 54"/>
          <p:cNvSpPr/>
          <p:nvPr/>
        </p:nvSpPr>
        <p:spPr>
          <a:xfrm>
            <a:off x="5422392" y="5415534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59" name="Text 55"/>
          <p:cNvSpPr/>
          <p:nvPr/>
        </p:nvSpPr>
        <p:spPr>
          <a:xfrm>
            <a:off x="5422392" y="5461254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기준</a:t>
            </a:r>
            <a:endParaRPr lang="en-US" sz="1150" dirty="0"/>
          </a:p>
        </p:txBody>
      </p:sp>
      <p:sp>
        <p:nvSpPr>
          <p:cNvPr id="60" name="Text 56"/>
          <p:cNvSpPr/>
          <p:nvPr/>
        </p:nvSpPr>
        <p:spPr>
          <a:xfrm>
            <a:off x="7635240" y="5461254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판단으로 즉시 중단 — 사유 제한 없음</a:t>
            </a:r>
            <a:endParaRPr lang="en-US" sz="1150" dirty="0"/>
          </a:p>
        </p:txBody>
      </p:sp>
      <p:sp>
        <p:nvSpPr>
          <p:cNvPr id="61" name="Shape 57"/>
          <p:cNvSpPr/>
          <p:nvPr/>
        </p:nvSpPr>
        <p:spPr>
          <a:xfrm>
            <a:off x="5422392" y="5793867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62" name="Text 58"/>
          <p:cNvSpPr/>
          <p:nvPr/>
        </p:nvSpPr>
        <p:spPr>
          <a:xfrm>
            <a:off x="5422392" y="5839587"/>
            <a:ext cx="2066544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종료 시</a:t>
            </a:r>
            <a:endParaRPr lang="en-US" sz="1150" dirty="0"/>
          </a:p>
        </p:txBody>
      </p:sp>
      <p:sp>
        <p:nvSpPr>
          <p:cNvPr id="63" name="Text 59"/>
          <p:cNvSpPr/>
          <p:nvPr/>
        </p:nvSpPr>
        <p:spPr>
          <a:xfrm>
            <a:off x="7635240" y="5839587"/>
            <a:ext cx="3724351" cy="2868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5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연장 또는 종료 본사 단독 결정</a:t>
            </a:r>
            <a:endParaRPr lang="en-US" sz="1150" dirty="0"/>
          </a:p>
        </p:txBody>
      </p:sp>
      <p:sp>
        <p:nvSpPr>
          <p:cNvPr id="64" name="Shape 60"/>
          <p:cNvSpPr/>
          <p:nvPr/>
        </p:nvSpPr>
        <p:spPr>
          <a:xfrm>
            <a:off x="5422392" y="6172200"/>
            <a:ext cx="6083503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onewillco-meeting-2026/runnerpub-proposal/assets/gr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329184"/>
            <a:ext cx="10820095" cy="12802"/>
          </a:xfrm>
          <a:prstGeom prst="rect">
            <a:avLst/>
          </a:prstGeom>
          <a:solidFill>
            <a:srgbClr val="1E3457"/>
          </a:solidFill>
          <a:ln>
            <a:noFill/>
          </a:ln>
        </p:spPr>
      </p:sp>
      <p:pic>
        <p:nvPicPr>
          <p:cNvPr id="4" name="Image 1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503008"/>
            <a:ext cx="1005840" cy="2229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408615" y="6364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206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685800" y="1263701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본사가 정하시는 </a:t>
            </a:r>
            <a:pPr algn="l" indent="0" marL="0">
              <a:lnSpc>
                <a:spcPts val="3300"/>
              </a:lnSpc>
              <a:buNone/>
            </a:pPr>
            <a:r>
              <a:rPr lang="en-US" sz="2600" b="1" spc="-80" kern="0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5건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5800" y="1775765"/>
            <a:ext cx="9901657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다섯 가지만 정해 주시면 그대로 따릅니다.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85800" y="2434133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9" name="Text 5"/>
          <p:cNvSpPr/>
          <p:nvPr/>
        </p:nvSpPr>
        <p:spPr>
          <a:xfrm>
            <a:off x="685800" y="2434133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40" dirty="0"/>
          </a:p>
        </p:txBody>
      </p:sp>
      <p:sp>
        <p:nvSpPr>
          <p:cNvPr id="10" name="Text 6"/>
          <p:cNvSpPr/>
          <p:nvPr/>
        </p:nvSpPr>
        <p:spPr>
          <a:xfrm>
            <a:off x="1051560" y="2415845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· 비전속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721608" y="2415845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전속 여부 · 타 대행사 병행 · 홀덤 동종 브랜드 영업 제한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2763317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3" name="Shape 9"/>
          <p:cNvSpPr/>
          <p:nvPr/>
        </p:nvSpPr>
        <p:spPr>
          <a:xfrm>
            <a:off x="685800" y="2854757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4" name="Text 10"/>
          <p:cNvSpPr/>
          <p:nvPr/>
        </p:nvSpPr>
        <p:spPr>
          <a:xfrm>
            <a:off x="685800" y="2854757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40" dirty="0"/>
          </a:p>
        </p:txBody>
      </p:sp>
      <p:sp>
        <p:nvSpPr>
          <p:cNvPr id="15" name="Text 11"/>
          <p:cNvSpPr/>
          <p:nvPr/>
        </p:nvSpPr>
        <p:spPr>
          <a:xfrm>
            <a:off x="1051560" y="2836469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지역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21608" y="2836469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또는 특정 권역 한정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85800" y="3183941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685800" y="3275381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19" name="Text 15"/>
          <p:cNvSpPr/>
          <p:nvPr/>
        </p:nvSpPr>
        <p:spPr>
          <a:xfrm>
            <a:off x="685800" y="3275381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40" dirty="0"/>
          </a:p>
        </p:txBody>
      </p:sp>
      <p:sp>
        <p:nvSpPr>
          <p:cNvPr id="20" name="Text 16"/>
          <p:cNvSpPr/>
          <p:nvPr/>
        </p:nvSpPr>
        <p:spPr>
          <a:xfrm>
            <a:off x="1051560" y="3257093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위임 기간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721608" y="3257093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기간 및 연장 조건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85800" y="3604565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3" name="Shape 19"/>
          <p:cNvSpPr/>
          <p:nvPr/>
        </p:nvSpPr>
        <p:spPr>
          <a:xfrm>
            <a:off x="685800" y="3696005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4" name="Text 20"/>
          <p:cNvSpPr/>
          <p:nvPr/>
        </p:nvSpPr>
        <p:spPr>
          <a:xfrm>
            <a:off x="685800" y="3696005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40" dirty="0"/>
          </a:p>
        </p:txBody>
      </p:sp>
      <p:sp>
        <p:nvSpPr>
          <p:cNvPr id="25" name="Text 21"/>
          <p:cNvSpPr/>
          <p:nvPr/>
        </p:nvSpPr>
        <p:spPr>
          <a:xfrm>
            <a:off x="1051560" y="3677717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직영 영업 병행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721608" y="3677717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본사 직영 영업 병행 여부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85800" y="4025189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28" name="Shape 24"/>
          <p:cNvSpPr/>
          <p:nvPr/>
        </p:nvSpPr>
        <p:spPr>
          <a:xfrm>
            <a:off x="685800" y="4116629"/>
            <a:ext cx="237744" cy="237744"/>
          </a:xfrm>
          <a:prstGeom prst="ellipse">
            <a:avLst/>
          </a:prstGeom>
          <a:solidFill>
            <a:srgbClr val="2868F0"/>
          </a:solidFill>
          <a:ln>
            <a:noFill/>
          </a:ln>
        </p:spPr>
      </p:sp>
      <p:sp>
        <p:nvSpPr>
          <p:cNvPr id="29" name="Text 25"/>
          <p:cNvSpPr/>
          <p:nvPr/>
        </p:nvSpPr>
        <p:spPr>
          <a:xfrm>
            <a:off x="685800" y="4116629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1051560" y="4098341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인테리어 시공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3721608" y="4098341"/>
            <a:ext cx="778428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내일사장 시공 진행 여부 · 추가 수익 분배 별도 협의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85800" y="4445813"/>
            <a:ext cx="10820095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sp>
        <p:nvSpPr>
          <p:cNvPr id="33" name="Text 29"/>
          <p:cNvSpPr/>
          <p:nvPr/>
        </p:nvSpPr>
        <p:spPr>
          <a:xfrm>
            <a:off x="685800" y="4610405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착수금 없음 · 본사 승인 자료 확정 후 즉시 착수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4175608" y="4939589"/>
            <a:ext cx="3840480" cy="7315"/>
          </a:xfrm>
          <a:prstGeom prst="rect">
            <a:avLst/>
          </a:prstGeom>
          <a:solidFill>
            <a:srgbClr val="DFE3EA"/>
          </a:solidFill>
          <a:ln>
            <a:noFill/>
          </a:ln>
        </p:spPr>
      </p:sp>
      <p:pic>
        <p:nvPicPr>
          <p:cNvPr id="35" name="Image 2" descr="/home/user/onewillco-meeting-2026/runnerpub-proposal/assets/ns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64" y="5049317"/>
            <a:ext cx="1572768" cy="348593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85800" y="5469941"/>
            <a:ext cx="1082009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E34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내일부터 내 일이 사장이 되는 플랫폼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685800" y="5744261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40"/>
              </a:lnSpc>
              <a:buNone/>
            </a:pPr>
            <a:r>
              <a:rPr lang="en-US" sz="1050" b="1" dirty="0">
                <a:solidFill>
                  <a:srgbClr val="286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 지용관 본부장 · 010-3629-7778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85800" y="5945429"/>
            <a:ext cx="10820095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5C687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 러너스튜디오(주) 귀중 · 대표 박경관   ·   서울 강남구 삼성로100길 12 제이타워 B2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주식회사 내일사장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러너펍 가맹 개설 영업 전면 위임 제안 — 내일사장</dc:title>
  <dc:subject>PptxGenJS Presentation</dc:subject>
  <dc:creator>주식회사 내일사장</dc:creator>
  <cp:lastModifiedBy>주식회사 내일사장</cp:lastModifiedBy>
  <cp:revision>1</cp:revision>
  <dcterms:created xsi:type="dcterms:W3CDTF">2026-08-02T12:47:32Z</dcterms:created>
  <dcterms:modified xsi:type="dcterms:W3CDTF">2026-08-02T12:47:32Z</dcterms:modified>
</cp:coreProperties>
</file>