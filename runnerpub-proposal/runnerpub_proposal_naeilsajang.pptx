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57607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57607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57607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발생하며, 파일럿으로 검증받고 시작합니다.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5760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57607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5760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57607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5760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 · 착수금 · 월 고정비 · 광고비 없음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729984" y="1169728"/>
            <a:ext cx="477591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RUNNER PUB 홀덤 라운지</a:t>
            </a:r>
            <a:endParaRPr lang="en-US" sz="1000" dirty="0"/>
          </a:p>
        </p:txBody>
      </p:sp>
      <p:pic>
        <p:nvPicPr>
          <p:cNvPr id="14" name="Image 2" descr="/home/user/onewillco-meeting-2026/runnerpub-proposal/assets/cover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1553776"/>
            <a:ext cx="4775911" cy="298235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1" name="Text 16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4" name="Text 19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7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28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29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: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모객 실행 실적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호호반점 · 공감 소구 광고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100건 돌파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더진국 · 상황 소구 광고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454603" y="5724144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700% 증가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020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3949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양도양수 직거래 플랫폼 (앱 · 웹) · ERP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5020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53949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· 스테이션케이 제1호 투자조합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업무협약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· 삼성웰스토리 · 캐시노트 · 다날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6483096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6483096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803136" y="2359152"/>
            <a:ext cx="46478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6483096" y="2659075"/>
            <a:ext cx="5022799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6565392" y="2798064"/>
            <a:ext cx="20117" cy="296265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6501384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6501384" y="359359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501384" y="456742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6501384" y="5541264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793992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958584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891272" y="2743200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준비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885432" y="3035808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MVP 테스트 · 정식버전 출시 준비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6885432" y="323240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매장등록 200건 · 인증매물 1,000건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6793992" y="354330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58584" y="354330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91272" y="3520440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설립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6885432" y="3813048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885432" y="400964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6885432" y="420624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다운로드 3만 돌파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6793992" y="451713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2" name="Text 59"/>
          <p:cNvSpPr/>
          <p:nvPr/>
        </p:nvSpPr>
        <p:spPr>
          <a:xfrm>
            <a:off x="6958584" y="451713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7891272" y="4494276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 다각화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6885432" y="478688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885432" y="498348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885432" y="5180076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캐시노트 · 다날 업무협약 체결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793992" y="5490972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8" name="Text 65"/>
          <p:cNvSpPr/>
          <p:nvPr/>
        </p:nvSpPr>
        <p:spPr>
          <a:xfrm>
            <a:off x="6958584" y="5490972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7891272" y="5468112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유치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6885432" y="576072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창구 프로그램 선정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885432" y="5957316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Seed 투자유치 (씨엔티테크 · 스테이션케이 제1호 투자조합)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· 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본사에서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본 사람들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"가맹을 팔아본 적 있느냐", 이 질문에 대한 답이 팀 자체입니다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 유통학과 겸임교수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CJ푸드빌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255922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전담강사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마케팅본부장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마케팅팀장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935773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엄태관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학점은행 기관운영교수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아딸 가맹사업본부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셀렉토커피 영업팀장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영업파트장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주력은 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업무와 수행 브랜드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업무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1635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07208"/>
            <a:ext cx="10439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058924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2223516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8580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6" name="Text 12"/>
          <p:cNvSpPr/>
          <p:nvPr/>
        </p:nvSpPr>
        <p:spPr>
          <a:xfrm>
            <a:off x="68580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68580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sp>
        <p:nvSpPr>
          <p:cNvPr id="18" name="Shape 14"/>
          <p:cNvSpPr/>
          <p:nvPr/>
        </p:nvSpPr>
        <p:spPr>
          <a:xfrm>
            <a:off x="4255922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9" name="Image 2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650" y="281635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94834" y="2807208"/>
            <a:ext cx="138366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· 물건화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078499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2" name="Text 17"/>
          <p:cNvSpPr/>
          <p:nvPr/>
        </p:nvSpPr>
        <p:spPr>
          <a:xfrm>
            <a:off x="6243091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36565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436565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20"/>
          <p:cNvSpPr/>
          <p:nvPr/>
        </p:nvSpPr>
        <p:spPr>
          <a:xfrm>
            <a:off x="436565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7935773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27" name="Image 3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501" y="2816352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374685" y="2807208"/>
            <a:ext cx="929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9304325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9468917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8045501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32" name="Text 26"/>
          <p:cNvSpPr/>
          <p:nvPr/>
        </p:nvSpPr>
        <p:spPr>
          <a:xfrm>
            <a:off x="8045501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33" name="Text 27"/>
          <p:cNvSpPr/>
          <p:nvPr/>
        </p:nvSpPr>
        <p:spPr>
          <a:xfrm>
            <a:off x="8045501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sp>
        <p:nvSpPr>
          <p:cNvPr id="34" name="Text 28"/>
          <p:cNvSpPr/>
          <p:nvPr/>
        </p:nvSpPr>
        <p:spPr>
          <a:xfrm>
            <a:off x="685800" y="4480560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창업 마케팅은 집행비가 발생하는 선택 항목입니다. 성공보수에 포함되지 않으며, 집행 여부와 부담 주체는 별도 협의합니다.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685800" y="496062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496062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490118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2025~2026 영업 수행 브랜드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52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3"/>
          <p:cNvSpPr/>
          <p:nvPr/>
        </p:nvSpPr>
        <p:spPr>
          <a:xfrm>
            <a:off x="10225735" y="4937760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다수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85800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1" name="Text 35"/>
          <p:cNvSpPr/>
          <p:nvPr/>
        </p:nvSpPr>
        <p:spPr>
          <a:xfrm>
            <a:off x="777240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3445688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3537128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6205576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5" name="Text 39"/>
          <p:cNvSpPr/>
          <p:nvPr/>
        </p:nvSpPr>
        <p:spPr>
          <a:xfrm>
            <a:off x="6297016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한촌설렁탕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965463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9056903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685800" y="5971032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브랜드별 수행 범위와 계약 체결 건수는 미팅 시 원장 기준으로 제시합니다.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단계마다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단계마다 근거 문서가 남습니다 · 홈택스 연동 · 검증 리포트 · 상권 분석 · 정보공개서 D-day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59141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15" name="Shape 10"/>
          <p:cNvSpPr/>
          <p:nvPr/>
        </p:nvSpPr>
        <p:spPr>
          <a:xfrm>
            <a:off x="68580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6" name="Text 11"/>
          <p:cNvSpPr/>
          <p:nvPr/>
        </p:nvSpPr>
        <p:spPr>
          <a:xfrm>
            <a:off x="80467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0" name="Image 3" descr="/home/user/onewillco-meeting-2026/runnerpub-proposal/assets/p07_step2_fl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53645"/>
            <a:ext cx="2343836" cy="2000287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2" name="Shape 16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23" name="Shape 17"/>
          <p:cNvSpPr/>
          <p:nvPr/>
        </p:nvSpPr>
        <p:spPr>
          <a:xfrm>
            <a:off x="345026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356913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6" name="Text 20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512723"/>
            <a:ext cx="2343836" cy="1482131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0" name="Shape 23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1" name="Shape 24"/>
          <p:cNvSpPr/>
          <p:nvPr/>
        </p:nvSpPr>
        <p:spPr>
          <a:xfrm>
            <a:off x="621472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633359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443787"/>
            <a:ext cx="2343836" cy="1620004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9" name="Shape 31"/>
          <p:cNvSpPr/>
          <p:nvPr/>
        </p:nvSpPr>
        <p:spPr>
          <a:xfrm>
            <a:off x="8979179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2"/>
          <p:cNvSpPr/>
          <p:nvPr/>
        </p:nvSpPr>
        <p:spPr>
          <a:xfrm>
            <a:off x="9098051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35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4" name="Shape 36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37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34225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11603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588982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3422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79945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79945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79945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2291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68634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68634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68634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서식 · 산출근거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1160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5732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5732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 · 기존 매장 거리 충돌 확인까지 끝낸 브리핑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5732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 · 영업지역 확인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0029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4601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4601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4601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588982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34702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34702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34702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7767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23391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23391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23391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1663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35381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35381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29437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59429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산출 (본사 승인 서식)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개별 관리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관리 담당 배정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: 계약 성사 여부와 무관하게 급여 · 4대보험 매월 발생    ※ 일반 대행 :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61488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79806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2999232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할인은 건별 본사 승인 범위 안에서만 제시</a:t>
            </a:r>
            <a:endParaRPr lang="en-US" sz="93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할인액 전액 내일사장 성공보수 차감 · 본사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38144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7472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75888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133088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승인 없는 할인 제시 건은 성공보수 미청구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9369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9369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334256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매장 LSM 광고를 누가 집행하는가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634179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775704" y="4700016"/>
            <a:ext cx="47301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금액 = 내일사장 실수취 성공보수. 할인이 적용되면 이 금액이 줄어듭니다.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6775704" y="4974336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56" name="Shape 53"/>
          <p:cNvSpPr/>
          <p:nvPr/>
        </p:nvSpPr>
        <p:spPr>
          <a:xfrm>
            <a:off x="6922008" y="504748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922008" y="504748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8" name="Text 55"/>
          <p:cNvSpPr/>
          <p:nvPr/>
        </p:nvSpPr>
        <p:spPr>
          <a:xfrm>
            <a:off x="7269480" y="4974336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1,000만원 (할인 없음)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658807" y="4974336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200만원</a:t>
            </a:r>
            <a:endParaRPr lang="en-US" sz="930" dirty="0"/>
          </a:p>
        </p:txBody>
      </p:sp>
      <p:sp>
        <p:nvSpPr>
          <p:cNvPr id="60" name="Text 57"/>
          <p:cNvSpPr/>
          <p:nvPr/>
        </p:nvSpPr>
        <p:spPr>
          <a:xfrm>
            <a:off x="10774375" y="4974336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0원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6775704" y="5376672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2" name="Shape 59"/>
          <p:cNvSpPr/>
          <p:nvPr/>
        </p:nvSpPr>
        <p:spPr>
          <a:xfrm>
            <a:off x="6922008" y="544982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3" name="Text 60"/>
          <p:cNvSpPr/>
          <p:nvPr/>
        </p:nvSpPr>
        <p:spPr>
          <a:xfrm>
            <a:off x="6922008" y="544982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4" name="Text 61"/>
          <p:cNvSpPr/>
          <p:nvPr/>
        </p:nvSpPr>
        <p:spPr>
          <a:xfrm>
            <a:off x="7269480" y="5376672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초과 ~ 1,000만원 미만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658807" y="537667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6" name="Text 63"/>
          <p:cNvSpPr/>
          <p:nvPr/>
        </p:nvSpPr>
        <p:spPr>
          <a:xfrm>
            <a:off x="10774375" y="5376672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6775704" y="5779008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8" name="Shape 65"/>
          <p:cNvSpPr/>
          <p:nvPr/>
        </p:nvSpPr>
        <p:spPr>
          <a:xfrm>
            <a:off x="6922008" y="585216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9" name="Text 66"/>
          <p:cNvSpPr/>
          <p:nvPr/>
        </p:nvSpPr>
        <p:spPr>
          <a:xfrm>
            <a:off x="6922008" y="585216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70" name="Text 67"/>
          <p:cNvSpPr/>
          <p:nvPr/>
        </p:nvSpPr>
        <p:spPr>
          <a:xfrm>
            <a:off x="7269480" y="5779008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이하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658807" y="5779008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72" name="Text 69"/>
          <p:cNvSpPr/>
          <p:nvPr/>
        </p:nvSpPr>
        <p:spPr>
          <a:xfrm>
            <a:off x="10774375" y="5779008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 · 착수금 · 월 고정비 · 광고비 0원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·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</a:t>
            </a:r>
            <a:endParaRPr lang="en-US" sz="10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가맹비 기준 순수취 · 개설 실비는 본사 산정 기준 · 러너펍 공개 안내 기준 시뮬레이션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(막대 100% = 5,900만원)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091840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805111" y="28895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1946324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805111" y="33284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2800807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805111" y="3767328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(막대 100% = 5억 9,000만원)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840242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805111" y="4754880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9379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39512"/>
            <a:ext cx="1400404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805111" y="5193792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6327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78424"/>
            <a:ext cx="2800807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805111" y="56327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+ 월 로열티 150만원 × 36개월 − 성공보수 1,000만원 기준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위험과 차단 장치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03320" y="4114800"/>
            <a:ext cx="4206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장치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7909560" y="4114800"/>
            <a:ext cx="359633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확인 방법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685800" y="44348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과장 안내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3703320" y="44348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서식 서면만 사용 · 구두 약속 금지</a:t>
            </a:r>
            <a:endParaRPr lang="en-US" sz="950" dirty="0"/>
          </a:p>
        </p:txBody>
      </p:sp>
      <p:sp>
        <p:nvSpPr>
          <p:cNvPr id="49" name="Text 43"/>
          <p:cNvSpPr/>
          <p:nvPr/>
        </p:nvSpPr>
        <p:spPr>
          <a:xfrm>
            <a:off x="7909560" y="44348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산출근거 본사 제출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5"/>
          <p:cNvSpPr/>
          <p:nvPr/>
        </p:nvSpPr>
        <p:spPr>
          <a:xfrm>
            <a:off x="685800" y="473202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 14일 미준수</a:t>
            </a:r>
            <a:endParaRPr lang="en-US" sz="950" dirty="0"/>
          </a:p>
        </p:txBody>
      </p:sp>
      <p:sp>
        <p:nvSpPr>
          <p:cNvPr id="52" name="Text 46"/>
          <p:cNvSpPr/>
          <p:nvPr/>
        </p:nvSpPr>
        <p:spPr>
          <a:xfrm>
            <a:off x="3703320" y="473202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 · 경과 전 전자계약 잠금</a:t>
            </a:r>
            <a:endParaRPr lang="en-US" sz="950" dirty="0"/>
          </a:p>
        </p:txBody>
      </p:sp>
      <p:sp>
        <p:nvSpPr>
          <p:cNvPr id="53" name="Text 47"/>
          <p:cNvSpPr/>
          <p:nvPr/>
        </p:nvSpPr>
        <p:spPr>
          <a:xfrm>
            <a:off x="7909560" y="473202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· 경과 이력 화면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02920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 오제공</a:t>
            </a:r>
            <a:endParaRPr lang="en-US" sz="950" dirty="0"/>
          </a:p>
        </p:txBody>
      </p:sp>
      <p:sp>
        <p:nvSpPr>
          <p:cNvPr id="56" name="Text 50"/>
          <p:cNvSpPr/>
          <p:nvPr/>
        </p:nvSpPr>
        <p:spPr>
          <a:xfrm>
            <a:off x="3703320" y="502920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원본 그대로 전달 · 설명 보조</a:t>
            </a:r>
            <a:endParaRPr lang="en-US" sz="950" dirty="0"/>
          </a:p>
        </p:txBody>
      </p:sp>
      <p:sp>
        <p:nvSpPr>
          <p:cNvPr id="57" name="Text 51"/>
          <p:cNvSpPr/>
          <p:nvPr/>
        </p:nvSpPr>
        <p:spPr>
          <a:xfrm>
            <a:off x="7909560" y="502920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이력 기록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3"/>
          <p:cNvSpPr/>
          <p:nvPr/>
        </p:nvSpPr>
        <p:spPr>
          <a:xfrm>
            <a:off x="685800" y="532638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· 광고 무단 변형</a:t>
            </a:r>
            <a:endParaRPr lang="en-US" sz="950" dirty="0"/>
          </a:p>
        </p:txBody>
      </p:sp>
      <p:sp>
        <p:nvSpPr>
          <p:cNvPr id="60" name="Text 54"/>
          <p:cNvSpPr/>
          <p:nvPr/>
        </p:nvSpPr>
        <p:spPr>
          <a:xfrm>
            <a:off x="3703320" y="532638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 본사 사전 승인 후 사용</a:t>
            </a:r>
            <a:endParaRPr lang="en-US" sz="950" dirty="0"/>
          </a:p>
        </p:txBody>
      </p:sp>
      <p:sp>
        <p:nvSpPr>
          <p:cNvPr id="61" name="Text 55"/>
          <p:cNvSpPr/>
          <p:nvPr/>
        </p:nvSpPr>
        <p:spPr>
          <a:xfrm>
            <a:off x="7909560" y="532638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건만 집행</a:t>
            </a:r>
            <a:endParaRPr lang="en-US" sz="950" dirty="0"/>
          </a:p>
        </p:txBody>
      </p:sp>
      <p:sp>
        <p:nvSpPr>
          <p:cNvPr id="62" name="Shape 56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7"/>
          <p:cNvSpPr/>
          <p:nvPr/>
        </p:nvSpPr>
        <p:spPr>
          <a:xfrm>
            <a:off x="685800" y="562356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부적격 점주 유입</a:t>
            </a:r>
            <a:endParaRPr lang="en-US" sz="950" dirty="0"/>
          </a:p>
        </p:txBody>
      </p:sp>
      <p:sp>
        <p:nvSpPr>
          <p:cNvPr id="64" name="Text 58"/>
          <p:cNvSpPr/>
          <p:nvPr/>
        </p:nvSpPr>
        <p:spPr>
          <a:xfrm>
            <a:off x="3703320" y="562356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 후 브리핑</a:t>
            </a:r>
            <a:endParaRPr lang="en-US" sz="950" dirty="0"/>
          </a:p>
        </p:txBody>
      </p:sp>
      <p:sp>
        <p:nvSpPr>
          <p:cNvPr id="65" name="Text 59"/>
          <p:cNvSpPr/>
          <p:nvPr/>
        </p:nvSpPr>
        <p:spPr>
          <a:xfrm>
            <a:off x="7909560" y="562356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승인은 본사</a:t>
            </a:r>
            <a:endParaRPr lang="en-US" sz="950" dirty="0"/>
          </a:p>
        </p:txBody>
      </p:sp>
      <p:sp>
        <p:nvSpPr>
          <p:cNvPr id="66" name="Shape 60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7" name="Text 61"/>
          <p:cNvSpPr/>
          <p:nvPr/>
        </p:nvSpPr>
        <p:spPr>
          <a:xfrm>
            <a:off x="685800" y="59207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 오안내</a:t>
            </a:r>
            <a:endParaRPr lang="en-US" sz="950" dirty="0"/>
          </a:p>
        </p:txBody>
      </p:sp>
      <p:sp>
        <p:nvSpPr>
          <p:cNvPr id="68" name="Text 62"/>
          <p:cNvSpPr/>
          <p:nvPr/>
        </p:nvSpPr>
        <p:spPr>
          <a:xfrm>
            <a:off x="3703320" y="59207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독자 안내 금지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7909560" y="59207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 즉시 중단 · 본사 통보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파일럿 조건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: 홀덤 적합군 분류부터 검증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: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(본사 결정 사항)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중단, 사유 제한 없음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· 활동 지표 및 단계별 파이프라인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아래 다섯 가지만 정해 주시면, 파일럿 세부 운영 조건 8항목은 별지로 확정합니다.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2026-08-04T11:44:57Z</dcterms:created>
  <dcterms:modified xsi:type="dcterms:W3CDTF">2026-08-04T11:44:57Z</dcterms:modified>
</cp:coreProperties>
</file>