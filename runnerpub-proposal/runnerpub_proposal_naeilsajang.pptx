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설립 이후 프랜차이즈 본사를 상대로 쌓아 온 이력입니다.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사람들이 만든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image" Target="../media/image-12-3.png"/><Relationship Id="rId8" Type="http://schemas.openxmlformats.org/officeDocument/2006/relationships/image" Target="../media/image-12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859536"/>
            <a:ext cx="62179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68580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" name="Text 2"/>
          <p:cNvSpPr/>
          <p:nvPr/>
        </p:nvSpPr>
        <p:spPr>
          <a:xfrm>
            <a:off x="685800" y="1444752"/>
            <a:ext cx="621792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85800" y="2304288"/>
            <a:ext cx="621792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발생하며, 파일럿으로 검증받고 시작합니다.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85800" y="2926080"/>
            <a:ext cx="62179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3035808"/>
            <a:ext cx="6217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3310128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85800" y="4114800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5800" y="4645152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청구하며, 착수금 · 월 고정비 · 광고비 없음 (러너펍 공개 가맹 안내 기준)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269480" y="1513508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1000" b="1" spc="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대상 업종  ·  RUNNER PUB 홀덤 라운지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269480" y="1879268"/>
            <a:ext cx="4236415" cy="2313080"/>
          </a:xfrm>
          <a:prstGeom prst="roundRect">
            <a:avLst>
              <a:gd name="adj" fmla="val 2372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5" name="Image 2" descr="/home/user/onewillco-meeting-2026/runnerpub-proposal/assets/p11_p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153588"/>
            <a:ext cx="3687775" cy="15449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3790012"/>
            <a:ext cx="387065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대상 매장 구성 · 홀덤 테이블 · 바 · 라운지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0" name="Text 15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3" name="Text 18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9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30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31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2" name="Text 8"/>
          <p:cNvSpPr/>
          <p:nvPr/>
        </p:nvSpPr>
        <p:spPr>
          <a:xfrm>
            <a:off x="1005840" y="2359152"/>
            <a:ext cx="519379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659075"/>
            <a:ext cx="556869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8" name="Text 24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1" name="Text 27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09574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09574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31"/>
          <p:cNvSpPr/>
          <p:nvPr/>
        </p:nvSpPr>
        <p:spPr>
          <a:xfrm>
            <a:off x="7415784" y="2359152"/>
            <a:ext cx="403524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7095744" y="2659075"/>
            <a:ext cx="441015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40" name="Shape 36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2" name="Text 38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5" name="Text 41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6" name="Text 42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50" name="Text 46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: 접점 확보부터 계약 체결까지</a:t>
            </a:r>
            <a:endParaRPr lang="en-US" sz="1050" dirty="0"/>
          </a:p>
        </p:txBody>
      </p:sp>
      <p:pic>
        <p:nvPicPr>
          <p:cNvPr id="54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8630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685800" y="468630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28"/>
          <p:cNvSpPr/>
          <p:nvPr/>
        </p:nvSpPr>
        <p:spPr>
          <a:xfrm>
            <a:off x="1005840" y="4626864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모객 실행 실적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85800" y="492678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0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호호반점 · 공감 소구 광고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454603" y="51206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100건 돌파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  <p:sp>
        <p:nvSpPr>
          <p:cNvPr id="40" name="Text 33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더진국 · 상황 소구 광고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3454603" y="5724144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700% 증가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본사와 일해 온 회사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 및 연혁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현황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743200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61488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777240" y="2761488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40280" y="2761488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내일사장  ·  2023년 1월 설립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057400" y="316382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Shape 13"/>
          <p:cNvSpPr/>
          <p:nvPr/>
        </p:nvSpPr>
        <p:spPr>
          <a:xfrm>
            <a:off x="685800" y="3163824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777240" y="3163824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40280" y="3163824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057400" y="3566160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Shape 17"/>
          <p:cNvSpPr/>
          <p:nvPr/>
        </p:nvSpPr>
        <p:spPr>
          <a:xfrm>
            <a:off x="685800" y="3566160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777240" y="3566160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40280" y="3566160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양도양수 직거래 플랫폼 (앱 · 웹) · ERP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968496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Shape 21"/>
          <p:cNvSpPr/>
          <p:nvPr/>
        </p:nvSpPr>
        <p:spPr>
          <a:xfrm>
            <a:off x="685800" y="432054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32054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6" name="Text 23"/>
          <p:cNvSpPr/>
          <p:nvPr/>
        </p:nvSpPr>
        <p:spPr>
          <a:xfrm>
            <a:off x="1005840" y="426110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협력기관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5800" y="4561027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5"/>
          <p:cNvSpPr/>
          <p:nvPr/>
        </p:nvSpPr>
        <p:spPr>
          <a:xfrm>
            <a:off x="685800" y="464515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Shape 26"/>
          <p:cNvSpPr/>
          <p:nvPr/>
        </p:nvSpPr>
        <p:spPr>
          <a:xfrm>
            <a:off x="685800" y="4663440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777240" y="466344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투자사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240280" y="4663440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씨엔티테크 · 스테이션케이 제1호 투자조합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057400" y="508406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30"/>
          <p:cNvSpPr/>
          <p:nvPr/>
        </p:nvSpPr>
        <p:spPr>
          <a:xfrm>
            <a:off x="685800" y="5084064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777240" y="5084064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240280" y="5084064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한국프랜차이즈산업협회 (KFA)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057400" y="5504688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Shape 34"/>
          <p:cNvSpPr/>
          <p:nvPr/>
        </p:nvSpPr>
        <p:spPr>
          <a:xfrm>
            <a:off x="685800" y="5504688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777240" y="5504688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업무협약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240280" y="5504688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· 삼성웰스토리 · 캐시노트 · 다날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" y="592531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Shape 38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40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42"/>
          <p:cNvSpPr/>
          <p:nvPr/>
        </p:nvSpPr>
        <p:spPr>
          <a:xfrm>
            <a:off x="5998464" y="2798064"/>
            <a:ext cx="20117" cy="296265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Shape 43"/>
          <p:cNvSpPr/>
          <p:nvPr/>
        </p:nvSpPr>
        <p:spPr>
          <a:xfrm>
            <a:off x="5934456" y="281635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5934456" y="359359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5934456" y="4567428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5934456" y="5541264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Shape 47"/>
          <p:cNvSpPr/>
          <p:nvPr/>
        </p:nvSpPr>
        <p:spPr>
          <a:xfrm>
            <a:off x="6227064" y="276606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391656" y="276606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324344" y="2743200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 준비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6318504" y="303580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MVP 테스트 · 정식버전 출시 준비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6318504" y="323240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매장등록 200건 · 인증매물 1,000건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6227064" y="354330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391656" y="354330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324344" y="3520440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설립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6318504" y="381304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318504" y="400964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매물인증 기반 부동산 중개방법 특허출원 3건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6318504" y="420624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다운로드 3만 돌파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6227064" y="4517136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2" name="Text 59"/>
          <p:cNvSpPr/>
          <p:nvPr/>
        </p:nvSpPr>
        <p:spPr>
          <a:xfrm>
            <a:off x="6391656" y="4517136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7324344" y="4494276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 다각화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6318504" y="478688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318504" y="498348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한국프랜차이즈산업협회 공동사업단 설립</a:t>
            </a: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318504" y="518007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SPC · 삼성웰스토리 · 캐시노트 · 다날 업무협약 체결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227064" y="5490972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8" name="Text 65"/>
          <p:cNvSpPr/>
          <p:nvPr/>
        </p:nvSpPr>
        <p:spPr>
          <a:xfrm>
            <a:off x="6391656" y="5490972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7324344" y="5468112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유치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6318504" y="576072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창구 프로그램 선정</a:t>
            </a:r>
            <a:endParaRPr lang="en-US" sz="950" dirty="0"/>
          </a:p>
        </p:txBody>
      </p:sp>
      <p:sp>
        <p:nvSpPr>
          <p:cNvPr id="71" name="Text 68"/>
          <p:cNvSpPr/>
          <p:nvPr/>
        </p:nvSpPr>
        <p:spPr>
          <a:xfrm>
            <a:off x="6318504" y="595731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Seed 투자유치 (씨엔티테크 · 스테이션케이 제1호 투자조합)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· 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본사에서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본 사람들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  </a:t>
            </a:r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03580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세종사이버대 외식창업프랜차이즈학과 겸임교수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685800" y="331012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(주)내일사장 대표이사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85800" y="3529584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중앙그룹 외식부문 신사업 팀장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685800" y="3749040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85800" y="3968496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685800" y="4224528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424281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"가맹을 팔아본 적 있느냐", 이 질문에 대한 답이 팀 자체입니다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1" name="Text 18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Specialist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20"/>
          <p:cNvSpPr/>
          <p:nvPr/>
        </p:nvSpPr>
        <p:spPr>
          <a:xfrm>
            <a:off x="5916168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062472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본부구축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84184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8930488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모객 · 매장 활성화 마케팅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16168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062472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운영관리 (SV)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84184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8930488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 · 점포개발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85800" y="45354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 유통학과 겸임교수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8580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8580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CJ푸드빌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8580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등 외식 프랜차이즈 15년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255922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436565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천영식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CMO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436565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36565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경기창조센터 마케팅 전담강사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436565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한촌 · 육수당 마케팅본부장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36565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죠스떡볶이 · 바르다김선생 마케팅팀장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935773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8045501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엄태관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8045501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8045501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학점은행 기관운영교수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8045501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아딸 가맹사업본부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045501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셀렉토커피 영업팀장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8045501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영업파트장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주력은 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업무와 수행 브랜드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업무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1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1635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14984" y="2807208"/>
            <a:ext cx="10439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058924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2223516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85800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6" name="Text 12"/>
          <p:cNvSpPr/>
          <p:nvPr/>
        </p:nvSpPr>
        <p:spPr>
          <a:xfrm>
            <a:off x="685800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685800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sp>
        <p:nvSpPr>
          <p:cNvPr id="18" name="Shape 14"/>
          <p:cNvSpPr/>
          <p:nvPr/>
        </p:nvSpPr>
        <p:spPr>
          <a:xfrm>
            <a:off x="4255922" y="2816352"/>
            <a:ext cx="7315" cy="164592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9" name="Image 2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650" y="2816352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94834" y="2807208"/>
            <a:ext cx="138366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· 물건화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078499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2" name="Text 17"/>
          <p:cNvSpPr/>
          <p:nvPr/>
        </p:nvSpPr>
        <p:spPr>
          <a:xfrm>
            <a:off x="6243091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4365650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4" name="Text 19"/>
          <p:cNvSpPr/>
          <p:nvPr/>
        </p:nvSpPr>
        <p:spPr>
          <a:xfrm>
            <a:off x="4365650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5" name="Text 20"/>
          <p:cNvSpPr/>
          <p:nvPr/>
        </p:nvSpPr>
        <p:spPr>
          <a:xfrm>
            <a:off x="4365650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6" name="Shape 21"/>
          <p:cNvSpPr/>
          <p:nvPr/>
        </p:nvSpPr>
        <p:spPr>
          <a:xfrm>
            <a:off x="7935773" y="2816352"/>
            <a:ext cx="7315" cy="164592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27" name="Image 3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501" y="2816352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374685" y="2807208"/>
            <a:ext cx="929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9304325" y="2816352"/>
            <a:ext cx="630936" cy="246888"/>
          </a:xfrm>
          <a:prstGeom prst="roundRect">
            <a:avLst>
              <a:gd name="adj" fmla="val 48148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9468917" y="2816352"/>
            <a:ext cx="301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8045501" y="3182112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32" name="Text 26"/>
          <p:cNvSpPr/>
          <p:nvPr/>
        </p:nvSpPr>
        <p:spPr>
          <a:xfrm>
            <a:off x="8045501" y="3584448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33" name="Text 27"/>
          <p:cNvSpPr/>
          <p:nvPr/>
        </p:nvSpPr>
        <p:spPr>
          <a:xfrm>
            <a:off x="8045501" y="3986784"/>
            <a:ext cx="346039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sp>
        <p:nvSpPr>
          <p:cNvPr id="34" name="Text 28"/>
          <p:cNvSpPr/>
          <p:nvPr/>
        </p:nvSpPr>
        <p:spPr>
          <a:xfrm>
            <a:off x="685800" y="4480560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창업 마케팅은 집행비가 발생하는 선택 항목입니다. 성공보수에 포함되지 않으며, 집행 여부와 부담 주체는 별도 협의합니다.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685800" y="496062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496062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490118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2025~2026 영업 수행 브랜드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52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Text 33"/>
          <p:cNvSpPr/>
          <p:nvPr/>
        </p:nvSpPr>
        <p:spPr>
          <a:xfrm>
            <a:off x="10225735" y="4937760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다수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85800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1" name="Text 35"/>
          <p:cNvSpPr/>
          <p:nvPr/>
        </p:nvSpPr>
        <p:spPr>
          <a:xfrm>
            <a:off x="777240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3445688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3537128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300" dirty="0"/>
          </a:p>
        </p:txBody>
      </p:sp>
      <p:sp>
        <p:nvSpPr>
          <p:cNvPr id="44" name="Shape 38"/>
          <p:cNvSpPr/>
          <p:nvPr/>
        </p:nvSpPr>
        <p:spPr>
          <a:xfrm>
            <a:off x="6205576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5" name="Text 39"/>
          <p:cNvSpPr/>
          <p:nvPr/>
        </p:nvSpPr>
        <p:spPr>
          <a:xfrm>
            <a:off x="6297016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한촌설렁탕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965463" y="5303520"/>
            <a:ext cx="2540432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9056903" y="5303520"/>
            <a:ext cx="23575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685800" y="5971032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브랜드별 수행 범위와 계약 체결 건수는 미팅 시 원장 기준으로 제시합니다.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8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4" name="Shape 20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25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7" name="Text 22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5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Shape 27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3" name="Text 28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1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8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4" name="Shape 38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5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40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3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1" name="Shape 44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2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3" name="Shape 45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6" name="Shape 48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49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8" name="Shape 50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9" name="Shape 51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Text 52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2" name="Shape 54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5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단계마다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단계마다 근거 문서가 남습니다 · 홈택스 연동 · 검증 리포트 · 상권 분석 · 정보공개서 D-day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59141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15" name="Shape 10"/>
          <p:cNvSpPr/>
          <p:nvPr/>
        </p:nvSpPr>
        <p:spPr>
          <a:xfrm>
            <a:off x="68580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6" name="Text 11"/>
          <p:cNvSpPr/>
          <p:nvPr/>
        </p:nvSpPr>
        <p:spPr>
          <a:xfrm>
            <a:off x="80467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8" name="Text 13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0" name="Image 3" descr="/home/user/onewillco-meeting-2026/runnerpub-proposal/assets/p07_step2_fl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253645"/>
            <a:ext cx="2343836" cy="2000287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2" name="Shape 16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23" name="Shape 17"/>
          <p:cNvSpPr/>
          <p:nvPr/>
        </p:nvSpPr>
        <p:spPr>
          <a:xfrm>
            <a:off x="345026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356913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6" name="Text 20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512723"/>
            <a:ext cx="2343836" cy="1482131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0" name="Shape 23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1" name="Shape 24"/>
          <p:cNvSpPr/>
          <p:nvPr/>
        </p:nvSpPr>
        <p:spPr>
          <a:xfrm>
            <a:off x="621472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633359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443787"/>
            <a:ext cx="2343836" cy="1620004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8" name="Shape 30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9" name="Shape 31"/>
          <p:cNvSpPr/>
          <p:nvPr/>
        </p:nvSpPr>
        <p:spPr>
          <a:xfrm>
            <a:off x="8979179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2"/>
          <p:cNvSpPr/>
          <p:nvPr/>
        </p:nvSpPr>
        <p:spPr>
          <a:xfrm>
            <a:off x="9098051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685800" y="5876849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4"/>
          <p:cNvSpPr/>
          <p:nvPr/>
        </p:nvSpPr>
        <p:spPr>
          <a:xfrm>
            <a:off x="685800" y="5876849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35"/>
          <p:cNvSpPr/>
          <p:nvPr/>
        </p:nvSpPr>
        <p:spPr>
          <a:xfrm>
            <a:off x="1005840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4" name="Shape 36"/>
          <p:cNvSpPr/>
          <p:nvPr/>
        </p:nvSpPr>
        <p:spPr>
          <a:xfrm>
            <a:off x="685800" y="609904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37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8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8" name="Text 40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0" name="Text 42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 44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53" name="Shape 45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6" name="Text 48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3434225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011603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4588982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2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685800" y="3191256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154680" y="3191256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458200" y="3191256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43422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85800" y="3479945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154680" y="3479945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58200" y="3479945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85800" y="372291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85800" y="3768634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154680" y="3768634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458200" y="3768634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서식 · 산출근거 · 점주 승인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01160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05732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154680" y="405732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 · 기존 매장 거리 충돌 확인까지 끝낸 브리핑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58200" y="405732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 · 영업지역 확인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" y="430029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3"/>
          <p:cNvSpPr/>
          <p:nvPr/>
        </p:nvSpPr>
        <p:spPr>
          <a:xfrm>
            <a:off x="685800" y="434601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54680" y="434601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58200" y="434601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588982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85800" y="4634702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154680" y="4634702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458200" y="4634702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7767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85800" y="4923391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3154680" y="4923391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58200" y="4923391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85800" y="51663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35381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685800" y="535381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0" name="Text 47"/>
          <p:cNvSpPr/>
          <p:nvPr/>
        </p:nvSpPr>
        <p:spPr>
          <a:xfrm>
            <a:off x="1005840" y="529437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85800" y="559429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85800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850392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728216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50392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233008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397600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7275424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97600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75281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75281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6"/>
          <p:cNvSpPr/>
          <p:nvPr/>
        </p:nvSpPr>
        <p:spPr>
          <a:xfrm>
            <a:off x="1005840" y="2415845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" y="271576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6" name="Shape 12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8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8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산출 (본사 승인 서식)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개별 관리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관리 담당 배정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6" name="Shape 52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53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: 계약 성사 여부와 무관하게 급여 · 4대보험 매월 발생    ※ 일반 대행 : 착수금 유무 및 반환 조건은 대행사별 계약에 따름</a:t>
            </a:r>
            <a:endParaRPr lang="en-US" sz="850" dirty="0"/>
          </a:p>
        </p:txBody>
      </p:sp>
      <p:pic>
        <p:nvPicPr>
          <p:cNvPr id="58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9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77570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77570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1" name="Text 38"/>
          <p:cNvSpPr/>
          <p:nvPr/>
        </p:nvSpPr>
        <p:spPr>
          <a:xfrm>
            <a:off x="7095744" y="235915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75704" y="265907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Shape 40"/>
          <p:cNvSpPr/>
          <p:nvPr/>
        </p:nvSpPr>
        <p:spPr>
          <a:xfrm>
            <a:off x="6775704" y="2761488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940296" y="279806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940296" y="2999232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할인은 건별 본사 승인 범위 안에서만 제시</a:t>
            </a:r>
            <a:endParaRPr lang="en-US" sz="93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할인액 전액 내일사장 성공보수 차감 · 본사 수취 1,500만원 불변</a:t>
            </a:r>
            <a:endParaRPr lang="en-US" sz="930" dirty="0"/>
          </a:p>
        </p:txBody>
      </p:sp>
      <p:sp>
        <p:nvSpPr>
          <p:cNvPr id="46" name="Shape 43"/>
          <p:cNvSpPr/>
          <p:nvPr/>
        </p:nvSpPr>
        <p:spPr>
          <a:xfrm>
            <a:off x="6775704" y="3438144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4"/>
          <p:cNvSpPr/>
          <p:nvPr/>
        </p:nvSpPr>
        <p:spPr>
          <a:xfrm>
            <a:off x="6940296" y="347472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940296" y="3675888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6775704" y="4133088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승인 없는 할인 제시 건은 성공보수 미청구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6775704" y="439369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775704" y="439369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2" name="Text 49"/>
          <p:cNvSpPr/>
          <p:nvPr/>
        </p:nvSpPr>
        <p:spPr>
          <a:xfrm>
            <a:off x="7095744" y="4334256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매장 LSM 광고를 누가 집행하는가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775704" y="4634179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4" name="Text 51"/>
          <p:cNvSpPr/>
          <p:nvPr/>
        </p:nvSpPr>
        <p:spPr>
          <a:xfrm>
            <a:off x="6775704" y="4700016"/>
            <a:ext cx="47301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금액 = 내일사장 실수취 성공보수. 할인이 적용되면 이 금액이 줄어듭니다.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6775704" y="4974336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56" name="Shape 53"/>
          <p:cNvSpPr/>
          <p:nvPr/>
        </p:nvSpPr>
        <p:spPr>
          <a:xfrm>
            <a:off x="6922008" y="504748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922008" y="504748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8" name="Text 55"/>
          <p:cNvSpPr/>
          <p:nvPr/>
        </p:nvSpPr>
        <p:spPr>
          <a:xfrm>
            <a:off x="7269480" y="4974336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1,000만원 (할인 없음)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658807" y="4974336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200만원</a:t>
            </a:r>
            <a:endParaRPr lang="en-US" sz="930" dirty="0"/>
          </a:p>
        </p:txBody>
      </p:sp>
      <p:sp>
        <p:nvSpPr>
          <p:cNvPr id="60" name="Text 57"/>
          <p:cNvSpPr/>
          <p:nvPr/>
        </p:nvSpPr>
        <p:spPr>
          <a:xfrm>
            <a:off x="10774375" y="4974336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0원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6775704" y="5376672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2" name="Shape 59"/>
          <p:cNvSpPr/>
          <p:nvPr/>
        </p:nvSpPr>
        <p:spPr>
          <a:xfrm>
            <a:off x="6922008" y="544982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3" name="Text 60"/>
          <p:cNvSpPr/>
          <p:nvPr/>
        </p:nvSpPr>
        <p:spPr>
          <a:xfrm>
            <a:off x="6922008" y="544982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64" name="Text 61"/>
          <p:cNvSpPr/>
          <p:nvPr/>
        </p:nvSpPr>
        <p:spPr>
          <a:xfrm>
            <a:off x="7269480" y="5376672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800만원 초과 ~ 1,000만원 미만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658807" y="537667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6" name="Text 63"/>
          <p:cNvSpPr/>
          <p:nvPr/>
        </p:nvSpPr>
        <p:spPr>
          <a:xfrm>
            <a:off x="10774375" y="5376672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6775704" y="5779008"/>
            <a:ext cx="4730191" cy="384048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8" name="Shape 65"/>
          <p:cNvSpPr/>
          <p:nvPr/>
        </p:nvSpPr>
        <p:spPr>
          <a:xfrm>
            <a:off x="6922008" y="585216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9" name="Text 66"/>
          <p:cNvSpPr/>
          <p:nvPr/>
        </p:nvSpPr>
        <p:spPr>
          <a:xfrm>
            <a:off x="6922008" y="585216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70" name="Text 67"/>
          <p:cNvSpPr/>
          <p:nvPr/>
        </p:nvSpPr>
        <p:spPr>
          <a:xfrm>
            <a:off x="7269480" y="5779008"/>
            <a:ext cx="233446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실수취 800만원 이하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658807" y="5779008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72" name="Text 69"/>
          <p:cNvSpPr/>
          <p:nvPr/>
        </p:nvSpPr>
        <p:spPr>
          <a:xfrm>
            <a:off x="10774375" y="5779008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1" name="Text 7"/>
          <p:cNvSpPr/>
          <p:nvPr/>
        </p:nvSpPr>
        <p:spPr>
          <a:xfrm>
            <a:off x="1005840" y="2359152"/>
            <a:ext cx="40965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659075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 · 착수금 · 월 고정비 · 광고비 0원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· 개설 대가 추가 청구 없음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</a:t>
            </a:r>
            <a:endParaRPr lang="en-US" sz="1000" dirty="0"/>
          </a:p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성공보수는 가맹비 1,500만원 범위 안에서만 정산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가맹비 기준 순수취 · 개설 실비는 본사 산정 기준 · 러너펍 공개 안내 기준 시뮬레이션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9984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59984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7" name="Text 23"/>
          <p:cNvSpPr/>
          <p:nvPr/>
        </p:nvSpPr>
        <p:spPr>
          <a:xfrm>
            <a:off x="6318504" y="2359152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(막대 100% = 5,900만원)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98464" y="2659075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30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091840" cy="16459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805111" y="28895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3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1946324" cy="16459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805111" y="3328416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6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2800807" cy="16459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805111" y="3767328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998464" y="430225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2"/>
          <p:cNvSpPr/>
          <p:nvPr/>
        </p:nvSpPr>
        <p:spPr>
          <a:xfrm>
            <a:off x="5998464" y="430225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0" name="Text 33"/>
          <p:cNvSpPr/>
          <p:nvPr/>
        </p:nvSpPr>
        <p:spPr>
          <a:xfrm>
            <a:off x="6318504" y="4242816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(막대 100% = 5억 9,000만원)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5998464" y="4542739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5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3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840242" cy="16459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805111" y="4754880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7,700만원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5998464" y="519379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6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39512"/>
            <a:ext cx="1400404" cy="16459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805111" y="5193792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2억 9,500만원</a:t>
            </a:r>
            <a:endParaRPr lang="en-US" sz="1100" dirty="0"/>
          </a:p>
        </p:txBody>
      </p:sp>
      <p:sp>
        <p:nvSpPr>
          <p:cNvPr id="48" name="Text 39"/>
          <p:cNvSpPr/>
          <p:nvPr/>
        </p:nvSpPr>
        <p:spPr>
          <a:xfrm>
            <a:off x="5998464" y="56327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9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78424"/>
            <a:ext cx="2800807" cy="16459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805111" y="56327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9,000만원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+ 월 로열티 150만원 × 36개월 − 성공보수 1,000만원 기준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7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3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5" name="Shape 20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7" name="Text 22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9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5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3" name="Text 27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5" name="Shape 29"/>
          <p:cNvSpPr/>
          <p:nvPr/>
        </p:nvSpPr>
        <p:spPr>
          <a:xfrm>
            <a:off x="685800" y="366217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366217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360273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위험과 차단 장치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390265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1" name="Shape 35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2" name="Shape 36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685800" y="4114800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3703320" y="4114800"/>
            <a:ext cx="4206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장치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7909560" y="4114800"/>
            <a:ext cx="359633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확인 방법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685800" y="44348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과장 안내</a:t>
            </a:r>
            <a:endParaRPr lang="en-US" sz="950" dirty="0"/>
          </a:p>
        </p:txBody>
      </p:sp>
      <p:sp>
        <p:nvSpPr>
          <p:cNvPr id="48" name="Text 42"/>
          <p:cNvSpPr/>
          <p:nvPr/>
        </p:nvSpPr>
        <p:spPr>
          <a:xfrm>
            <a:off x="3703320" y="44348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서식 서면만 사용 · 구두 약속 금지</a:t>
            </a:r>
            <a:endParaRPr lang="en-US" sz="950" dirty="0"/>
          </a:p>
        </p:txBody>
      </p:sp>
      <p:sp>
        <p:nvSpPr>
          <p:cNvPr id="49" name="Text 43"/>
          <p:cNvSpPr/>
          <p:nvPr/>
        </p:nvSpPr>
        <p:spPr>
          <a:xfrm>
            <a:off x="7909560" y="44348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산출근거 본사 제출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1" name="Text 45"/>
          <p:cNvSpPr/>
          <p:nvPr/>
        </p:nvSpPr>
        <p:spPr>
          <a:xfrm>
            <a:off x="685800" y="473202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 14일 미준수</a:t>
            </a:r>
            <a:endParaRPr lang="en-US" sz="950" dirty="0"/>
          </a:p>
        </p:txBody>
      </p:sp>
      <p:sp>
        <p:nvSpPr>
          <p:cNvPr id="52" name="Text 46"/>
          <p:cNvSpPr/>
          <p:nvPr/>
        </p:nvSpPr>
        <p:spPr>
          <a:xfrm>
            <a:off x="3703320" y="473202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 · 경과 전 전자계약 잠금</a:t>
            </a:r>
            <a:endParaRPr lang="en-US" sz="950" dirty="0"/>
          </a:p>
        </p:txBody>
      </p:sp>
      <p:sp>
        <p:nvSpPr>
          <p:cNvPr id="53" name="Text 47"/>
          <p:cNvSpPr/>
          <p:nvPr/>
        </p:nvSpPr>
        <p:spPr>
          <a:xfrm>
            <a:off x="7909560" y="473202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· 경과 이력 화면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685800" y="502920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 오제공</a:t>
            </a:r>
            <a:endParaRPr lang="en-US" sz="950" dirty="0"/>
          </a:p>
        </p:txBody>
      </p:sp>
      <p:sp>
        <p:nvSpPr>
          <p:cNvPr id="56" name="Text 50"/>
          <p:cNvSpPr/>
          <p:nvPr/>
        </p:nvSpPr>
        <p:spPr>
          <a:xfrm>
            <a:off x="3703320" y="502920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원본 그대로 전달 · 설명 보조</a:t>
            </a:r>
            <a:endParaRPr lang="en-US" sz="950" dirty="0"/>
          </a:p>
        </p:txBody>
      </p:sp>
      <p:sp>
        <p:nvSpPr>
          <p:cNvPr id="57" name="Text 51"/>
          <p:cNvSpPr/>
          <p:nvPr/>
        </p:nvSpPr>
        <p:spPr>
          <a:xfrm>
            <a:off x="7909560" y="502920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이력 기록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3"/>
          <p:cNvSpPr/>
          <p:nvPr/>
        </p:nvSpPr>
        <p:spPr>
          <a:xfrm>
            <a:off x="685800" y="532638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· 광고 무단 변형</a:t>
            </a:r>
            <a:endParaRPr lang="en-US" sz="950" dirty="0"/>
          </a:p>
        </p:txBody>
      </p:sp>
      <p:sp>
        <p:nvSpPr>
          <p:cNvPr id="60" name="Text 54"/>
          <p:cNvSpPr/>
          <p:nvPr/>
        </p:nvSpPr>
        <p:spPr>
          <a:xfrm>
            <a:off x="3703320" y="532638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 본사 사전 승인 후 사용</a:t>
            </a:r>
            <a:endParaRPr lang="en-US" sz="950" dirty="0"/>
          </a:p>
        </p:txBody>
      </p:sp>
      <p:sp>
        <p:nvSpPr>
          <p:cNvPr id="61" name="Text 55"/>
          <p:cNvSpPr/>
          <p:nvPr/>
        </p:nvSpPr>
        <p:spPr>
          <a:xfrm>
            <a:off x="7909560" y="532638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건만 집행</a:t>
            </a:r>
            <a:endParaRPr lang="en-US" sz="950" dirty="0"/>
          </a:p>
        </p:txBody>
      </p:sp>
      <p:sp>
        <p:nvSpPr>
          <p:cNvPr id="62" name="Shape 56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7"/>
          <p:cNvSpPr/>
          <p:nvPr/>
        </p:nvSpPr>
        <p:spPr>
          <a:xfrm>
            <a:off x="685800" y="562356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부적격 점주 유입</a:t>
            </a:r>
            <a:endParaRPr lang="en-US" sz="950" dirty="0"/>
          </a:p>
        </p:txBody>
      </p:sp>
      <p:sp>
        <p:nvSpPr>
          <p:cNvPr id="64" name="Text 58"/>
          <p:cNvSpPr/>
          <p:nvPr/>
        </p:nvSpPr>
        <p:spPr>
          <a:xfrm>
            <a:off x="3703320" y="562356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 후 브리핑</a:t>
            </a:r>
            <a:endParaRPr lang="en-US" sz="950" dirty="0"/>
          </a:p>
        </p:txBody>
      </p:sp>
      <p:sp>
        <p:nvSpPr>
          <p:cNvPr id="65" name="Text 59"/>
          <p:cNvSpPr/>
          <p:nvPr/>
        </p:nvSpPr>
        <p:spPr>
          <a:xfrm>
            <a:off x="7909560" y="562356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승인은 본사</a:t>
            </a:r>
            <a:endParaRPr lang="en-US" sz="950" dirty="0"/>
          </a:p>
        </p:txBody>
      </p:sp>
      <p:sp>
        <p:nvSpPr>
          <p:cNvPr id="66" name="Shape 60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7" name="Text 61"/>
          <p:cNvSpPr/>
          <p:nvPr/>
        </p:nvSpPr>
        <p:spPr>
          <a:xfrm>
            <a:off x="685800" y="59207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 오안내</a:t>
            </a:r>
            <a:endParaRPr lang="en-US" sz="950" dirty="0"/>
          </a:p>
        </p:txBody>
      </p:sp>
      <p:sp>
        <p:nvSpPr>
          <p:cNvPr id="68" name="Text 62"/>
          <p:cNvSpPr/>
          <p:nvPr/>
        </p:nvSpPr>
        <p:spPr>
          <a:xfrm>
            <a:off x="3703320" y="59207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독자 안내 금지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7909560" y="59207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시 즉시 중단 · 본사 통보</a:t>
            </a:r>
            <a:endParaRPr lang="en-US" sz="950" dirty="0"/>
          </a:p>
        </p:txBody>
      </p:sp>
      <p:sp>
        <p:nvSpPr>
          <p:cNvPr id="70" name="Shape 64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파일럿 조건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: 홀덤 적합군 분류부터 검증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: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5422392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1" name="Text 27"/>
          <p:cNvSpPr/>
          <p:nvPr/>
        </p:nvSpPr>
        <p:spPr>
          <a:xfrm>
            <a:off x="5742432" y="2359152"/>
            <a:ext cx="5708599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(본사 결정 사항)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265907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7" name="Shape 33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8" name="Text 34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중단, 사유 제한 없음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7" name="Text 53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· 활동 지표 및 단계별 파이프라인</a:t>
            </a:r>
            <a:endParaRPr lang="en-US" sz="1150" dirty="0"/>
          </a:p>
        </p:txBody>
      </p:sp>
      <p:sp>
        <p:nvSpPr>
          <p:cNvPr id="58" name="Shape 54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5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60" name="Text 56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3" name="Text 59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아래 다섯 가지만 정해 주시면, 파일럿 세부 운영 조건 8항목은 별지로 확정합니다.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2026-08-04T06:03:02Z</dcterms:created>
  <dcterms:modified xsi:type="dcterms:W3CDTF">2026-08-04T06:03:02Z</dcterms:modified>
</cp:coreProperties>
</file>