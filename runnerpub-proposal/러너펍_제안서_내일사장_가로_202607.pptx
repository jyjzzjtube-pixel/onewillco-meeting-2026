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발신 내일사장, 수신 러너스튜디오(주)입니다. 저희는 창업 수요와 거래 데이터를 운영하는 플랫폼 사업자이고, 러너펍 가맹 개설 영업을 대행하겠다는 제안입니다.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내일사장이 어떤 회사인지부터 말씀드립니다. 세종대 겸임교수진이 만든 창업 지원 플랫폼이고, 설립 취지가 소상공인 피해 예방입니다.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1,600억원 거래, 앱 10만 다운로드, 월 5만 명. 이 모수는 이번 제안 이전에 이미 있는 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플랫폼이 실제로 하는 업무 여섯 가지입니다. 매물 데이터베이스, AI 상권분석, 손익분석, 생성형 브리핑, ERP 리드관리, 공인중개사 제휴망. 러너펍 상담에도 그대로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위임해 주시면 저희가 수행하는 업무 여섯 가지입니다. 본사는 자료 승인과 계약 체결만 하시면 됩니다. 전속 여부와 지역·기간은 본사가 정하시는 대로 따릅니다.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저희는 수요, 브랜드, 자리 세 가지를 동시에 갖고 있습니다. 러너펍이 이 구조에 들어오면 세 방향에서 동시에 영업이 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러너펍은 개설 이후 구조가 이미 완비되어 있습니다. 남은 변수는 창업자 접점 하나이고, 저희가 담당하는 구간이 정확히 거기입니다.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트랙을 동시에 돌립니다. 리브랜딩 트랙은 이미 운영 중인 점주라 의사결정이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계약 전에는 본사가 내실 돈이 없습니다. 청구는 계약 체결과 가맹비 입금이 모두 확인된 뒤에만 발생합니다.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네고는 저희 몫에서 부담합니다. 창업자가 얼마를 깎든 본사 순수취는 500만원 그대로입니다.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본사가 가장 먼저 하실 계산이 500만원밖에 안 남는다는 것일 텐데, 그 500만원은 계약 시점에 이미 흑자라는 뜻입니다. 본체는 월 로열티입니다.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브랜드와 준법 책임은 전부 본사 기준을 따릅니다. 리드 귀속도 규칙을 먼저 정해두었습니다.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파일럿 한 건으로 시작하시면 됩니다. 기준은 본사가 정하시고, 종료하셔도 남는 비용은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illco-meeting-2026/runnerpub-proposal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457200"/>
            <a:ext cx="1280160" cy="4224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32927" y="1152144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spc="120" kern="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· 검토</a:t>
            </a:r>
            <a:endParaRPr lang="en-US" sz="720" dirty="0"/>
          </a:p>
        </p:txBody>
      </p:sp>
      <p:sp>
        <p:nvSpPr>
          <p:cNvPr id="4" name="Text 1"/>
          <p:cNvSpPr/>
          <p:nvPr/>
        </p:nvSpPr>
        <p:spPr>
          <a:xfrm>
            <a:off x="8332927" y="1316736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러너스튜디오(주) 귀중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332927" y="1517904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박경관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66928" y="36576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120" kern="0" dirty="0">
                <a:solidFill>
                  <a:srgbClr val="9BC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발신 · 제안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566928" y="530352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66928" y="969264"/>
            <a:ext cx="1481328" cy="20117"/>
          </a:xfrm>
          <a:prstGeom prst="rect">
            <a:avLst/>
          </a:prstGeom>
          <a:solidFill>
            <a:srgbClr val="9BC2BE"/>
          </a:solidFill>
          <a:ln>
            <a:noFill/>
          </a:ln>
        </p:spPr>
      </p:sp>
      <p:sp>
        <p:nvSpPr>
          <p:cNvPr id="9" name="Text 6"/>
          <p:cNvSpPr/>
          <p:nvPr/>
        </p:nvSpPr>
        <p:spPr>
          <a:xfrm>
            <a:off x="566928" y="10424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 기반 창업 지원 플랫폼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566928" y="1874520"/>
            <a:ext cx="841248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300" b="1" spc="-80" kern="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 개설 영업을</a:t>
            </a:r>
            <a:endParaRPr lang="en-US" sz="33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300" b="1" spc="-80" kern="0" dirty="0">
                <a:solidFill>
                  <a:srgbClr val="9BC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모인 창업 수요</a:t>
            </a:r>
            <a:pPr indent="0" marL="0">
              <a:lnSpc>
                <a:spcPts val="4800"/>
              </a:lnSpc>
              <a:buNone/>
            </a:pPr>
            <a:r>
              <a:rPr lang="en-US" sz="3300" b="1" spc="-80" kern="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위에서</a:t>
            </a:r>
            <a:endParaRPr lang="en-US" sz="33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300" b="1" spc="-80" kern="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수행하겠습니다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3767328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내일사장은 매물·창업 수요·거래 데이터를 운영하는 플랫폼 사업자입니다. 러너펍 가맹 개설 영업을 위임해 주시면,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계약이 체결되고 가맹비 입금이 완료된 건에 한하여 성공보수를 청구합니다.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" y="4626864"/>
            <a:ext cx="11057839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13" name="Text 10"/>
          <p:cNvSpPr/>
          <p:nvPr/>
        </p:nvSpPr>
        <p:spPr>
          <a:xfrm>
            <a:off x="566928" y="4736592"/>
            <a:ext cx="341162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1,600</a:t>
            </a:r>
            <a:pPr indent="0" marL="0">
              <a:buNone/>
            </a:pPr>
            <a:r>
              <a:rPr lang="en-US" sz="950" b="1" dirty="0">
                <a:solidFill>
                  <a:srgbClr val="9BC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억원 +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566928" y="5084064"/>
            <a:ext cx="341162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매물 거래 규모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4252874" y="4736592"/>
            <a:ext cx="341162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50,000</a:t>
            </a:r>
            <a:pPr indent="0" marL="0">
              <a:buNone/>
            </a:pPr>
            <a:r>
              <a:rPr lang="en-US" sz="950" b="1" dirty="0">
                <a:solidFill>
                  <a:srgbClr val="9BC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명 +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4252874" y="5084064"/>
            <a:ext cx="341162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활성 이용자(MAU)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3941978" y="4736592"/>
            <a:ext cx="7315" cy="548640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18" name="Text 15"/>
          <p:cNvSpPr/>
          <p:nvPr/>
        </p:nvSpPr>
        <p:spPr>
          <a:xfrm>
            <a:off x="7938821" y="4736592"/>
            <a:ext cx="341162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pPr indent="0" marL="0">
              <a:buNone/>
            </a:pPr>
            <a:r>
              <a:rPr lang="en-US" sz="950" b="1" dirty="0">
                <a:solidFill>
                  <a:srgbClr val="9BC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 +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7938821" y="5084064"/>
            <a:ext cx="341162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B2B 제휴 브랜드·파트너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7627925" y="4736592"/>
            <a:ext cx="7315" cy="548640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21" name="Shape 18"/>
          <p:cNvSpPr/>
          <p:nvPr/>
        </p:nvSpPr>
        <p:spPr>
          <a:xfrm>
            <a:off x="566928" y="5358384"/>
            <a:ext cx="11057839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22" name="Text 19"/>
          <p:cNvSpPr/>
          <p:nvPr/>
        </p:nvSpPr>
        <p:spPr>
          <a:xfrm>
            <a:off x="566928" y="563270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청구 조건</a:t>
            </a:r>
            <a:endParaRPr lang="en-US" sz="740" dirty="0"/>
          </a:p>
        </p:txBody>
      </p:sp>
      <p:sp>
        <p:nvSpPr>
          <p:cNvPr id="23" name="Text 20"/>
          <p:cNvSpPr/>
          <p:nvPr/>
        </p:nvSpPr>
        <p:spPr>
          <a:xfrm>
            <a:off x="566928" y="5815584"/>
            <a:ext cx="42062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가맹계약 1건당 1,000만원 (VAT 별도) · 계약 및 입금 완료 건에 한해 청구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46320" y="563270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트랙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846320" y="5815584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창업자 · 기존 홀덤펍 리브랜딩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795967" y="5815584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2026. 07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66928" y="6126480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위 지표는 내일사장 플랫폼 누적 기준입니다.</a:t>
            </a:r>
            <a:endParaRPr lang="en-US" sz="680" dirty="0"/>
          </a:p>
        </p:txBody>
      </p:sp>
      <p:sp>
        <p:nvSpPr>
          <p:cNvPr id="28" name="Shape 25"/>
          <p:cNvSpPr/>
          <p:nvPr/>
        </p:nvSpPr>
        <p:spPr>
          <a:xfrm>
            <a:off x="566928" y="6373368"/>
            <a:ext cx="11057839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29" name="Text 26"/>
          <p:cNvSpPr/>
          <p:nvPr/>
        </p:nvSpPr>
        <p:spPr>
          <a:xfrm>
            <a:off x="566928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→ 러너스튜디오(주) · 가맹 개설 영업 위임 제안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10527487" y="64373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/ 13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4708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2599217" y="384048"/>
            <a:ext cx="701837" cy="68580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335134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410347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855605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607734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6359863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7111992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786412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861625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9368380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10120509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1087263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566928" y="36576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P.02 / 13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5303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회사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93268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47088" y="6373368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847088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4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→ 러너스튜디오(주) · 가맹 개설 영업 위임 제안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0527487" y="64373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/ 13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847088" y="786384"/>
            <a:ext cx="9777679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무자격 · 허위 중개를 없애려고 만들어진 회사입니다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47088" y="1417320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러너펍이 영업을 위임하실 상대가 어떤 조직인지, 설립 배경부터 제휴 구조까지 다섯 항목으로 정리했습니다.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47088" y="2011680"/>
            <a:ext cx="9777679" cy="12802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1847088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3675888" y="2075688"/>
            <a:ext cx="794887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1847088" y="2331720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1847088" y="23774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설립 배경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3675888" y="2377440"/>
            <a:ext cx="785743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세종대학교 겸임교수진이 설립. 무자격 창업 컨설턴트의 불법·허위 중개 피해 예방이 설립 취지입니다.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847088" y="2770632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0" name="Text 28"/>
          <p:cNvSpPr/>
          <p:nvPr/>
        </p:nvSpPr>
        <p:spPr>
          <a:xfrm>
            <a:off x="1847088" y="281635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정의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3675888" y="2816352"/>
            <a:ext cx="785743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 기반 창업 지원 플랫폼. 매물·상권·손익 데이터를 분석해 창업 의사결정을 지원합니다.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1847088" y="3209544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1847088" y="3255264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채널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3675888" y="3255264"/>
            <a:ext cx="785743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앱과 매물·리드를 관리하는 ERP를 직접 운영합니다.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1847088" y="3648456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6" name="Text 34"/>
          <p:cNvSpPr/>
          <p:nvPr/>
        </p:nvSpPr>
        <p:spPr>
          <a:xfrm>
            <a:off x="1847088" y="3694176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범위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3675888" y="3694176"/>
            <a:ext cx="785743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점포 양도양수 중개와 점포개발을 하나의 흐름으로 처리하며, 이번 제안의 가맹 개설 영업은 그 흐름 위에서 수행합니다.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1847088" y="4087368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9" name="Text 37"/>
          <p:cNvSpPr/>
          <p:nvPr/>
        </p:nvSpPr>
        <p:spPr>
          <a:xfrm>
            <a:off x="1847088" y="413308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제휴 구조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3675888" y="4133088"/>
            <a:ext cx="785743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B2B 제휴 브랜드·파트너 80개+ 와 공인중개사 제휴망(리맥스코리아 등)을 동시에 운용합니다.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1847088" y="4526280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2" name="Text 40"/>
          <p:cNvSpPr/>
          <p:nvPr/>
        </p:nvSpPr>
        <p:spPr>
          <a:xfrm>
            <a:off x="1847088" y="472744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· 브리핑 도구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847088" y="4965192"/>
            <a:ext cx="9777679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상권분석 · 손익분석(P&amp;L) · 매물 브리핑을 자체 도구로 직접 산출합니다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1847088" y="5760720"/>
            <a:ext cx="9777679" cy="12802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1847088" y="5833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브랜드가 실릴 채널 · B2B 제휴 브랜드·파트너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52767" y="579729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pPr algn="r" indent="0" marL="0">
              <a:buNone/>
            </a:pPr>
            <a:r>
              <a:rPr lang="en-US" sz="105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 +</a:t>
            </a:r>
            <a:endParaRPr lang="en-US" sz="2300" dirty="0"/>
          </a:p>
        </p:txBody>
      </p:sp>
      <p:sp>
        <p:nvSpPr>
          <p:cNvPr id="47" name="Text 45"/>
          <p:cNvSpPr/>
          <p:nvPr/>
        </p:nvSpPr>
        <p:spPr>
          <a:xfrm>
            <a:off x="1847088" y="612648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661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설립 취지는 무자격 창업 컨설턴트의 불법·허위 중개 피해 예방입니다. 제휴 수치는 내일사장 플랫폼 누적 기준입니다.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4708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2599217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3351346" y="384048"/>
            <a:ext cx="701837" cy="68580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410347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855605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607734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6359863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7111992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786412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861625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9368380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10120509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1087263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566928" y="36576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P.03 / 13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5303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실적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93268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확보된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모수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47088" y="6373368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847088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4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→ 러너스튜디오(주) · 가맹 개설 영업 위임 제안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0527487" y="64373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/ 13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847088" y="786384"/>
            <a:ext cx="9777679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수요를 새로 만드실 필요가 없습니다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47088" y="1417320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지표는 이번 제안 이전에 이미 확보된 값입니다. 러너펍은 모수를 만드는 비용과 시간을 지불하지 않아도 됩니다.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47088" y="2011680"/>
            <a:ext cx="9777679" cy="12802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1847088" y="2212848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1,600</a:t>
            </a:r>
            <a:pPr indent="0" marL="0">
              <a:buNone/>
            </a:pPr>
            <a:r>
              <a:rPr lang="en-US" sz="1100" b="1" dirty="0">
                <a:solidFill>
                  <a:srgbClr val="3E8B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억원 +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847088" y="2670048"/>
            <a:ext cx="293918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매물 거래 규모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1847088" y="2871216"/>
            <a:ext cx="293918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7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누적 기준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5106314" y="2212848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100,000</a:t>
            </a:r>
            <a:pPr indent="0" marL="0">
              <a:buNone/>
            </a:pPr>
            <a:r>
              <a:rPr lang="en-US" sz="1100" b="1" dirty="0">
                <a:solidFill>
                  <a:srgbClr val="3E8B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건 +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106314" y="2670048"/>
            <a:ext cx="293918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누적 다운로드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5106314" y="2871216"/>
            <a:ext cx="293918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7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창업·양수 수요 상주 채널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4941722" y="2139696"/>
            <a:ext cx="7315" cy="1188720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1" name="Text 29"/>
          <p:cNvSpPr/>
          <p:nvPr/>
        </p:nvSpPr>
        <p:spPr>
          <a:xfrm>
            <a:off x="8365541" y="2212848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50,000</a:t>
            </a:r>
            <a:pPr indent="0" marL="0">
              <a:buNone/>
            </a:pPr>
            <a:r>
              <a:rPr lang="en-US" sz="1100" b="1" dirty="0">
                <a:solidFill>
                  <a:srgbClr val="3E8B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명 +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365541" y="2670048"/>
            <a:ext cx="293918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활성 이용자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8365541" y="2871216"/>
            <a:ext cx="293918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7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MAU 기준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200949" y="2139696"/>
            <a:ext cx="7315" cy="1188720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5" name="Text 33"/>
          <p:cNvSpPr/>
          <p:nvPr/>
        </p:nvSpPr>
        <p:spPr>
          <a:xfrm>
            <a:off x="1847088" y="3657600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</a:t>
            </a:r>
            <a:pPr indent="0" marL="0">
              <a:buNone/>
            </a:pPr>
            <a:r>
              <a:rPr lang="en-US" sz="1100" b="1" dirty="0">
                <a:solidFill>
                  <a:srgbClr val="3E8B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건 +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847088" y="4114800"/>
            <a:ext cx="293918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매물 등록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1847088" y="4315968"/>
            <a:ext cx="293918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7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점포·상가 데이터베이스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5106314" y="3657600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</a:t>
            </a:r>
            <a:pPr indent="0" marL="0">
              <a:buNone/>
            </a:pPr>
            <a:r>
              <a:rPr lang="en-US" sz="1100" b="1" dirty="0">
                <a:solidFill>
                  <a:srgbClr val="3E8B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건 +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106314" y="4114800"/>
            <a:ext cx="293918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거래 성사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5106314" y="4315968"/>
            <a:ext cx="293918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7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→ 상담 → 검증 → 계약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4941722" y="3584448"/>
            <a:ext cx="7315" cy="1188720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2" name="Text 40"/>
          <p:cNvSpPr/>
          <p:nvPr/>
        </p:nvSpPr>
        <p:spPr>
          <a:xfrm>
            <a:off x="8365541" y="3657600"/>
            <a:ext cx="293918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pPr indent="0" marL="0">
              <a:buNone/>
            </a:pPr>
            <a:r>
              <a:rPr lang="en-US" sz="1100" b="1" dirty="0">
                <a:solidFill>
                  <a:srgbClr val="3E8B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 +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8365541" y="4114800"/>
            <a:ext cx="293918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B2B 제휴 브랜드·파트너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8365541" y="4315968"/>
            <a:ext cx="293918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7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본사 및 파트너사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8200949" y="3584448"/>
            <a:ext cx="7315" cy="1188720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6" name="Shape 44"/>
          <p:cNvSpPr/>
          <p:nvPr/>
        </p:nvSpPr>
        <p:spPr>
          <a:xfrm>
            <a:off x="1847088" y="3456432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7" name="Shape 45"/>
          <p:cNvSpPr/>
          <p:nvPr/>
        </p:nvSpPr>
        <p:spPr>
          <a:xfrm>
            <a:off x="1847088" y="4965192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8" name="Text 46"/>
          <p:cNvSpPr/>
          <p:nvPr/>
        </p:nvSpPr>
        <p:spPr>
          <a:xfrm>
            <a:off x="1847088" y="5093208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리드타임 단축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5106314" y="5148072"/>
            <a:ext cx="5577840" cy="155448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0" name="Shape 48"/>
          <p:cNvSpPr/>
          <p:nvPr/>
        </p:nvSpPr>
        <p:spPr>
          <a:xfrm>
            <a:off x="5106314" y="5148072"/>
            <a:ext cx="3346704" cy="155448"/>
          </a:xfrm>
          <a:prstGeom prst="rect">
            <a:avLst/>
          </a:prstGeom>
          <a:solidFill>
            <a:srgbClr val="0F6B63"/>
          </a:solidFill>
          <a:ln>
            <a:noFill/>
          </a:ln>
        </p:spPr>
      </p:sp>
      <p:sp>
        <p:nvSpPr>
          <p:cNvPr id="51" name="Text 49"/>
          <p:cNvSpPr/>
          <p:nvPr/>
        </p:nvSpPr>
        <p:spPr>
          <a:xfrm>
            <a:off x="10710367" y="505663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pPr algn="r" indent="0" marL="0">
              <a:buNone/>
            </a:pPr>
            <a:r>
              <a:rPr lang="en-US" sz="950" b="1" dirty="0">
                <a:solidFill>
                  <a:srgbClr val="3E8B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106314" y="5385816"/>
            <a:ext cx="651967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누적 평균 기준. 러너펍 개설 사례의 기준값이 아닙니다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1847088" y="5760720"/>
            <a:ext cx="9777679" cy="12802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54" name="Text 52"/>
          <p:cNvSpPr/>
          <p:nvPr/>
        </p:nvSpPr>
        <p:spPr>
          <a:xfrm>
            <a:off x="1847088" y="5833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모수 확보에 본사가 쓰실 시간과 비용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052767" y="579729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pPr algn="r" indent="0" marL="0">
              <a:buNone/>
            </a:pPr>
            <a:r>
              <a:rPr lang="en-US" sz="105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원</a:t>
            </a:r>
            <a:endParaRPr lang="en-US" sz="2300" dirty="0"/>
          </a:p>
        </p:txBody>
      </p:sp>
      <p:sp>
        <p:nvSpPr>
          <p:cNvPr id="56" name="Text 54"/>
          <p:cNvSpPr/>
          <p:nvPr/>
        </p:nvSpPr>
        <p:spPr>
          <a:xfrm>
            <a:off x="1847088" y="6126480"/>
            <a:ext cx="9777679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661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위 지표는 플랫폼 거래 실적이며 브랜드별 가맹 개설 영업 실적과는 구분되는 값입니다. 그래서 성공보수형 구조와 파일럿(P.13)으로 본사 리스크를 0에 두었습니다.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4708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2599217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335134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4103476" y="384048"/>
            <a:ext cx="701837" cy="68580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855605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607734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6359863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7111992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786412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861625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9368380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10120509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1087263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566928" y="36576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P.04 / 13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5303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플랫폼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93268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47088" y="6373368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847088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4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→ 러너스튜디오(주) · 가맹 개설 영업 위임 제안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0527487" y="64373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/ 13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847088" y="786384"/>
            <a:ext cx="9777679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상담을 계약으로 바꾸는 도구를 이미 갖췄습니다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47088" y="141732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매물을 올려두는 게시판이 아닙니다. 등록부터 계약까지 각 단계에 저희가 직접 개입하는 도구와 절차가 있습니다.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47088" y="2011680"/>
            <a:ext cx="9777679" cy="12802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1847088" y="224942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1847088" y="2450592"/>
            <a:ext cx="289346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매물 데이터베이스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847088" y="2743200"/>
            <a:ext cx="289346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10,000건+ 의 점포·상가 매물 데이터를 직접 등록·운영합니다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5106314" y="224942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5106314" y="2450592"/>
            <a:ext cx="289346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상권분석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106314" y="2743200"/>
            <a:ext cx="289346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 데이터를 분석해 입지 판단 근거를 제공합니다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4923434" y="2212848"/>
            <a:ext cx="7315" cy="1005840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1" name="Text 29"/>
          <p:cNvSpPr/>
          <p:nvPr/>
        </p:nvSpPr>
        <p:spPr>
          <a:xfrm>
            <a:off x="8365541" y="224942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8365541" y="2450592"/>
            <a:ext cx="325922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손익분석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65541" y="2743200"/>
            <a:ext cx="325922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손익(P&amp;L)을 산출해 투자 회수 구조를 제시합니다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8182661" y="2212848"/>
            <a:ext cx="7315" cy="1005840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5" name="Text 33"/>
          <p:cNvSpPr/>
          <p:nvPr/>
        </p:nvSpPr>
        <p:spPr>
          <a:xfrm>
            <a:off x="1847088" y="374904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1847088" y="3950208"/>
            <a:ext cx="289346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 매물 브리핑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847088" y="4242816"/>
            <a:ext cx="289346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AI로 매물 브리핑 문서를 작성합니다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5106314" y="374904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5106314" y="3950208"/>
            <a:ext cx="289346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리드관리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106314" y="4242816"/>
            <a:ext cx="289346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상담부터 계약까지 파이프라인을 시스템에서 관리합니다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4923434" y="3712464"/>
            <a:ext cx="7315" cy="1005840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2" name="Text 40"/>
          <p:cNvSpPr/>
          <p:nvPr/>
        </p:nvSpPr>
        <p:spPr>
          <a:xfrm>
            <a:off x="8365541" y="374904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8365541" y="3950208"/>
            <a:ext cx="325922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공인중개사 제휴망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365541" y="4242816"/>
            <a:ext cx="325922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리맥스코리아 등 제휴 중개망으로 입점 후보지를 물색합니다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8182661" y="3712464"/>
            <a:ext cx="7315" cy="1005840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6" name="Shape 44"/>
          <p:cNvSpPr/>
          <p:nvPr/>
        </p:nvSpPr>
        <p:spPr>
          <a:xfrm>
            <a:off x="1847088" y="3474720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7" name="Shape 45"/>
          <p:cNvSpPr/>
          <p:nvPr/>
        </p:nvSpPr>
        <p:spPr>
          <a:xfrm>
            <a:off x="1847088" y="4974336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8" name="Text 46"/>
          <p:cNvSpPr/>
          <p:nvPr/>
        </p:nvSpPr>
        <p:spPr>
          <a:xfrm>
            <a:off x="1847088" y="5212080"/>
            <a:ext cx="9777679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여섯 가지는 러너펍 가맹 상담에도 그대로 투입됩니다. 상권·손익·브리핑을 문서로 제시해 창업자의 결정 지연을 줄여 왔고, 평균 리드타임을 60% 단축했습니다(플랫폼 누적 평균 기준).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847088" y="5760720"/>
            <a:ext cx="9777679" cy="12802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50" name="Text 48"/>
          <p:cNvSpPr/>
          <p:nvPr/>
        </p:nvSpPr>
        <p:spPr>
          <a:xfrm>
            <a:off x="1847088" y="5833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→ 상담 → 검증 → 계약 · 단계별 도구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052767" y="579729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pPr algn="r" indent="0" marL="0">
              <a:buNone/>
            </a:pPr>
            <a:r>
              <a:rPr lang="en-US" sz="105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종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4708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2599217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335134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410347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855605" y="384048"/>
            <a:ext cx="701837" cy="68580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607734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6359863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7111992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786412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861625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9368380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10120509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1087263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566928" y="36576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P.05 / 13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5303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업무 범위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93268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47088" y="6373368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847088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4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→ 러너스튜디오(주) · 가맹 개설 영업 위임 제안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0527487" y="64373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/ 13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847088" y="786384"/>
            <a:ext cx="9777679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본사는 승인만, 실무 전 과정은 저희가 맡습니다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47088" y="1417320"/>
            <a:ext cx="977767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조직 운영부터 계약 주선, 점포개발까지 개설에 필요한 실무를 하나로 묶어 수행합니다.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47088" y="2011680"/>
            <a:ext cx="9777679" cy="12802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1847088" y="207568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4864608" y="2075688"/>
            <a:ext cx="676015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내용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1847088" y="2331720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1847088" y="237744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유입 건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4864608" y="2377440"/>
            <a:ext cx="666871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문의·본사 직영 영업 유입 건은 성공보수 대상이 아니며, 요청하시면 응대만 지원합니다 (P.12)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847088" y="2660904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0" name="Text 28"/>
          <p:cNvSpPr/>
          <p:nvPr/>
        </p:nvSpPr>
        <p:spPr>
          <a:xfrm>
            <a:off x="1847088" y="270662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상담 · 브리핑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4864608" y="2706624"/>
            <a:ext cx="666871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가맹 조건에 맞춰 창업자의 의사결정을 마무리합니다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1847088" y="2990088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1847088" y="303580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조직 운영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4864608" y="3035808"/>
            <a:ext cx="666871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가맹영업팀을 운영하고 신규 창업자·기존 홀덤펍 두 트랙으로 영업합니다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1847088" y="3319272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6" name="Text 34"/>
          <p:cNvSpPr/>
          <p:nvPr/>
        </p:nvSpPr>
        <p:spPr>
          <a:xfrm>
            <a:off x="1847088" y="336499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마케팅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4864608" y="3364992"/>
            <a:ext cx="666871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예비창업자 리드(DB) 확보를 위한 가맹 창업마케팅을 집행합니다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1847088" y="3648456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9" name="Text 37"/>
          <p:cNvSpPr/>
          <p:nvPr/>
        </p:nvSpPr>
        <p:spPr>
          <a:xfrm>
            <a:off x="1847088" y="369417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주선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4864608" y="3694176"/>
            <a:ext cx="666871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가맹계약 체결까지 조건 협의와 클로징을 지원합니다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1847088" y="3977640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2" name="Text 40"/>
          <p:cNvSpPr/>
          <p:nvPr/>
        </p:nvSpPr>
        <p:spPr>
          <a:xfrm>
            <a:off x="1847088" y="402336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점포개발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4864608" y="4023360"/>
            <a:ext cx="666871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상권조사·입지선정으로 개점 후보지를 확정하고 계약까지 연결합니다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1847088" y="4306824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1847088" y="454456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본사가 직접 하실 일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847088" y="478231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자료 승인 · 가맹계약 체결 · 개설 승인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516368" y="4544568"/>
            <a:ext cx="410839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" kern="0" dirty="0">
                <a:solidFill>
                  <a:srgbClr val="0F6B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내일사장이 맡는 일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516368" y="4782312"/>
            <a:ext cx="410839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앞단의 발굴 · 상담 · 설득 · 클로징 전 과정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847088" y="5184648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0" name="Text 48"/>
          <p:cNvSpPr/>
          <p:nvPr/>
        </p:nvSpPr>
        <p:spPr>
          <a:xfrm>
            <a:off x="1847088" y="531266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A8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위임 조건 결정권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64608" y="5257800"/>
            <a:ext cx="6760159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전속 · 비전속  ② 대상 지역  ③ 위임 기간  ④ 직영·타 대행사 병행 여부 — 이 네 가지는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본사가 정해 주시면 그대로 따릅니다. 저희가 먼저 조건을 요구하지 않습니다.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847088" y="5760720"/>
            <a:ext cx="9777679" cy="12802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53" name="Text 51"/>
          <p:cNvSpPr/>
          <p:nvPr/>
        </p:nvSpPr>
        <p:spPr>
          <a:xfrm>
            <a:off x="1847088" y="5833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위임 시 본사가 추가로 채용해야 할 영업 인력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52767" y="579729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pPr algn="r" indent="0" marL="0">
              <a:buNone/>
            </a:pPr>
            <a:r>
              <a:rPr lang="en-US" sz="105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명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4708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2599217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335134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410347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855605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607734" y="384048"/>
            <a:ext cx="701837" cy="68580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6359863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7111992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786412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861625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9368380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10120509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1087263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566928" y="36576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P.06 / 13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5303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네트워크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93268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제휴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47088" y="6373368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847088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4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→ 러너스튜디오(주) · 가맹 개설 영업 위임 제안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0527487" y="64373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/ 13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847088" y="786384"/>
            <a:ext cx="9777679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 · 브랜드 · 자리를 동시에 운용합니다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47088" y="1417320"/>
            <a:ext cx="977767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수요만 있는 것이 아니라, 그 수요를 앉힐 자리와 연결할 브랜드가 함께 있습니다.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47088" y="2011680"/>
            <a:ext cx="2954426" cy="25603"/>
          </a:xfrm>
          <a:prstGeom prst="rect">
            <a:avLst/>
          </a:prstGeom>
          <a:solidFill>
            <a:srgbClr val="0F6B63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1847088" y="2139696"/>
            <a:ext cx="295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0F6B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47088" y="2377440"/>
            <a:ext cx="295442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예비창업자 · 업종 전환 희망자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47088" y="2706624"/>
            <a:ext cx="295442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10만 다운로드 · 월 5만 명 채널에서 창업 수요를 확보합니다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856378" y="2395728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CC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258714" y="2011680"/>
            <a:ext cx="2954426" cy="25603"/>
          </a:xfrm>
          <a:prstGeom prst="rect">
            <a:avLst/>
          </a:prstGeom>
          <a:solidFill>
            <a:srgbClr val="0F6B63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5258714" y="2139696"/>
            <a:ext cx="295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0F6B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58714" y="2377440"/>
            <a:ext cx="295442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제휴 브랜드 · 파트너 80개 +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8714" y="2706624"/>
            <a:ext cx="295442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B2B 제휴 네트워크에서 조건에 맞는 브랜드를 매칭합니다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8268005" y="2395728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CC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670341" y="2011680"/>
            <a:ext cx="2954426" cy="25603"/>
          </a:xfrm>
          <a:prstGeom prst="rect">
            <a:avLst/>
          </a:prstGeom>
          <a:solidFill>
            <a:srgbClr val="0F6B63"/>
          </a:solidFill>
          <a:ln>
            <a:noFill/>
          </a:ln>
        </p:spPr>
      </p:sp>
      <p:sp>
        <p:nvSpPr>
          <p:cNvPr id="34" name="Text 32"/>
          <p:cNvSpPr/>
          <p:nvPr/>
        </p:nvSpPr>
        <p:spPr>
          <a:xfrm>
            <a:off x="8670341" y="2139696"/>
            <a:ext cx="295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0F6B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670341" y="2377440"/>
            <a:ext cx="295442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공인중개사 제휴망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70341" y="2706624"/>
            <a:ext cx="295442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88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리맥스코리아 등 제휴 중개망으로 입점지를 확보합니다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1847088" y="3310128"/>
            <a:ext cx="9777679" cy="12802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38" name="Text 36"/>
          <p:cNvSpPr/>
          <p:nvPr/>
        </p:nvSpPr>
        <p:spPr>
          <a:xfrm>
            <a:off x="1847088" y="343814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러너펍이 이 구조에 들어오면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847088" y="3922776"/>
            <a:ext cx="91440" cy="91440"/>
          </a:xfrm>
          <a:prstGeom prst="rect">
            <a:avLst/>
          </a:prstGeom>
          <a:solidFill>
            <a:srgbClr val="0F6B63"/>
          </a:solidFill>
          <a:ln>
            <a:noFill/>
          </a:ln>
        </p:spPr>
      </p:sp>
      <p:sp>
        <p:nvSpPr>
          <p:cNvPr id="40" name="Text 38"/>
          <p:cNvSpPr/>
          <p:nvPr/>
        </p:nvSpPr>
        <p:spPr>
          <a:xfrm>
            <a:off x="2103120" y="3749040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브랜드망에 러너펍 편입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5258714" y="3749040"/>
            <a:ext cx="6366053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4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중인 창업자에게 러너펍을 후보 브랜드로 제시합니다. 별도 광고 없이 기존 상담 흐름에 편입됩니다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1847088" y="4334256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3" name="Shape 41"/>
          <p:cNvSpPr/>
          <p:nvPr/>
        </p:nvSpPr>
        <p:spPr>
          <a:xfrm>
            <a:off x="1847088" y="4677156"/>
            <a:ext cx="91440" cy="91440"/>
          </a:xfrm>
          <a:prstGeom prst="rect">
            <a:avLst/>
          </a:prstGeom>
          <a:solidFill>
            <a:srgbClr val="0F6B63"/>
          </a:solidFill>
          <a:ln>
            <a:noFill/>
          </a:ln>
        </p:spPr>
      </p:sp>
      <p:sp>
        <p:nvSpPr>
          <p:cNvPr id="44" name="Text 42"/>
          <p:cNvSpPr/>
          <p:nvPr/>
        </p:nvSpPr>
        <p:spPr>
          <a:xfrm>
            <a:off x="2103120" y="4503420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중개망으로 입점지 확보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5258714" y="4503420"/>
            <a:ext cx="6366053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4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홀덤펍 조건에 맞는 상가를 제휴 중개망에서 물색합니다. 입지가 확보된 상태로 창업자에게 제안합니다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1847088" y="5088636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7" name="Shape 45"/>
          <p:cNvSpPr/>
          <p:nvPr/>
        </p:nvSpPr>
        <p:spPr>
          <a:xfrm>
            <a:off x="1847088" y="5431536"/>
            <a:ext cx="91440" cy="91440"/>
          </a:xfrm>
          <a:prstGeom prst="rect">
            <a:avLst/>
          </a:prstGeom>
          <a:solidFill>
            <a:srgbClr val="0F6B63"/>
          </a:solidFill>
          <a:ln>
            <a:noFill/>
          </a:ln>
        </p:spPr>
      </p:sp>
      <p:sp>
        <p:nvSpPr>
          <p:cNvPr id="48" name="Text 46"/>
          <p:cNvSpPr/>
          <p:nvPr/>
        </p:nvSpPr>
        <p:spPr>
          <a:xfrm>
            <a:off x="2103120" y="5257800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홀덤펍 접촉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5258714" y="5257800"/>
            <a:ext cx="6366053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4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매물 데이터와 제휴 중개망을 통해 리브랜딩 대상을 발굴합니다. 이미 운영 중인 점주라 전환 결정이 빠릅니다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1847088" y="5760720"/>
            <a:ext cx="9777679" cy="12802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51" name="Text 49"/>
          <p:cNvSpPr/>
          <p:nvPr/>
        </p:nvSpPr>
        <p:spPr>
          <a:xfrm>
            <a:off x="1847088" y="5833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러너펍에 즉시 붙는 영업 경로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52767" y="579729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pPr algn="r" indent="0" marL="0">
              <a:buNone/>
            </a:pPr>
            <a:r>
              <a:rPr lang="en-US" sz="105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갈래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47088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2599217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3351346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4103476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855605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607734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6359863" y="384048"/>
            <a:ext cx="701837" cy="68580"/>
          </a:xfrm>
          <a:prstGeom prst="rect">
            <a:avLst/>
          </a:prstGeom>
          <a:solidFill>
            <a:srgbClr val="F3F5F1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7111992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7864121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8616251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9368380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10120509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10872638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566928" y="36576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0" kern="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P.07 / 13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5303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진단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93268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47088" y="6373368"/>
            <a:ext cx="9777679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847088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40" kern="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→ 러너스튜디오(주) · 가맹 개설 영업 위임 제안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0527487" y="64373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/ 13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847088" y="786384"/>
            <a:ext cx="9777679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변수는 창업자 접점 하나입니다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47088" y="141732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러너러너 앱과 본사 검증 점포 추천, 가맹 절차 9단계까지 개설 이후를 받쳐 주는 구조는 본사가 이미 갖췄습니다.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47088" y="197510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갖춰진 것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47088" y="2194560"/>
            <a:ext cx="5303520" cy="10973"/>
          </a:xfrm>
          <a:prstGeom prst="rect">
            <a:avLst/>
          </a:prstGeom>
          <a:solidFill>
            <a:srgbClr val="F3F5F1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1847088" y="2359152"/>
            <a:ext cx="5257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러너러너 앱 — 예약·회원관리·정산·토너먼트·포스터생성·핸디랭킹·음료주문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1847088" y="2779776"/>
            <a:ext cx="5303520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1847088" y="2907792"/>
            <a:ext cx="5257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검증 점포 추천 — 본사가 검증한 점포를 추천하는 체계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1847088" y="3328416"/>
            <a:ext cx="5303520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1847088" y="3456432"/>
            <a:ext cx="5257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준법 운영 체계 — 불법 요소를 배제하는 운영 기준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1847088" y="3877056"/>
            <a:ext cx="5303520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31" name="Text 29"/>
          <p:cNvSpPr/>
          <p:nvPr/>
        </p:nvSpPr>
        <p:spPr>
          <a:xfrm>
            <a:off x="1847088" y="4005072"/>
            <a:ext cx="5257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 절차 9단계 · 계약 → 오픈 4~6주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1847088" y="4425696"/>
            <a:ext cx="5303520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1847088" y="4553712"/>
            <a:ext cx="5257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이벤트 — 래빗 페스티벌 · 시즌 랭킹전 · 매장 간 콜라보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1847088" y="4974336"/>
            <a:ext cx="5303520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35" name="Text 33"/>
          <p:cNvSpPr/>
          <p:nvPr/>
        </p:nvSpPr>
        <p:spPr>
          <a:xfrm>
            <a:off x="1847088" y="5102352"/>
            <a:ext cx="5257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러너러너 앱 리뉴얼 후 플랫폼 서비스 이용자 1.5배 증가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1847088" y="5522976"/>
            <a:ext cx="5303520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37" name="Text 35"/>
          <p:cNvSpPr/>
          <p:nvPr/>
        </p:nvSpPr>
        <p:spPr>
          <a:xfrm>
            <a:off x="7653528" y="197510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D6A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변수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653528" y="2194560"/>
            <a:ext cx="3971239" cy="10973"/>
          </a:xfrm>
          <a:prstGeom prst="rect">
            <a:avLst/>
          </a:prstGeom>
          <a:solidFill>
            <a:srgbClr val="D6A64A"/>
          </a:solidFill>
          <a:ln>
            <a:noFill/>
          </a:ln>
        </p:spPr>
      </p:sp>
      <p:sp>
        <p:nvSpPr>
          <p:cNvPr id="39" name="Text 37"/>
          <p:cNvSpPr/>
          <p:nvPr/>
        </p:nvSpPr>
        <p:spPr>
          <a:xfrm>
            <a:off x="7653528" y="2359152"/>
            <a:ext cx="397123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가능한 창업자 모수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653528" y="2706624"/>
            <a:ext cx="397123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이전 구간의 접점 총량입니다.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출점 속도를 좌우하는 변수는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창업자 접점 하나입니다.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53528" y="3511296"/>
            <a:ext cx="397123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9BC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내일사장이 담당하는 구간이 정확히 여기입니다.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7653528" y="3913632"/>
            <a:ext cx="3971239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43" name="Text 41"/>
          <p:cNvSpPr/>
          <p:nvPr/>
        </p:nvSpPr>
        <p:spPr>
          <a:xfrm>
            <a:off x="7653528" y="40233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접점을 확보하는 경로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53528" y="4352544"/>
            <a:ext cx="73152" cy="73152"/>
          </a:xfrm>
          <a:prstGeom prst="rect">
            <a:avLst/>
          </a:prstGeom>
          <a:solidFill>
            <a:srgbClr val="D6A64A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7891272" y="4279392"/>
            <a:ext cx="3733495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창업자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91272" y="4471416"/>
            <a:ext cx="37334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플랫폼에 상주하는 창업 수요에서 접점을 만듭니다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7653528" y="4864608"/>
            <a:ext cx="73152" cy="73152"/>
          </a:xfrm>
          <a:prstGeom prst="rect">
            <a:avLst/>
          </a:prstGeom>
          <a:solidFill>
            <a:srgbClr val="D6A64A"/>
          </a:solidFill>
          <a:ln>
            <a:noFill/>
          </a:ln>
        </p:spPr>
      </p:sp>
      <p:sp>
        <p:nvSpPr>
          <p:cNvPr id="48" name="Text 46"/>
          <p:cNvSpPr/>
          <p:nvPr/>
        </p:nvSpPr>
        <p:spPr>
          <a:xfrm>
            <a:off x="7891272" y="4791456"/>
            <a:ext cx="3733495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홀덤펍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891272" y="4983480"/>
            <a:ext cx="37334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매물 데이터와 제휴 중개망에서 리브랜딩 대상을 발굴합니다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7653528" y="5276088"/>
            <a:ext cx="3971239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51" name="Text 49"/>
          <p:cNvSpPr/>
          <p:nvPr/>
        </p:nvSpPr>
        <p:spPr>
          <a:xfrm>
            <a:off x="7653528" y="5367528"/>
            <a:ext cx="397123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40" dirty="0">
                <a:solidFill>
                  <a:srgbClr val="9BC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경로 모두 계약 이전 구간의 상담·분석 비용은 내일사장이 부담합니다.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1847088" y="5760720"/>
            <a:ext cx="9777679" cy="18288"/>
          </a:xfrm>
          <a:prstGeom prst="rect">
            <a:avLst/>
          </a:prstGeom>
          <a:solidFill>
            <a:srgbClr val="F3F5F1"/>
          </a:solidFill>
          <a:ln>
            <a:noFill/>
          </a:ln>
        </p:spPr>
      </p:sp>
      <p:sp>
        <p:nvSpPr>
          <p:cNvPr id="53" name="Text 51"/>
          <p:cNvSpPr/>
          <p:nvPr/>
        </p:nvSpPr>
        <p:spPr>
          <a:xfrm>
            <a:off x="1847088" y="5833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변수 · 창업자 접점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52767" y="579729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pPr algn="r" indent="0" marL="0">
              <a:buNone/>
            </a:pPr>
            <a:r>
              <a:rPr lang="en-US" sz="105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847088" y="6126480"/>
            <a:ext cx="9601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러너러너 앱 운영사는 (주)러너소프트로 러너스튜디오(주)와 별개 법인입니다. 이용자 1.5배 증가는 IT비즈뉴스 2024.7.4 보도 기준.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4708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2599217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335134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410347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855605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607734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6359863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7111992" y="384048"/>
            <a:ext cx="701837" cy="68580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786412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861625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9368380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10120509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1087263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566928" y="36576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P.08 / 13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5303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실행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93268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2트랙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47088" y="6373368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847088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4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→ 러너스튜디오(주) · 가맹 개설 영업 위임 제안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0527487" y="64373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/ 13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847088" y="786384"/>
            <a:ext cx="9777679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창업자와 기존 홀덤펍, 두 트랙을 동시에 엽니다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47088" y="1417320"/>
            <a:ext cx="977767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수요만 기다리지 않습니다. 이미 운영 중인 점주를 전환시키는 경로를 함께 가동해 계약 속도를 높입니다.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47088" y="2011680"/>
            <a:ext cx="4669384" cy="25603"/>
          </a:xfrm>
          <a:prstGeom prst="rect">
            <a:avLst/>
          </a:prstGeom>
          <a:solidFill>
            <a:srgbClr val="0F6B63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1847088" y="2139696"/>
            <a:ext cx="466938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0F6B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TRACK 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47088" y="2359152"/>
            <a:ext cx="46693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창업자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47088" y="281635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접점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2990088" y="2816352"/>
            <a:ext cx="352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유입 창업 수요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1847088" y="3145536"/>
            <a:ext cx="4669384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1847088" y="332475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2990088" y="3324758"/>
            <a:ext cx="352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상권·손익 브리핑 → 계약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1847088" y="3653942"/>
            <a:ext cx="4669384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1847088" y="3833165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특성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2990088" y="3833165"/>
            <a:ext cx="352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모수 기반 · 검토 기간 필요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1847088" y="4162349"/>
            <a:ext cx="4669384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5" name="Text 33"/>
          <p:cNvSpPr/>
          <p:nvPr/>
        </p:nvSpPr>
        <p:spPr>
          <a:xfrm>
            <a:off x="1847088" y="4341571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소구점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2990088" y="4341571"/>
            <a:ext cx="352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프로모션 기준 개설 기본비용 전액 할인 · 4~6주 오픈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1847088" y="4670755"/>
            <a:ext cx="4669384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8" name="Shape 36"/>
          <p:cNvSpPr/>
          <p:nvPr/>
        </p:nvSpPr>
        <p:spPr>
          <a:xfrm>
            <a:off x="6955384" y="2011680"/>
            <a:ext cx="4669384" cy="25603"/>
          </a:xfrm>
          <a:prstGeom prst="rect">
            <a:avLst/>
          </a:prstGeom>
          <a:solidFill>
            <a:srgbClr val="3E8B84"/>
          </a:solidFill>
          <a:ln>
            <a:noFill/>
          </a:ln>
        </p:spPr>
      </p:sp>
      <p:sp>
        <p:nvSpPr>
          <p:cNvPr id="39" name="Text 37"/>
          <p:cNvSpPr/>
          <p:nvPr/>
        </p:nvSpPr>
        <p:spPr>
          <a:xfrm>
            <a:off x="6955384" y="2139696"/>
            <a:ext cx="466938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3E8B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TRACK B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55384" y="2359152"/>
            <a:ext cx="46693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홀덤펍 리브랜딩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55384" y="281635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접점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8098384" y="2816352"/>
            <a:ext cx="352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전환 대상 점주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6955384" y="3145536"/>
            <a:ext cx="4669384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4" name="Text 42"/>
          <p:cNvSpPr/>
          <p:nvPr/>
        </p:nvSpPr>
        <p:spPr>
          <a:xfrm>
            <a:off x="6955384" y="332475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8098384" y="3324758"/>
            <a:ext cx="352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상담 → 계약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6955384" y="3653942"/>
            <a:ext cx="4669384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7" name="Text 45"/>
          <p:cNvSpPr/>
          <p:nvPr/>
        </p:nvSpPr>
        <p:spPr>
          <a:xfrm>
            <a:off x="6955384" y="3833165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특성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8098384" y="3833165"/>
            <a:ext cx="352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전환형 · 검토 기간 짧음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6955384" y="4162349"/>
            <a:ext cx="4669384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0" name="Text 48"/>
          <p:cNvSpPr/>
          <p:nvPr/>
        </p:nvSpPr>
        <p:spPr>
          <a:xfrm>
            <a:off x="6955384" y="4341571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소구점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8098384" y="4341571"/>
            <a:ext cx="352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브랜드 전환 · 예약·회원관리 체계 승계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6955384" y="4670755"/>
            <a:ext cx="4669384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3" name="Shape 51"/>
          <p:cNvSpPr/>
          <p:nvPr/>
        </p:nvSpPr>
        <p:spPr>
          <a:xfrm>
            <a:off x="1847088" y="4974336"/>
            <a:ext cx="9777679" cy="10973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54" name="Text 52"/>
          <p:cNvSpPr/>
          <p:nvPr/>
        </p:nvSpPr>
        <p:spPr>
          <a:xfrm>
            <a:off x="1847088" y="508406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운영 약속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847088" y="5376672"/>
            <a:ext cx="82296" cy="82296"/>
          </a:xfrm>
          <a:prstGeom prst="rect">
            <a:avLst/>
          </a:prstGeom>
          <a:solidFill>
            <a:srgbClr val="0F6B63"/>
          </a:solidFill>
          <a:ln>
            <a:noFill/>
          </a:ln>
        </p:spPr>
      </p:sp>
      <p:sp>
        <p:nvSpPr>
          <p:cNvPr id="56" name="Text 54"/>
          <p:cNvSpPr/>
          <p:nvPr/>
        </p:nvSpPr>
        <p:spPr>
          <a:xfrm>
            <a:off x="2029968" y="5303520"/>
            <a:ext cx="213352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승인 자료만 사용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4291508" y="5376672"/>
            <a:ext cx="82296" cy="82296"/>
          </a:xfrm>
          <a:prstGeom prst="rect">
            <a:avLst/>
          </a:prstGeom>
          <a:solidFill>
            <a:srgbClr val="0F6B63"/>
          </a:solidFill>
          <a:ln>
            <a:noFill/>
          </a:ln>
        </p:spPr>
      </p:sp>
      <p:sp>
        <p:nvSpPr>
          <p:cNvPr id="58" name="Text 56"/>
          <p:cNvSpPr/>
          <p:nvPr/>
        </p:nvSpPr>
        <p:spPr>
          <a:xfrm>
            <a:off x="4474388" y="5303520"/>
            <a:ext cx="213352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준법 운영 기준 준수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6735928" y="5376672"/>
            <a:ext cx="82296" cy="82296"/>
          </a:xfrm>
          <a:prstGeom prst="rect">
            <a:avLst/>
          </a:prstGeom>
          <a:solidFill>
            <a:srgbClr val="0F6B63"/>
          </a:solidFill>
          <a:ln>
            <a:noFill/>
          </a:ln>
        </p:spPr>
      </p:sp>
      <p:sp>
        <p:nvSpPr>
          <p:cNvPr id="60" name="Text 58"/>
          <p:cNvSpPr/>
          <p:nvPr/>
        </p:nvSpPr>
        <p:spPr>
          <a:xfrm>
            <a:off x="6918808" y="5303520"/>
            <a:ext cx="213352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리드 최초 유입 경로로 실적 구분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9180347" y="5376672"/>
            <a:ext cx="82296" cy="82296"/>
          </a:xfrm>
          <a:prstGeom prst="rect">
            <a:avLst/>
          </a:prstGeom>
          <a:solidFill>
            <a:srgbClr val="0F6B63"/>
          </a:solidFill>
          <a:ln>
            <a:noFill/>
          </a:ln>
        </p:spPr>
      </p:sp>
      <p:sp>
        <p:nvSpPr>
          <p:cNvPr id="62" name="Text 60"/>
          <p:cNvSpPr/>
          <p:nvPr/>
        </p:nvSpPr>
        <p:spPr>
          <a:xfrm>
            <a:off x="9363227" y="5303520"/>
            <a:ext cx="213352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단위 활동 리포트 제출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1847088" y="5760720"/>
            <a:ext cx="9777679" cy="12802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64" name="Text 62"/>
          <p:cNvSpPr/>
          <p:nvPr/>
        </p:nvSpPr>
        <p:spPr>
          <a:xfrm>
            <a:off x="1847088" y="5833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트랙 · 활동 보고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052767" y="579729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pPr algn="r" indent="0" marL="0">
              <a:buNone/>
            </a:pPr>
            <a:r>
              <a:rPr lang="en-US" sz="105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트랙 · 주 단위 보고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4708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2599217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335134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410347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855605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607734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6359863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7111992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7864121" y="384048"/>
            <a:ext cx="701837" cy="68580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861625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9368380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10120509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1087263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566928" y="36576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P.09 / 13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5303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조건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93268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구조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47088" y="6373368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847088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4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→ 러너스튜디오(주) · 가맹 개설 영업 위임 제안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0527487" y="64373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/ 13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847088" y="786384"/>
            <a:ext cx="9777679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착수금도 월 고정비도 광고비도 청구하지 않습니다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47088" y="141732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청구는 가맹계약이 체결되고 가맹비 입금이 확인된 뒤에만 발생합니다. 그 이전 구간에서 본사가 부담하는 현금은 0원입니다.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47088" y="2011680"/>
            <a:ext cx="9777679" cy="12802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1847088" y="207568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4041648" y="2075688"/>
            <a:ext cx="529711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시점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9338767" y="207568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금액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1847088" y="2331720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28" name="Text 26"/>
          <p:cNvSpPr/>
          <p:nvPr/>
        </p:nvSpPr>
        <p:spPr>
          <a:xfrm>
            <a:off x="1847088" y="23774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착수금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4041648" y="2377440"/>
            <a:ext cx="520567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없음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9338767" y="23774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원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1847088" y="2770632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1847088" y="281635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고정비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4041648" y="2816352"/>
            <a:ext cx="520567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없음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338767" y="281635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원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1847088" y="3209544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6" name="Text 34"/>
          <p:cNvSpPr/>
          <p:nvPr/>
        </p:nvSpPr>
        <p:spPr>
          <a:xfrm>
            <a:off x="1847088" y="325526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광고비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4041648" y="3255264"/>
            <a:ext cx="520567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 개설 영업 대가로는 청구하지 않습니다 (LSM 집행 기준은 P.10)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9338767" y="3255264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원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1847088" y="3648456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0" name="Text 38"/>
          <p:cNvSpPr/>
          <p:nvPr/>
        </p:nvSpPr>
        <p:spPr>
          <a:xfrm>
            <a:off x="1847088" y="3694176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성공보수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4041648" y="3694176"/>
            <a:ext cx="520567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가맹계약 체결 및 가맹비 입금 완료 후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9338767" y="3694176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A8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 만원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1847088" y="4087368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4" name="Shape 42"/>
          <p:cNvSpPr/>
          <p:nvPr/>
        </p:nvSpPr>
        <p:spPr>
          <a:xfrm>
            <a:off x="1847088" y="4261104"/>
            <a:ext cx="9777679" cy="10973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1847088" y="435254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 기준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847088" y="459028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청구 시점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4041648" y="4590288"/>
            <a:ext cx="75831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가맹계약 체결과 가맹비 입금이 모두 확인된 뒤에 청구합니다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1847088" y="4919472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9" name="Text 47"/>
          <p:cNvSpPr/>
          <p:nvPr/>
        </p:nvSpPr>
        <p:spPr>
          <a:xfrm>
            <a:off x="1847088" y="497433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미계약 건 원가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4041648" y="4974336"/>
            <a:ext cx="75831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상담·분석·브리핑과 창업마케팅에 들어간 비용은 전부 내일사장이 부담하며 본사에 청구하지 않습니다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1847088" y="5303520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2" name="Text 50"/>
          <p:cNvSpPr/>
          <p:nvPr/>
        </p:nvSpPr>
        <p:spPr>
          <a:xfrm>
            <a:off x="1847088" y="535838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해제 · 환불 시 처리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4041648" y="5358384"/>
            <a:ext cx="75831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가맹계약이 해제되거나 가맹비가 환불되는 경우의 처리 기준은 본사 정책에 맞춰 착수 전 협의합니다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1847088" y="6126480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661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성공보수는 부가가치세 별도입니다.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1847088" y="5760720"/>
            <a:ext cx="9777679" cy="12802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56" name="Text 54"/>
          <p:cNvSpPr/>
          <p:nvPr/>
        </p:nvSpPr>
        <p:spPr>
          <a:xfrm>
            <a:off x="1847088" y="5833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· 입금 완료 전 내일사장에 지급하는 현금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052767" y="579729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pPr algn="r" indent="0" marL="0">
              <a:buNone/>
            </a:pPr>
            <a:r>
              <a:rPr lang="en-US" sz="105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원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4708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2599217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335134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410347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855605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607734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6359863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7111992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786412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8616251" y="384048"/>
            <a:ext cx="701837" cy="68580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9368380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10120509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1087263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566928" y="36576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P.10 / 13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5303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조건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93268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변동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47088" y="6373368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847088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4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→ 러너스튜디오(주) · 가맹 개설 영업 위임 제안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0527487" y="64373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13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847088" y="786384"/>
            <a:ext cx="9777679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창업자가 깎은 금액은 전액 내일사장 몫에서 차감합니다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47088" y="141732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네고가 어디까지 진행되든 본사 순수취는 500만원 그대로입니다. 줄어드는 구간은 내일사장 성공보수 하나입니다.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47088" y="2011680"/>
            <a:ext cx="9777679" cy="12802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1847088" y="207568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5413248" y="20756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창업자 납입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7516368" y="20756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성공보수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9619488" y="2075688"/>
            <a:ext cx="200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순수취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1847088" y="2331720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1847088" y="2377440"/>
            <a:ext cx="347472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네고 없음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5413248" y="2377440"/>
            <a:ext cx="210312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1,500 만원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7516368" y="2377440"/>
            <a:ext cx="210312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A8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(1,000)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9619488" y="2377440"/>
            <a:ext cx="2005279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 만원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1847088" y="2688336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4" name="Text 32"/>
          <p:cNvSpPr/>
          <p:nvPr/>
        </p:nvSpPr>
        <p:spPr>
          <a:xfrm>
            <a:off x="1847088" y="2734056"/>
            <a:ext cx="347472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네고 발생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5413248" y="2734056"/>
            <a:ext cx="210312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1,500 − 할인액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7516368" y="2734056"/>
            <a:ext cx="210312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A8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(1,000 − 할인액)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9619488" y="2734056"/>
            <a:ext cx="2005279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 만원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1847088" y="3044952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9" name="Text 37"/>
          <p:cNvSpPr/>
          <p:nvPr/>
        </p:nvSpPr>
        <p:spPr>
          <a:xfrm>
            <a:off x="1847088" y="3090672"/>
            <a:ext cx="347472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 1,000만원 가정 시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5413248" y="3090672"/>
            <a:ext cx="210312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 만원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7516368" y="3090672"/>
            <a:ext cx="210312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A8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9619488" y="3090672"/>
            <a:ext cx="2005279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 만원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1847088" y="3401568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4" name="Shape 42"/>
          <p:cNvSpPr/>
          <p:nvPr/>
        </p:nvSpPr>
        <p:spPr>
          <a:xfrm>
            <a:off x="1847088" y="3694176"/>
            <a:ext cx="82296" cy="82296"/>
          </a:xfrm>
          <a:prstGeom prst="rect">
            <a:avLst/>
          </a:prstGeom>
          <a:solidFill>
            <a:srgbClr val="A8791F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2084832" y="3621024"/>
            <a:ext cx="953993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 적용 여부와 한도는 건별로 본사 승인 후 확정하며, 내일사장이 단독으로 조건을 제시하지 않습니다.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847088" y="390448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LSM 광고 집행 기준 · 내일사장 수취 구간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47088" y="4105656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8" name="Text 46"/>
          <p:cNvSpPr/>
          <p:nvPr/>
        </p:nvSpPr>
        <p:spPr>
          <a:xfrm>
            <a:off x="1847088" y="4151376"/>
            <a:ext cx="347472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800만원 이하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5413248" y="4151376"/>
            <a:ext cx="201168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A8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집행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7516368" y="4151376"/>
            <a:ext cx="4016959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정책에 따라 집행하며 내일사장은 청구하지 않습니다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1847088" y="4462272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2" name="Text 50"/>
          <p:cNvSpPr/>
          <p:nvPr/>
        </p:nvSpPr>
        <p:spPr>
          <a:xfrm>
            <a:off x="1847088" y="4507992"/>
            <a:ext cx="347472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800만원 초과 ~ 1,000만원 미만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5413248" y="4507992"/>
            <a:ext cx="201168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7516368" y="4507992"/>
            <a:ext cx="4016959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집행 주체와 금액을 양사 협의로 결정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1847088" y="4818888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6" name="Text 54"/>
          <p:cNvSpPr/>
          <p:nvPr/>
        </p:nvSpPr>
        <p:spPr>
          <a:xfrm>
            <a:off x="1847088" y="4864608"/>
            <a:ext cx="347472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1,000만원 전액 수취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5413248" y="4864608"/>
            <a:ext cx="201168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0F6B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집행</a:t>
            </a:r>
            <a:endParaRPr lang="en-US" sz="920" dirty="0"/>
          </a:p>
        </p:txBody>
      </p:sp>
      <p:sp>
        <p:nvSpPr>
          <p:cNvPr id="58" name="Text 56"/>
          <p:cNvSpPr/>
          <p:nvPr/>
        </p:nvSpPr>
        <p:spPr>
          <a:xfrm>
            <a:off x="7516368" y="4864608"/>
            <a:ext cx="4016959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수취액 중 200만원을 해당 매장 LSM 광고비로 집행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1847088" y="5175504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60" name="Shape 58"/>
          <p:cNvSpPr/>
          <p:nvPr/>
        </p:nvSpPr>
        <p:spPr>
          <a:xfrm>
            <a:off x="1847088" y="5449824"/>
            <a:ext cx="82296" cy="82296"/>
          </a:xfrm>
          <a:prstGeom prst="rect">
            <a:avLst/>
          </a:prstGeom>
          <a:solidFill>
            <a:srgbClr val="A8791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2084832" y="5376672"/>
            <a:ext cx="332841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A8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인테리어 시공 참여</a:t>
            </a:r>
            <a:endParaRPr lang="en-US" sz="920" dirty="0"/>
          </a:p>
        </p:txBody>
      </p:sp>
      <p:sp>
        <p:nvSpPr>
          <p:cNvPr id="62" name="Text 60"/>
          <p:cNvSpPr/>
          <p:nvPr/>
        </p:nvSpPr>
        <p:spPr>
          <a:xfrm>
            <a:off x="5413248" y="5376672"/>
            <a:ext cx="6211519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내일사장이 시공을 진행할 수 있으며, 개설 과정의 추가 수익 분배는 착수 전 별도 협의합니다.</a:t>
            </a:r>
            <a:endParaRPr lang="en-US" sz="920" dirty="0"/>
          </a:p>
        </p:txBody>
      </p:sp>
      <p:sp>
        <p:nvSpPr>
          <p:cNvPr id="63" name="Text 61"/>
          <p:cNvSpPr/>
          <p:nvPr/>
        </p:nvSpPr>
        <p:spPr>
          <a:xfrm>
            <a:off x="1847088" y="6126480"/>
            <a:ext cx="9144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661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할인 상한은 본사 정책 사항이며, 위 표의 1,000만원은 내일사장 성공보수가 소진되는 지점을 보여 주는 가정값입니다.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1847088" y="5760720"/>
            <a:ext cx="9777679" cy="12802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65" name="Text 63"/>
          <p:cNvSpPr/>
          <p:nvPr/>
        </p:nvSpPr>
        <p:spPr>
          <a:xfrm>
            <a:off x="1847088" y="5833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 1,000만원까지 · 본사 순수취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052767" y="579729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</a:t>
            </a:r>
            <a:pPr algn="r" indent="0" marL="0">
              <a:buNone/>
            </a:pPr>
            <a:r>
              <a:rPr lang="en-US" sz="105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만원 불변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4708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2599217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335134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410347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855605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607734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6359863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7111992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786412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861625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9368380" y="384048"/>
            <a:ext cx="701837" cy="68580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10120509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1087263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566928" y="36576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P.11 / 13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5303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수지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93268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47088" y="6373368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847088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4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→ 러너스튜디오(주) · 가맹 개설 영업 위임 제안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0527487" y="64373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13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847088" y="786384"/>
            <a:ext cx="9777679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시점부터 흑자이고, 이후 로열티는 전액 순증입니다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47088" y="141732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가맹비 1,500만원 안에서 성공보수 1,000만원이 정산되고, 남는 500만원부터가 본사 순수익입니다. 이후 월 로열티 150만원은 전액 순증입니다.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47088" y="1975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1건 · 계약 시점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47088" y="226771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가맹비 (본사 수취)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4041648" y="22677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+1,500</a:t>
            </a:r>
            <a:pPr algn="r" indent="0" marL="0"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만원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847088" y="2596896"/>
            <a:ext cx="3840480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1847088" y="267004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성공보수 (내일사장)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4041648" y="267004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8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−1,000</a:t>
            </a:r>
            <a:pPr algn="r" indent="0" marL="0"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만원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847088" y="2999232"/>
            <a:ext cx="3840480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0" name="Text 28"/>
          <p:cNvSpPr/>
          <p:nvPr/>
        </p:nvSpPr>
        <p:spPr>
          <a:xfrm>
            <a:off x="1847088" y="3145536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시점 본사 순수익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3767328" y="310896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F6B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+500</a:t>
            </a:r>
            <a:pPr algn="r" indent="0" marL="0"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만원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1847088" y="3529584"/>
            <a:ext cx="3840480" cy="10973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1847088" y="3657600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개설 기본비용 1,600만원은 본사 프로모션으로 전액 할인 중이며,</a:t>
            </a:r>
            <a:endParaRPr lang="en-US" sz="86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계산에는 포함하지 않았습니다.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1847088" y="4242816"/>
            <a:ext cx="3840480" cy="10973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35" name="Text 33"/>
          <p:cNvSpPr/>
          <p:nvPr/>
        </p:nvSpPr>
        <p:spPr>
          <a:xfrm>
            <a:off x="1847088" y="437083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성공보수의 성격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847088" y="460857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1회성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3310128" y="4608576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1건에 한 번만 발생합니다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1847088" y="499262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가맹비 내 정산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3310128" y="4992624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예산 편성이 필요하지 않습니다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1847088" y="537667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로열티는 순증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3310128" y="537667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150만원은 전액 본사 수익으로 남습니다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6053328" y="1975104"/>
            <a:ext cx="557143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누적 본사 수익 · 월 로열티 150만원 반영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53328" y="226771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시점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42048" y="2322576"/>
            <a:ext cx="3193999" cy="164592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5" name="Shape 43"/>
          <p:cNvSpPr/>
          <p:nvPr/>
        </p:nvSpPr>
        <p:spPr>
          <a:xfrm>
            <a:off x="7242048" y="2322576"/>
            <a:ext cx="270678" cy="164592"/>
          </a:xfrm>
          <a:prstGeom prst="rect">
            <a:avLst/>
          </a:prstGeom>
          <a:solidFill>
            <a:srgbClr val="3E8B84"/>
          </a:solidFill>
          <a:ln>
            <a:noFill/>
          </a:ln>
        </p:spPr>
      </p:sp>
      <p:sp>
        <p:nvSpPr>
          <p:cNvPr id="46" name="Text 44"/>
          <p:cNvSpPr/>
          <p:nvPr/>
        </p:nvSpPr>
        <p:spPr>
          <a:xfrm>
            <a:off x="10436047" y="226771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</a:t>
            </a:r>
            <a:pPr algn="r" indent="0" marL="0"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만원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053328" y="27432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42048" y="2798064"/>
            <a:ext cx="3193999" cy="164592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9" name="Shape 47"/>
          <p:cNvSpPr/>
          <p:nvPr/>
        </p:nvSpPr>
        <p:spPr>
          <a:xfrm>
            <a:off x="7242048" y="2798064"/>
            <a:ext cx="1245118" cy="164592"/>
          </a:xfrm>
          <a:prstGeom prst="rect">
            <a:avLst/>
          </a:prstGeom>
          <a:solidFill>
            <a:srgbClr val="3E8B84"/>
          </a:solidFill>
          <a:ln>
            <a:noFill/>
          </a:ln>
        </p:spPr>
      </p:sp>
      <p:sp>
        <p:nvSpPr>
          <p:cNvPr id="50" name="Text 48"/>
          <p:cNvSpPr/>
          <p:nvPr/>
        </p:nvSpPr>
        <p:spPr>
          <a:xfrm>
            <a:off x="10436047" y="274320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2,300</a:t>
            </a:r>
            <a:pPr algn="r" indent="0" marL="0"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만원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053328" y="321868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24개월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242048" y="3273552"/>
            <a:ext cx="3193999" cy="164592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3" name="Shape 51"/>
          <p:cNvSpPr/>
          <p:nvPr/>
        </p:nvSpPr>
        <p:spPr>
          <a:xfrm>
            <a:off x="7242048" y="3273552"/>
            <a:ext cx="2219559" cy="164592"/>
          </a:xfrm>
          <a:prstGeom prst="rect">
            <a:avLst/>
          </a:prstGeom>
          <a:solidFill>
            <a:srgbClr val="3E8B84"/>
          </a:solidFill>
          <a:ln>
            <a:noFill/>
          </a:ln>
        </p:spPr>
      </p:sp>
      <p:sp>
        <p:nvSpPr>
          <p:cNvPr id="54" name="Text 52"/>
          <p:cNvSpPr/>
          <p:nvPr/>
        </p:nvSpPr>
        <p:spPr>
          <a:xfrm>
            <a:off x="10436047" y="32186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4,100</a:t>
            </a:r>
            <a:pPr algn="r" indent="0" marL="0"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만원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6053328" y="36941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36개월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242048" y="3749040"/>
            <a:ext cx="3193999" cy="164592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7" name="Shape 55"/>
          <p:cNvSpPr/>
          <p:nvPr/>
        </p:nvSpPr>
        <p:spPr>
          <a:xfrm>
            <a:off x="7242048" y="3749040"/>
            <a:ext cx="3193999" cy="164592"/>
          </a:xfrm>
          <a:prstGeom prst="rect">
            <a:avLst/>
          </a:prstGeom>
          <a:solidFill>
            <a:srgbClr val="0F6B63"/>
          </a:solidFill>
          <a:ln>
            <a:noFill/>
          </a:ln>
        </p:spPr>
      </p:sp>
      <p:sp>
        <p:nvSpPr>
          <p:cNvPr id="58" name="Text 56"/>
          <p:cNvSpPr/>
          <p:nvPr/>
        </p:nvSpPr>
        <p:spPr>
          <a:xfrm>
            <a:off x="10436047" y="369417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6B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5,900</a:t>
            </a:r>
            <a:pPr algn="r" indent="0" marL="0"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만원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053328" y="4242816"/>
            <a:ext cx="557143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60" name="Text 58"/>
          <p:cNvSpPr/>
          <p:nvPr/>
        </p:nvSpPr>
        <p:spPr>
          <a:xfrm>
            <a:off x="6053328" y="437083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출점 규모별 36개월 누적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053328" y="46634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3개점</a:t>
            </a:r>
            <a:endParaRPr lang="en-US" sz="840" dirty="0"/>
          </a:p>
        </p:txBody>
      </p:sp>
      <p:sp>
        <p:nvSpPr>
          <p:cNvPr id="62" name="Text 60"/>
          <p:cNvSpPr/>
          <p:nvPr/>
        </p:nvSpPr>
        <p:spPr>
          <a:xfrm>
            <a:off x="6053328" y="4864608"/>
            <a:ext cx="2511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1억 7,700</a:t>
            </a:r>
            <a:pPr indent="0" marL="0"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만원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8839048" y="46634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5개점</a:t>
            </a:r>
            <a:endParaRPr lang="en-US" sz="840" dirty="0"/>
          </a:p>
        </p:txBody>
      </p:sp>
      <p:sp>
        <p:nvSpPr>
          <p:cNvPr id="64" name="Text 62"/>
          <p:cNvSpPr/>
          <p:nvPr/>
        </p:nvSpPr>
        <p:spPr>
          <a:xfrm>
            <a:off x="8839048" y="4864608"/>
            <a:ext cx="2511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2억 9,500</a:t>
            </a:r>
            <a:pPr indent="0" marL="0"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만원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8619592" y="4663440"/>
            <a:ext cx="7315" cy="475488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66" name="Text 64"/>
          <p:cNvSpPr/>
          <p:nvPr/>
        </p:nvSpPr>
        <p:spPr>
          <a:xfrm>
            <a:off x="6053328" y="5376672"/>
            <a:ext cx="557143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누적액에는 인테리어 시공·개설 과정의 추가 수익은 포함하지 않았습니다.</a:t>
            </a:r>
            <a:endParaRPr lang="en-US" sz="860" dirty="0"/>
          </a:p>
        </p:txBody>
      </p:sp>
      <p:sp>
        <p:nvSpPr>
          <p:cNvPr id="67" name="Shape 65"/>
          <p:cNvSpPr/>
          <p:nvPr/>
        </p:nvSpPr>
        <p:spPr>
          <a:xfrm>
            <a:off x="1847088" y="5760720"/>
            <a:ext cx="9777679" cy="12802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68" name="Text 66"/>
          <p:cNvSpPr/>
          <p:nvPr/>
        </p:nvSpPr>
        <p:spPr>
          <a:xfrm>
            <a:off x="1847088" y="5833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10개점 출점 시 · 36개월 누적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052767" y="579729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5억 9,000</a:t>
            </a:r>
            <a:pPr algn="r" indent="0" marL="0">
              <a:buNone/>
            </a:pPr>
            <a:r>
              <a:rPr lang="en-US" sz="105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만원</a:t>
            </a:r>
            <a:endParaRPr lang="en-US" sz="2300" dirty="0"/>
          </a:p>
        </p:txBody>
      </p:sp>
      <p:sp>
        <p:nvSpPr>
          <p:cNvPr id="70" name="Text 68"/>
          <p:cNvSpPr/>
          <p:nvPr/>
        </p:nvSpPr>
        <p:spPr>
          <a:xfrm>
            <a:off x="1847088" y="6126480"/>
            <a:ext cx="9777679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661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러너펍 공개 가맹 안내 기준(가맹비 1,500만원 / 월 로열티 150만원 · 부가세 별도) 시뮬레이션이며 실제 조건은 본사 정책에 따릅니다. 폐점·중도해지는 반영하지 않았습니다.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4708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2599217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335134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4103476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855605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607734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6359863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7111992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786412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8616251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9368380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10120509" y="384048"/>
            <a:ext cx="701837" cy="68580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10872638" y="384048"/>
            <a:ext cx="701837" cy="25603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566928" y="36576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P.12 / 13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5303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통제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93268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준법 · 귀속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47088" y="6373368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847088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4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→ 러너스튜디오(주) · 가맹 개설 영업 위임 제안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0527487" y="64373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13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847088" y="786384"/>
            <a:ext cx="9777679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홀덤 업종 경험은 장치로 대체하고, 준법·귀속은 본사 기준을 따릅니다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47088" y="1417320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업종 경험 공백은 아래 네 가지 장치로 메웁니다. 그 위에서 정보제공 책임이 본사에 있는 항목은 본사가 직접 수행하고, 내일사장은 보조 범위 안에서만 움직입니다.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47088" y="197510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A8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홀덤 업종 경험을 대체하는 장치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47088" y="2212848"/>
            <a:ext cx="9777679" cy="12802"/>
          </a:xfrm>
          <a:prstGeom prst="rect">
            <a:avLst/>
          </a:prstGeom>
          <a:solidFill>
            <a:srgbClr val="A8791F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1847088" y="235915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A8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2249424" y="2359152"/>
            <a:ext cx="42579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리브랜딩 트랙은 운영 중인 점주가 대상이라 업종 지식 부담이 낮습니다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64528" y="235915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A8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7366864" y="2359152"/>
            <a:ext cx="42579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입지·손익·계약 절차는 업종에 무관하게 반복되는 영역입니다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47088" y="2779776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A8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2249424" y="2779776"/>
            <a:ext cx="42579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본사가 제공하는 브랜드·상품·준법 자료를 사전 숙지한 뒤 착수합니다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64528" y="2779776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A8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7366864" y="2779776"/>
            <a:ext cx="42579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구간은 파일럿으로 운영하고, 건수와 기간은 본사가 정하십니다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47088" y="3163824"/>
            <a:ext cx="9777679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4" name="Text 32"/>
          <p:cNvSpPr/>
          <p:nvPr/>
        </p:nvSpPr>
        <p:spPr>
          <a:xfrm>
            <a:off x="1847088" y="336499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준법 운영 기준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847088" y="3602736"/>
            <a:ext cx="4663440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6" name="Text 34"/>
          <p:cNvSpPr/>
          <p:nvPr/>
        </p:nvSpPr>
        <p:spPr>
          <a:xfrm>
            <a:off x="1847088" y="3648456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정보공개서 · 계약서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3447288" y="364845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본사가 제공, 내일사장은 전달·설명 보조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1847088" y="3986784"/>
            <a:ext cx="4663440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39" name="Text 37"/>
          <p:cNvSpPr/>
          <p:nvPr/>
        </p:nvSpPr>
        <p:spPr>
          <a:xfrm>
            <a:off x="1847088" y="4032504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숙려기간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3447288" y="4032504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체결 전 숙려기간 준수, 기간 단축 유도 금지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1847088" y="4370832"/>
            <a:ext cx="4663440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2" name="Text 40"/>
          <p:cNvSpPr/>
          <p:nvPr/>
        </p:nvSpPr>
        <p:spPr>
          <a:xfrm>
            <a:off x="1847088" y="4416552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예상매출 진술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3447288" y="4416552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예상매출·수익 구두 약속 금지, 본사 승인 문구만 사용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1847088" y="4754880"/>
            <a:ext cx="4663440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1847088" y="480060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광고·상담 스크립트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3447288" y="4800600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사전 승인 후 사용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1847088" y="5138928"/>
            <a:ext cx="4663440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48" name="Text 46"/>
          <p:cNvSpPr/>
          <p:nvPr/>
        </p:nvSpPr>
        <p:spPr>
          <a:xfrm>
            <a:off x="1847088" y="5184648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 확인 시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3447288" y="5184648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건 영업 즉시 중단, 본사 통보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1847088" y="5522976"/>
            <a:ext cx="4663440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1" name="Text 49"/>
          <p:cNvSpPr/>
          <p:nvPr/>
        </p:nvSpPr>
        <p:spPr>
          <a:xfrm>
            <a:off x="6964528" y="336499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리드 귀속 규칙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964528" y="3602736"/>
            <a:ext cx="4663440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3" name="Text 51"/>
          <p:cNvSpPr/>
          <p:nvPr/>
        </p:nvSpPr>
        <p:spPr>
          <a:xfrm>
            <a:off x="6964528" y="3648456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귀속 기준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8564728" y="364845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리드가 최초로 유입된 경로 기준으로 실적을 구분합니다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6964528" y="3986784"/>
            <a:ext cx="4663440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6" name="Text 54"/>
          <p:cNvSpPr/>
          <p:nvPr/>
        </p:nvSpPr>
        <p:spPr>
          <a:xfrm>
            <a:off x="6964528" y="4032504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인바운드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8564728" y="4032504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문의·본사 직영 영업 유입 건은 성공보수 대상이 아닙니다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6964528" y="4370832"/>
            <a:ext cx="4663440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6964528" y="4416552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선등록 확인</a:t>
            </a:r>
            <a:endParaRPr lang="en-US" sz="920" dirty="0"/>
          </a:p>
        </p:txBody>
      </p:sp>
      <p:sp>
        <p:nvSpPr>
          <p:cNvPr id="60" name="Text 58"/>
          <p:cNvSpPr/>
          <p:nvPr/>
        </p:nvSpPr>
        <p:spPr>
          <a:xfrm>
            <a:off x="8564728" y="4416552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DB에 선등록 이력이 있으면 최초 유입을 본사로 봅니다</a:t>
            </a:r>
            <a:endParaRPr lang="en-US" sz="920" dirty="0"/>
          </a:p>
        </p:txBody>
      </p:sp>
      <p:sp>
        <p:nvSpPr>
          <p:cNvPr id="61" name="Shape 59"/>
          <p:cNvSpPr/>
          <p:nvPr/>
        </p:nvSpPr>
        <p:spPr>
          <a:xfrm>
            <a:off x="6964528" y="4754880"/>
            <a:ext cx="4663440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62" name="Text 60"/>
          <p:cNvSpPr/>
          <p:nvPr/>
        </p:nvSpPr>
        <p:spPr>
          <a:xfrm>
            <a:off x="6964528" y="480060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 방법</a:t>
            </a:r>
            <a:endParaRPr lang="en-US" sz="920" dirty="0"/>
          </a:p>
        </p:txBody>
      </p:sp>
      <p:sp>
        <p:nvSpPr>
          <p:cNvPr id="63" name="Text 61"/>
          <p:cNvSpPr/>
          <p:nvPr/>
        </p:nvSpPr>
        <p:spPr>
          <a:xfrm>
            <a:off x="8564728" y="4800600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발굴 건은 ERP 등록 기록으로 확인합니다</a:t>
            </a:r>
            <a:endParaRPr lang="en-US" sz="920" dirty="0"/>
          </a:p>
        </p:txBody>
      </p:sp>
      <p:sp>
        <p:nvSpPr>
          <p:cNvPr id="64" name="Shape 62"/>
          <p:cNvSpPr/>
          <p:nvPr/>
        </p:nvSpPr>
        <p:spPr>
          <a:xfrm>
            <a:off x="6964528" y="5138928"/>
            <a:ext cx="4663440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65" name="Text 63"/>
          <p:cNvSpPr/>
          <p:nvPr/>
        </p:nvSpPr>
        <p:spPr>
          <a:xfrm>
            <a:off x="6964528" y="5184648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이견 처리</a:t>
            </a:r>
            <a:endParaRPr lang="en-US" sz="920" dirty="0"/>
          </a:p>
        </p:txBody>
      </p:sp>
      <p:sp>
        <p:nvSpPr>
          <p:cNvPr id="66" name="Text 64"/>
          <p:cNvSpPr/>
          <p:nvPr/>
        </p:nvSpPr>
        <p:spPr>
          <a:xfrm>
            <a:off x="8564728" y="5184648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2E3A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단위 리포트 수령 후 이의제기, 최종 판정은 본사 자료 기준</a:t>
            </a:r>
            <a:endParaRPr lang="en-US" sz="920" dirty="0"/>
          </a:p>
        </p:txBody>
      </p:sp>
      <p:sp>
        <p:nvSpPr>
          <p:cNvPr id="67" name="Shape 65"/>
          <p:cNvSpPr/>
          <p:nvPr/>
        </p:nvSpPr>
        <p:spPr>
          <a:xfrm>
            <a:off x="6964528" y="5522976"/>
            <a:ext cx="4663440" cy="7315"/>
          </a:xfrm>
          <a:prstGeom prst="rect">
            <a:avLst/>
          </a:prstGeom>
          <a:solidFill>
            <a:srgbClr val="C3CCC5"/>
          </a:solidFill>
          <a:ln>
            <a:noFill/>
          </a:ln>
        </p:spPr>
      </p:sp>
      <p:sp>
        <p:nvSpPr>
          <p:cNvPr id="68" name="Shape 66"/>
          <p:cNvSpPr/>
          <p:nvPr/>
        </p:nvSpPr>
        <p:spPr>
          <a:xfrm>
            <a:off x="1847088" y="5760720"/>
            <a:ext cx="9777679" cy="12802"/>
          </a:xfrm>
          <a:prstGeom prst="rect">
            <a:avLst/>
          </a:prstGeom>
          <a:solidFill>
            <a:srgbClr val="14201C"/>
          </a:solidFill>
          <a:ln>
            <a:noFill/>
          </a:ln>
        </p:spPr>
      </p:sp>
      <p:sp>
        <p:nvSpPr>
          <p:cNvPr id="69" name="Text 67"/>
          <p:cNvSpPr/>
          <p:nvPr/>
        </p:nvSpPr>
        <p:spPr>
          <a:xfrm>
            <a:off x="1847088" y="5833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준법 · 귀속 판정은 본사 자료 기준 · 활동 리포트 제출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052767" y="579729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1</a:t>
            </a:r>
            <a:pPr algn="r" indent="0" marL="0">
              <a:buNone/>
            </a:pPr>
            <a:r>
              <a:rPr lang="en-US" sz="1050" dirty="0">
                <a:solidFill>
                  <a:srgbClr val="6C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회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47088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2599217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3351346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4103476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855605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607734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6359863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7111992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7864121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8616251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9368380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10120509" y="384048"/>
            <a:ext cx="701837" cy="25603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10872638" y="384048"/>
            <a:ext cx="701837" cy="68580"/>
          </a:xfrm>
          <a:prstGeom prst="rect">
            <a:avLst/>
          </a:prstGeom>
          <a:solidFill>
            <a:srgbClr val="F3F5F1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566928" y="36576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0" kern="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P.13 / 13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5303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CLOSE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93268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47088" y="6373368"/>
            <a:ext cx="9777679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847088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40" kern="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→ 러너스튜디오(주) · 가맹 개설 영업 위임 제안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0527487" y="64373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13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847088" y="786384"/>
            <a:ext cx="9777679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구간으로 시작하고, 검증 기준은 본사가 정하시면 됩니다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47088" y="1417320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기간과 판단 지표를 본사가 정하시고, 그 기준으로 첫 구간을 평가하시면 됩니다. 아래 회신처로 검토 결과를 알려 주시면 즉시 협의를 시작하겠습니다.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47088" y="1975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운영 기준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47088" y="2194560"/>
            <a:ext cx="6309360" cy="10973"/>
          </a:xfrm>
          <a:prstGeom prst="rect">
            <a:avLst/>
          </a:prstGeom>
          <a:solidFill>
            <a:srgbClr val="F3F5F1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1847088" y="230428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기간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50208" y="2304288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본사가 정하시는 기간 — 착수 전 별지로 확정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1847088" y="2633472"/>
            <a:ext cx="6309360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28" name="Text 26"/>
          <p:cNvSpPr/>
          <p:nvPr/>
        </p:nvSpPr>
        <p:spPr>
          <a:xfrm>
            <a:off x="1847088" y="272491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건수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50208" y="272491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본사가 정하시는 목표 — 착수 전 별지로 확정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1847088" y="3054096"/>
            <a:ext cx="6309360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31" name="Text 29"/>
          <p:cNvSpPr/>
          <p:nvPr/>
        </p:nvSpPr>
        <p:spPr>
          <a:xfrm>
            <a:off x="1847088" y="314553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지표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50208" y="3145536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리드 수 · 상담 진행 수 · 가맹계약 체결 건수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1847088" y="3474720"/>
            <a:ext cx="6309360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34" name="Text 32"/>
          <p:cNvSpPr/>
          <p:nvPr/>
        </p:nvSpPr>
        <p:spPr>
          <a:xfrm>
            <a:off x="1847088" y="35661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950208" y="356616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단위 리포트 — 활동 지표와 단계별 파이프라인 포함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1847088" y="3895344"/>
            <a:ext cx="6309360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37" name="Text 35"/>
          <p:cNvSpPr/>
          <p:nvPr/>
        </p:nvSpPr>
        <p:spPr>
          <a:xfrm>
            <a:off x="1847088" y="398678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 조건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50208" y="3986784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승인 자료 확정 후 즉시 착수 · 착수금 없음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1847088" y="4315968"/>
            <a:ext cx="6309360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40" name="Text 38"/>
          <p:cNvSpPr/>
          <p:nvPr/>
        </p:nvSpPr>
        <p:spPr>
          <a:xfrm>
            <a:off x="1847088" y="440740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 종료 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950208" y="4407408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연장 또는 종료를 본사가 단독 결정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1847088" y="4736592"/>
            <a:ext cx="6309360" cy="7315"/>
          </a:xfrm>
          <a:prstGeom prst="rect">
            <a:avLst/>
          </a:prstGeom>
          <a:solidFill>
            <a:srgbClr val="38443F"/>
          </a:solidFill>
          <a:ln>
            <a:noFill/>
          </a:ln>
        </p:spPr>
      </p:sp>
      <p:sp>
        <p:nvSpPr>
          <p:cNvPr id="43" name="Text 41"/>
          <p:cNvSpPr/>
          <p:nvPr/>
        </p:nvSpPr>
        <p:spPr>
          <a:xfrm>
            <a:off x="8613648" y="197510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613648" y="2194560"/>
            <a:ext cx="3011119" cy="10973"/>
          </a:xfrm>
          <a:prstGeom prst="rect">
            <a:avLst/>
          </a:prstGeom>
          <a:solidFill>
            <a:srgbClr val="F3F5F1"/>
          </a:solidFill>
          <a:ln>
            <a:noFill/>
          </a:ln>
        </p:spPr>
      </p:sp>
      <p:sp>
        <p:nvSpPr>
          <p:cNvPr id="45" name="Shape 43"/>
          <p:cNvSpPr/>
          <p:nvPr/>
        </p:nvSpPr>
        <p:spPr>
          <a:xfrm>
            <a:off x="8613648" y="2432304"/>
            <a:ext cx="82296" cy="82296"/>
          </a:xfrm>
          <a:prstGeom prst="rect">
            <a:avLst/>
          </a:prstGeom>
          <a:solidFill>
            <a:srgbClr val="9BC2BE"/>
          </a:solidFill>
          <a:ln>
            <a:noFill/>
          </a:ln>
        </p:spPr>
      </p:sp>
      <p:sp>
        <p:nvSpPr>
          <p:cNvPr id="46" name="Text 44"/>
          <p:cNvSpPr/>
          <p:nvPr/>
        </p:nvSpPr>
        <p:spPr>
          <a:xfrm>
            <a:off x="8851392" y="2340864"/>
            <a:ext cx="277337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모수 보유 — 창업 수요를 새로 만들지 않습니다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8613648" y="2907792"/>
            <a:ext cx="82296" cy="82296"/>
          </a:xfrm>
          <a:prstGeom prst="rect">
            <a:avLst/>
          </a:prstGeom>
          <a:solidFill>
            <a:srgbClr val="9BC2BE"/>
          </a:solidFill>
          <a:ln>
            <a:noFill/>
          </a:ln>
        </p:spPr>
      </p:sp>
      <p:sp>
        <p:nvSpPr>
          <p:cNvPr id="48" name="Text 46"/>
          <p:cNvSpPr/>
          <p:nvPr/>
        </p:nvSpPr>
        <p:spPr>
          <a:xfrm>
            <a:off x="8851392" y="2816352"/>
            <a:ext cx="277337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완비 — 상권·손익·브리핑·ERP·점포개발 직접 운영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8613648" y="3383280"/>
            <a:ext cx="82296" cy="82296"/>
          </a:xfrm>
          <a:prstGeom prst="rect">
            <a:avLst/>
          </a:prstGeom>
          <a:solidFill>
            <a:srgbClr val="9BC2BE"/>
          </a:solidFill>
          <a:ln>
            <a:noFill/>
          </a:ln>
        </p:spPr>
      </p:sp>
      <p:sp>
        <p:nvSpPr>
          <p:cNvPr id="50" name="Text 48"/>
          <p:cNvSpPr/>
          <p:nvPr/>
        </p:nvSpPr>
        <p:spPr>
          <a:xfrm>
            <a:off x="8851392" y="3291840"/>
            <a:ext cx="277337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전 비용 — 착수금·월 고정비·광고비 없음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8613648" y="3858768"/>
            <a:ext cx="82296" cy="82296"/>
          </a:xfrm>
          <a:prstGeom prst="rect">
            <a:avLst/>
          </a:prstGeom>
          <a:solidFill>
            <a:srgbClr val="9BC2BE"/>
          </a:solidFill>
          <a:ln>
            <a:noFill/>
          </a:ln>
        </p:spPr>
      </p:sp>
      <p:sp>
        <p:nvSpPr>
          <p:cNvPr id="52" name="Text 50"/>
          <p:cNvSpPr/>
          <p:nvPr/>
        </p:nvSpPr>
        <p:spPr>
          <a:xfrm>
            <a:off x="8851392" y="3767328"/>
            <a:ext cx="277337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시점 +500만원 — 회수 대기 기간 없음</a:t>
            </a:r>
            <a:endParaRPr lang="en-US" sz="880" dirty="0"/>
          </a:p>
        </p:txBody>
      </p:sp>
      <p:pic>
        <p:nvPicPr>
          <p:cNvPr id="53" name="Image 0" descr="/home/user/onewillco-meeting-2026/runnerpub-proposal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48" y="4224528"/>
            <a:ext cx="1417320" cy="466344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8613648" y="4974336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8613648" y="5138928"/>
            <a:ext cx="300837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러너스튜디오(주) 귀중 · 대표 박경관</a:t>
            </a:r>
            <a:endParaRPr lang="en-US" sz="840" dirty="0"/>
          </a:p>
        </p:txBody>
      </p:sp>
      <p:sp>
        <p:nvSpPr>
          <p:cNvPr id="56" name="Text 53"/>
          <p:cNvSpPr/>
          <p:nvPr/>
        </p:nvSpPr>
        <p:spPr>
          <a:xfrm>
            <a:off x="8613648" y="5413248"/>
            <a:ext cx="300837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강남구 삼성로100길 12 제이타워 B2</a:t>
            </a:r>
            <a:endParaRPr lang="en-US" sz="740" dirty="0"/>
          </a:p>
        </p:txBody>
      </p:sp>
      <p:sp>
        <p:nvSpPr>
          <p:cNvPr id="57" name="Text 54"/>
          <p:cNvSpPr/>
          <p:nvPr/>
        </p:nvSpPr>
        <p:spPr>
          <a:xfrm>
            <a:off x="1847088" y="4974336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발신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1847088" y="51206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</a:t>
            </a:r>
            <a:endParaRPr lang="en-US" sz="1400" dirty="0"/>
          </a:p>
        </p:txBody>
      </p:sp>
      <p:sp>
        <p:nvSpPr>
          <p:cNvPr id="59" name="Text 56"/>
          <p:cNvSpPr/>
          <p:nvPr/>
        </p:nvSpPr>
        <p:spPr>
          <a:xfrm>
            <a:off x="1847088" y="5413248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 기반 창업 지원 플랫폼</a:t>
            </a:r>
            <a:endParaRPr lang="en-US" sz="840" dirty="0"/>
          </a:p>
        </p:txBody>
      </p:sp>
      <p:sp>
        <p:nvSpPr>
          <p:cNvPr id="60" name="Text 57"/>
          <p:cNvSpPr/>
          <p:nvPr/>
        </p:nvSpPr>
        <p:spPr>
          <a:xfrm>
            <a:off x="4315968" y="4974336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4315968" y="5358384"/>
            <a:ext cx="1188720" cy="7315"/>
          </a:xfrm>
          <a:prstGeom prst="rect">
            <a:avLst/>
          </a:prstGeom>
          <a:solidFill>
            <a:srgbClr val="97A39D"/>
          </a:solidFill>
          <a:ln>
            <a:noFill/>
          </a:ln>
        </p:spPr>
      </p:sp>
      <p:sp>
        <p:nvSpPr>
          <p:cNvPr id="62" name="Text 59"/>
          <p:cNvSpPr/>
          <p:nvPr/>
        </p:nvSpPr>
        <p:spPr>
          <a:xfrm>
            <a:off x="5641848" y="4974336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5641848" y="5358384"/>
            <a:ext cx="1280160" cy="7315"/>
          </a:xfrm>
          <a:prstGeom prst="rect">
            <a:avLst/>
          </a:prstGeom>
          <a:solidFill>
            <a:srgbClr val="97A39D"/>
          </a:solidFill>
          <a:ln>
            <a:noFill/>
          </a:ln>
        </p:spPr>
      </p:sp>
      <p:sp>
        <p:nvSpPr>
          <p:cNvPr id="64" name="Text 61"/>
          <p:cNvSpPr/>
          <p:nvPr/>
        </p:nvSpPr>
        <p:spPr>
          <a:xfrm>
            <a:off x="7059168" y="497433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7059168" y="5358384"/>
            <a:ext cx="1417320" cy="7315"/>
          </a:xfrm>
          <a:prstGeom prst="rect">
            <a:avLst/>
          </a:prstGeom>
          <a:solidFill>
            <a:srgbClr val="97A39D"/>
          </a:solidFill>
          <a:ln>
            <a:noFill/>
          </a:ln>
        </p:spPr>
      </p:sp>
      <p:sp>
        <p:nvSpPr>
          <p:cNvPr id="66" name="Shape 63"/>
          <p:cNvSpPr/>
          <p:nvPr/>
        </p:nvSpPr>
        <p:spPr>
          <a:xfrm>
            <a:off x="1847088" y="5760720"/>
            <a:ext cx="9777679" cy="18288"/>
          </a:xfrm>
          <a:prstGeom prst="rect">
            <a:avLst/>
          </a:prstGeom>
          <a:solidFill>
            <a:srgbClr val="F3F5F1"/>
          </a:solidFill>
          <a:ln>
            <a:noFill/>
          </a:ln>
        </p:spPr>
      </p:sp>
      <p:sp>
        <p:nvSpPr>
          <p:cNvPr id="67" name="Text 64"/>
          <p:cNvSpPr/>
          <p:nvPr/>
        </p:nvSpPr>
        <p:spPr>
          <a:xfrm>
            <a:off x="1847088" y="5833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기간 종료 시 본사 잔여 비용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7052767" y="579729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F3F5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pPr algn="r" indent="0" marL="0">
              <a:buNone/>
            </a:pPr>
            <a:r>
              <a:rPr lang="en-US" sz="105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원</a:t>
            </a:r>
            <a:endParaRPr lang="en-US" sz="2300" dirty="0"/>
          </a:p>
        </p:txBody>
      </p:sp>
      <p:sp>
        <p:nvSpPr>
          <p:cNvPr id="69" name="Text 66"/>
          <p:cNvSpPr/>
          <p:nvPr/>
        </p:nvSpPr>
        <p:spPr>
          <a:xfrm>
            <a:off x="1847088" y="6126480"/>
            <a:ext cx="9777679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7A3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계약 시점 +500만원은 러너펍 공개 가맹 안내 기준 시뮬레이션이며 실제 조건은 본사 정책에 따릅니다.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내일사장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가맹 개설 영업 위임 제안 — 내일사장 → 러너펍</dc:title>
  <dc:subject>PptxGenJS Presentation</dc:subject>
  <dc:creator>내일사장</dc:creator>
  <cp:lastModifiedBy>내일사장</cp:lastModifiedBy>
  <cp:revision>1</cp:revision>
  <dcterms:created xsi:type="dcterms:W3CDTF">2026-07-27T18:37:36Z</dcterms:created>
  <dcterms:modified xsi:type="dcterms:W3CDTF">2026-07-27T18:37:36Z</dcterms:modified>
</cp:coreProperties>
</file>