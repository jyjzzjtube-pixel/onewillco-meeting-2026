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 내일사장, 수신 러너스튜디오(주)입니다. 저희는 창업 수요와 거래 데이터를 운영하는 플랫폼 사업자이고, 러너펍 가맹 개설 영업을 대행하겠다는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내일사장이 어떤 회사인지부터 말씀드립니다. 세종대 겸임교수진이 만든 창업 지원 플랫폼이고, 설립 취지가 소상공인 피해 예방입니다.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1,600억원 거래, 앱 10만 다운로드, 월 5만 명. 이 모수는 이번 제안 이전에 이미 있는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플랫폼이 실제로 하는 업무 여섯 가지입니다. 매물 인증, AI 상권분석, 손익분석, 생성형 브리핑, ERP 리드관리, 점포개발. 러너펍 상담에도 그대로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위임해 주시면 저희가 수행하는 업무 여섯 가지입니다. 본사는 자료 승인과 계약 체결만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수요, 브랜드, 자리 세 가지를 동시에 갖고 있습니다. 러너펍이 이 구조에 들어오면 세 방향에서 동시에 영업이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이미 완비되어 있습니다. 남은 변수는 창업자 접점 하나이고, 저희가 담당하는 구간이 정확히 거기입니다.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트랙을 동시에 돌립니다. 리브랜딩 트랙은 이미 운영 중인 점주라 의사결정이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전에는 본사가 내실 돈이 없습니다. 계약이 깨지면 성공보수도 전액 반환합니다.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네고는 저희 몫에서 부담합니다. 본사 수취액은 어떤 경우에도 1,500만원입니다.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본사가 가장 먼저 하실 계산이 500만원밖에 안 남는다는 것일 텐데, 그 500만원은 계약 시점에 이미 흑자라는 뜻입니다. 본체는 월 로열티입니다.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브랜드와 준법 책임은 전부 본사 기준을 따릅니다. 리드 귀속도 규칙을 먼저 정해두었습니다.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한 건으로 시작하시면 됩니다. 기준은 본사가 정하시고, 종료하셔도 남는 비용은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0559" y="457200"/>
            <a:ext cx="1664208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32927" y="113385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8332927" y="1298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 귀중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332927" y="149961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박경관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66928" y="457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7680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기반 창업 지원 플랫폼 · 발신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566928" y="187452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300" b="1" spc="-8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영업을</a:t>
            </a:r>
            <a:endParaRPr lang="en-US" sz="33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300" b="1" spc="-80" kern="0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모인 창업 수요</a:t>
            </a:r>
            <a:pPr indent="0" marL="0">
              <a:lnSpc>
                <a:spcPts val="4800"/>
              </a:lnSpc>
              <a:buNone/>
            </a:pPr>
            <a:r>
              <a:rPr lang="en-US" sz="3300" b="1" spc="-8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위에서</a:t>
            </a:r>
            <a:endParaRPr lang="en-US" sz="33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300" b="1" spc="-8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수행하겠습니다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566928" y="376732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매물·창업 수요·거래 데이터를 운영하는 플랫폼 사업자입니다. 러너펍 가맹 개설 영업을 위임해 주시면,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체결되고 가맹비 입금이 완료된 건에 한하여 성공보수를 청구합니다.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4626864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66928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2409901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409901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760" dirty="0"/>
          </a:p>
        </p:txBody>
      </p:sp>
      <p:sp>
        <p:nvSpPr>
          <p:cNvPr id="15" name="Text 12"/>
          <p:cNvSpPr/>
          <p:nvPr/>
        </p:nvSpPr>
        <p:spPr>
          <a:xfrm>
            <a:off x="4252874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 +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252874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760" dirty="0"/>
          </a:p>
        </p:txBody>
      </p:sp>
      <p:sp>
        <p:nvSpPr>
          <p:cNvPr id="17" name="Text 14"/>
          <p:cNvSpPr/>
          <p:nvPr/>
        </p:nvSpPr>
        <p:spPr>
          <a:xfrm>
            <a:off x="6095848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095848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760" dirty="0"/>
          </a:p>
        </p:txBody>
      </p:sp>
      <p:sp>
        <p:nvSpPr>
          <p:cNvPr id="19" name="Text 16"/>
          <p:cNvSpPr/>
          <p:nvPr/>
        </p:nvSpPr>
        <p:spPr>
          <a:xfrm>
            <a:off x="7938821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938821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9781794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781794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브랜드·파트너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566928" y="5358384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문건 성격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566928" y="5687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위임 제안 · 계약서 아님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480560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 담당</a:t>
            </a:r>
            <a:endParaRPr lang="en-US" sz="740" dirty="0"/>
          </a:p>
        </p:txBody>
      </p:sp>
      <p:sp>
        <p:nvSpPr>
          <p:cNvPr id="27" name="Text 24"/>
          <p:cNvSpPr/>
          <p:nvPr/>
        </p:nvSpPr>
        <p:spPr>
          <a:xfrm>
            <a:off x="4480560" y="56875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담당자명 · 연락처 · 이메일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9795967" y="5687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6928" y="6144768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6928" y="62362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10527487" y="62362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/ 13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P.02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회사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시장의 거래를 데이터로 바꾸는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188720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사업자입니다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47088" y="18470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소상공인이 무자격 컨설턴트의 불법·허위 중개로 피해를 입지 않도록, 검증된 창업 수요와 거래 데이터를 축적하는 것을 목표로 설립되었습니다.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847088" y="2487168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5511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3675888" y="2551176"/>
            <a:ext cx="79488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80720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8529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배경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3675888" y="2852928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겸임교수진이 설립. 무자격 창업 컨설턴트의 불법·허위 중개 피해 예방이 설립 취지입니다.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847088" y="33192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364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정의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3675888" y="3364992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기반 창업 지원 플랫폼. 매물·상권·손익 데이터를 분석해 창업 의사결정을 지원합니다.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1847088" y="383133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7088" y="3877056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채널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3675888" y="3877056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앱과 웹, 그리고 매물·리드를 관리하는 ERP를 직접 운영합니다.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1847088" y="43434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47088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 범위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75888" y="4389120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 양도양수 중개, 프랜차이즈 가맹 개설 영업, 점포개발까지 하나의 흐름으로 처리합니다.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1847088" y="4855464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49011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구조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3675888" y="4901184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80개+ 네트워크와 공인중개사 제휴망(리맥스코리아 등)을 동시에 운용합니다.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1847088" y="536752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누적 거래 규모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2300" dirty="0"/>
          </a:p>
        </p:txBody>
      </p:sp>
      <p:sp>
        <p:nvSpPr>
          <p:cNvPr id="46" name="Text 44"/>
          <p:cNvSpPr/>
          <p:nvPr/>
        </p:nvSpPr>
        <p:spPr>
          <a:xfrm>
            <a:off x="1847088" y="620877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지표는 내일사장 플랫폼 전체 누적 기준입니다.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P.03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실적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수요를 새로 만들지 않습니다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지표는 이번 제안 이전에 이미 확보된 값입니다. 러너펍은 모수를 만드는 비용과 시간을 지불하지 않아도 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847088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1847088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계약으로 연결된 거래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5106314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106314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106314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창업·양수 수요 상주 채널</a:t>
            </a:r>
            <a:endParaRPr lang="en-US" sz="740" dirty="0"/>
          </a:p>
        </p:txBody>
      </p:sp>
      <p:sp>
        <p:nvSpPr>
          <p:cNvPr id="30" name="Shape 28"/>
          <p:cNvSpPr/>
          <p:nvPr/>
        </p:nvSpPr>
        <p:spPr>
          <a:xfrm>
            <a:off x="4941722" y="2121408"/>
            <a:ext cx="7315" cy="1060704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5541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 +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365541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365541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MAU 기준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200949" y="2121408"/>
            <a:ext cx="7315" cy="1060704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847088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1847088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점포·상가 데이터베이스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5106314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5106314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5106314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→ 상담 → 검증 → 계약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4941722" y="3419856"/>
            <a:ext cx="7315" cy="1060704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65541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8365541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브랜드·파트너</a:t>
            </a:r>
            <a:endParaRPr lang="en-US" sz="860" dirty="0"/>
          </a:p>
        </p:txBody>
      </p:sp>
      <p:sp>
        <p:nvSpPr>
          <p:cNvPr id="44" name="Text 42"/>
          <p:cNvSpPr/>
          <p:nvPr/>
        </p:nvSpPr>
        <p:spPr>
          <a:xfrm>
            <a:off x="8365541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네트워크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8200949" y="3419856"/>
            <a:ext cx="7315" cy="1060704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47088" y="345643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47088" y="475488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8828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리드타임 단축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4133088" y="4937760"/>
            <a:ext cx="5852160" cy="155448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33088" y="4937760"/>
            <a:ext cx="3511296" cy="155448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95967" y="4846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algn="r" indent="0" marL="0">
              <a:buNone/>
            </a:pPr>
            <a:r>
              <a:rPr lang="en-US" sz="95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133088" y="5175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등록에서 계약까지 걸리는 기간의 플랫폼 누적 평균 단축률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300" dirty="0"/>
          </a:p>
        </p:txBody>
      </p:sp>
      <p:sp>
        <p:nvSpPr>
          <p:cNvPr id="56" name="Text 54"/>
          <p:cNvSpPr/>
          <p:nvPr/>
        </p:nvSpPr>
        <p:spPr>
          <a:xfrm>
            <a:off x="1847088" y="6208776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플랫폼 전체 누적 기준이며, 홀덤 업종 단독 실적이 아닙니다. 업종 경험을 대체하는 장치는 P.12에 정리했습니다.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P.04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플랫폼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플랫폼이 실제로 수행하는 업무입니다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매물을 올려두는 게시판이 아닙니다. 등록부터 계약까지 각 단계에 저희가 직접 개입하는 도구와 절차가 있습니다.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1975104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21284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1847088" y="2414016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 등록 · 인증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47088" y="2706624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동의 후 홈택스 3개월 평균 매출 데이터로 검증하고 인증 표기를 부여합니다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5106314" y="221284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5106314" y="2414016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106314" y="2706624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입지·유동·경쟁 점포를 분석해 보고서로 제시합니다</a:t>
            </a:r>
            <a:endParaRPr lang="en-US" sz="840" dirty="0"/>
          </a:p>
        </p:txBody>
      </p:sp>
      <p:sp>
        <p:nvSpPr>
          <p:cNvPr id="30" name="Shape 28"/>
          <p:cNvSpPr/>
          <p:nvPr/>
        </p:nvSpPr>
        <p:spPr>
          <a:xfrm>
            <a:off x="4923434" y="2176272"/>
            <a:ext cx="7315" cy="1005840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5541" y="221284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8365541" y="2414016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손익분석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365541" y="2706624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 조건·초기 투자금·자기자본 대비 P&amp;L을 산출합니다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8182661" y="2176272"/>
            <a:ext cx="7315" cy="1005840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35295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47088" y="37307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브리핑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847088" y="40233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 경쟁력 분석과 브리핑 문서를 자동 생성합니다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5106314" y="35295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5106314" y="37307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리드관리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106314" y="40233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상담부터 계약까지 파이프라인을 시스템에서 관리합니다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4923434" y="3493008"/>
            <a:ext cx="7315" cy="1005840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65541" y="35295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8365541" y="37307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· 중개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365541" y="40233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 제휴망을 통해 입점지를 물색·확보합니다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8182661" y="3493008"/>
            <a:ext cx="7315" cy="1005840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47088" y="3474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47088" y="479145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992624"/>
            <a:ext cx="97776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가지는 러너펍 가맹 상담에도 그대로 투입됩니다. 창업자가 결정을 미루는 이유는 대부분 정보 부족이고, 저희는 근거를 문서로 제시해 그 지연을 끊습니다.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→ 상담 → 검증 → 계약 · 단계별 도구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종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P.05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업무 범위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위임해 주시면 수행하는 업무입니다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운영부터 계약 주선, 점포개발까지 개설에 필요한 실무를 하나로 묶어 수행합니다.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2414016" y="20756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5065776" y="2075688"/>
            <a:ext cx="65589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내용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2414016" y="237744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인바운드 상담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5065776" y="237744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본사로 들어온 가맹 문의를 접수·응대하고 상담 단계까지 관리합니다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847088" y="27432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78892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2414016" y="278892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· 브리핑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65776" y="278892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상권분석과 손익분석 보고서를 근거로 창업 상담을 진행합니다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1847088" y="315468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20040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2414016" y="320040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5065776" y="320040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가맹영업팀을 운영하고 신규 창업자·기존 홀덤펍 두 트랙으로 영업합니다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1847088" y="356616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61188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2414016" y="361188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65776" y="361188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리드(DB) 확보를 위한 가맹 창업마케팅을 집행합니다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1847088" y="397764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47088" y="402336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20" dirty="0"/>
          </a:p>
        </p:txBody>
      </p:sp>
      <p:sp>
        <p:nvSpPr>
          <p:cNvPr id="45" name="Text 43"/>
          <p:cNvSpPr/>
          <p:nvPr/>
        </p:nvSpPr>
        <p:spPr>
          <a:xfrm>
            <a:off x="2414016" y="402336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920" dirty="0"/>
          </a:p>
        </p:txBody>
      </p:sp>
      <p:sp>
        <p:nvSpPr>
          <p:cNvPr id="46" name="Text 44"/>
          <p:cNvSpPr/>
          <p:nvPr/>
        </p:nvSpPr>
        <p:spPr>
          <a:xfrm>
            <a:off x="5065776" y="402336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체결까지 조건 협의와 클로징을 지원합니다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1847088" y="43891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43484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2414016" y="443484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65776" y="443484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상권조사·입지선정·부동산 정보 제공으로 개점 후보지를 확보합니다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1847088" y="48006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47088" y="50200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직접 하실 일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847088" y="5239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 · 가맹계약 체결 · 개설 승인</a:t>
            </a:r>
            <a:endParaRPr lang="en-US" sz="940" dirty="0"/>
          </a:p>
        </p:txBody>
      </p:sp>
      <p:sp>
        <p:nvSpPr>
          <p:cNvPr id="54" name="Text 52"/>
          <p:cNvSpPr/>
          <p:nvPr/>
        </p:nvSpPr>
        <p:spPr>
          <a:xfrm>
            <a:off x="7516368" y="50200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맡는 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516368" y="5239512"/>
            <a:ext cx="4108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앞단의 발굴 · 상담 · 설득 · 클로징 전 과정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시 본사가 추가로 채용해야 할 영업 인력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P.06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네트워크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브랜드망과 중개망을 동시에 운용합니다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수요만 있는 것이 아니라, 그 수요를 앉힐 자리와 연결할 브랜드가 함께 있습니다.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2954426" cy="25603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1847088" y="237744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· 업종 전환 희망자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47088" y="2834640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다운로드 · 월 5만 명 채널에서 창업 수요를 확보합니다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856378" y="23957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3CC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258714" y="2011680"/>
            <a:ext cx="2954426" cy="25603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8714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3E8B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5258714" y="237744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80개 +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58714" y="2834640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B2B 제휴 네트워크에서 조건에 맞는 브랜드를 매칭합니다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8268005" y="23957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3CC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670341" y="2011680"/>
            <a:ext cx="2954426" cy="2560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70341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8670341" y="2377440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 제휴망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70341" y="2834640"/>
            <a:ext cx="29544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리맥스코리아 등 중개망과 매물 10,000건 DB로 입점지를 확보합니다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847088" y="3767328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47088" y="389534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 구조에 들어오면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1847088" y="4224528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84832" y="4133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브랜드망에 러너펍 편입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5321808" y="4133088"/>
            <a:ext cx="6302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중인 창업자에게 러너펍을 후보 브랜드로 제시합니다. 별도 광고 없이 기존 상담 흐름에 편입됩니다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47088" y="4754880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84832" y="4663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중개망으로 입점지 확보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5321808" y="4663440"/>
            <a:ext cx="6302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홀덤펍 조건에 맞는 상가를 제휴 중개망에서 물색합니다. 입지가 확보된 상태로 창업자에게 제안합니다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47088" y="528523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84832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접촉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5321808" y="5193792"/>
            <a:ext cx="6302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매물·점주 데이터베이스에서 리브랜딩 대상을 발굴합니다. 이미 운영 중인 점주라 전환 결정이 빠릅니다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 · 파트너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P.07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진단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러너펍의 개설 인프라는 이미 완비되어 있습니다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앱이 예약부터 정산까지 운영을 표준화했고, 본사 검증 점포 추천과 가맹 절차 9단계로 계약에서 오픈까지 4~6주가 확보되어 있습니다.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48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갖춰진 것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847088" y="2267712"/>
            <a:ext cx="5989320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4323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— 예약·회원관리·정산·토너먼트·포스터생성·핸디랭킹·음료주문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847088" y="277977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8895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— 상담 → 추천 → 물색 → 확인 → 개점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1847088" y="323697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088" y="33467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체계 — 불법 요소 배제 기준과 정기 점검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847088" y="369417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8039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 → 오픈 4~6주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847088" y="415137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426110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이벤트 — 래빗 페스티벌 · 시즌 랭킹전 · 매장 간 콜라보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1847088" y="460857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39328" y="2048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변수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339328" y="2267712"/>
            <a:ext cx="3285439" cy="1097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39328" y="2432304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39328" y="2779776"/>
            <a:ext cx="32854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이전 구간의 접점 총량입니다. 개설 이후를 받쳐 주는 구조는 이미 자리 잡았고, 출점 속도를 결정하는 변수는 창업자 접점 하나로 좁혀집니다.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39328" y="358444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담당하는 구간이 정확히 여기입니다.</a:t>
            </a:r>
            <a:endParaRPr lang="en-US" sz="940" dirty="0"/>
          </a:p>
        </p:txBody>
      </p:sp>
      <p:pic>
        <p:nvPicPr>
          <p:cNvPr id="40" name="Image 0" descr="/home/user/onewillco-meeting-2026/runnerpub-proposal/assets/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4041648"/>
            <a:ext cx="1481328" cy="151790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0076688" y="4206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리뉴얼 후 플랫폼 서비스 이용자</a:t>
            </a:r>
            <a:endParaRPr lang="en-US" sz="760" dirty="0"/>
          </a:p>
        </p:txBody>
      </p:sp>
      <p:sp>
        <p:nvSpPr>
          <p:cNvPr id="42" name="Text 39"/>
          <p:cNvSpPr/>
          <p:nvPr/>
        </p:nvSpPr>
        <p:spPr>
          <a:xfrm>
            <a:off x="10076688" y="4535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pPr indent="0" marL="0">
              <a:buNone/>
            </a:pPr>
            <a:r>
              <a:rPr lang="en-US" sz="10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배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10076688" y="49377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화면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 항목 · 계약 → 오픈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· 4~6주</a:t>
            </a:r>
            <a:endParaRPr lang="en-US" sz="2300" dirty="0"/>
          </a:p>
        </p:txBody>
      </p:sp>
      <p:sp>
        <p:nvSpPr>
          <p:cNvPr id="47" name="Text 44"/>
          <p:cNvSpPr/>
          <p:nvPr/>
        </p:nvSpPr>
        <p:spPr>
          <a:xfrm>
            <a:off x="1847088" y="620877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러너러너 앱 운영사는 (주)러너소프트로 러너스튜디오(주)와 별개 법인입니다. 이용자 1.5배 증가는 IT비즈뉴스 2024.7.4 보도 기준.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P.08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실행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2트랙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창업자와 기존 홀덤펍, 두 트랙을 동시에 엽니다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수요만 기다리지 않습니다. 이미 운영 중인 점주를 전환시키는 경로를 함께 가동해 계약 속도를 높입니다.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4669384" cy="25603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139696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4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847088" y="2359152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847088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990088" y="2816352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유입 창업 수요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1847088" y="3145536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088" y="3255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990088" y="3255264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상권·손익 브리핑 → 계약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1847088" y="3584448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36941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특성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2990088" y="3694176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 기반 · 검토 기간 필요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47088" y="4023360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41330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소구점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2990088" y="4133088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전액 할인 · 4~6주 오픈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1847088" y="4462272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5384" y="2011680"/>
            <a:ext cx="4669384" cy="2560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55384" y="2139696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4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955384" y="2359152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55384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8098384" y="2816352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전환 대상 점주</a:t>
            </a:r>
            <a:endParaRPr lang="en-US" sz="940" dirty="0"/>
          </a:p>
        </p:txBody>
      </p:sp>
      <p:sp>
        <p:nvSpPr>
          <p:cNvPr id="43" name="Shape 41"/>
          <p:cNvSpPr/>
          <p:nvPr/>
        </p:nvSpPr>
        <p:spPr>
          <a:xfrm>
            <a:off x="6955384" y="3145536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55384" y="3255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8098384" y="3255264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상담 → 계약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6955384" y="3584448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55384" y="36941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특성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8098384" y="3694176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→ 오픈 기간 그대로 활용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6955384" y="4023360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55384" y="41330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소구점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8098384" y="4133088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입점 · 예약·노쇼 관리 효과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6955384" y="4462272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47088" y="4700016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4809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운영 약속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1847088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029968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담당자 지정</a:t>
            </a:r>
            <a:endParaRPr lang="en-US" sz="840" dirty="0"/>
          </a:p>
        </p:txBody>
      </p:sp>
      <p:sp>
        <p:nvSpPr>
          <p:cNvPr id="57" name="Shape 55"/>
          <p:cNvSpPr/>
          <p:nvPr/>
        </p:nvSpPr>
        <p:spPr>
          <a:xfrm>
            <a:off x="3802624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85504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 브랜드 동시 수임 제한</a:t>
            </a:r>
            <a:endParaRPr lang="en-US" sz="840" dirty="0"/>
          </a:p>
        </p:txBody>
      </p:sp>
      <p:sp>
        <p:nvSpPr>
          <p:cNvPr id="59" name="Shape 57"/>
          <p:cNvSpPr/>
          <p:nvPr/>
        </p:nvSpPr>
        <p:spPr>
          <a:xfrm>
            <a:off x="5758160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1040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활동 리포트</a:t>
            </a:r>
            <a:endParaRPr lang="en-US" sz="840" dirty="0"/>
          </a:p>
        </p:txBody>
      </p:sp>
      <p:sp>
        <p:nvSpPr>
          <p:cNvPr id="61" name="Shape 59"/>
          <p:cNvSpPr/>
          <p:nvPr/>
        </p:nvSpPr>
        <p:spPr>
          <a:xfrm>
            <a:off x="7713696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6576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가맹점 영업권 보호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9669231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52111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미종료 점주 권유 금지</a:t>
            </a:r>
            <a:endParaRPr lang="en-US" sz="840" dirty="0"/>
          </a:p>
        </p:txBody>
      </p:sp>
      <p:sp>
        <p:nvSpPr>
          <p:cNvPr id="65" name="Shape 63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→ 오픈 · 보고 주기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4~6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주 · 주 단위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P.09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조건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착수금도 월 고정비도 광고비도 청구하지 않습니다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청구는 가맹계약이 체결되고 가맹비 입금이 확인된 뒤에만 발생합니다. 그 이전 구간에서 본사가 부담하는 현금은 0원입니다.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4041648" y="2075688"/>
            <a:ext cx="52971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9338767" y="20756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4041648" y="2377440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283903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1847088" y="277063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041648" y="2816352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9283903" y="28163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847088" y="3209544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2552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041648" y="3255264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 (LSM 집행은 P.10 기준)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9283903" y="32552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1847088" y="364845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6941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4041648" y="3694176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283903" y="36941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 만원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847088" y="4087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88" y="4443984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47088" y="45902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시점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4133088" y="4590288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입금 확인 후 본사가 정하는 지급일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1847088" y="49194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9743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해제 · 환불 시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4133088" y="4974336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전 가맹계약이 해제되거나 가맹비 환불이 발생하면 해당 건 성공보수를 전액 반환합니다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1847088" y="53035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47088" y="5358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880" dirty="0"/>
          </a:p>
        </p:txBody>
      </p:sp>
      <p:sp>
        <p:nvSpPr>
          <p:cNvPr id="52" name="Text 50"/>
          <p:cNvSpPr/>
          <p:nvPr/>
        </p:nvSpPr>
        <p:spPr>
          <a:xfrm>
            <a:off x="4133088" y="5358384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상담·분석·브리핑에 들어간 비용은 전부 내일사장이 부담하며 본사에 청구하지 않습니다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1847088" y="56875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6208776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부가가치세 별도입니다.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· 입금 완료 전 본사 부담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원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P.10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조건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창업자가 깎은 금액은 전액 내일사장 몫에서 차감합니다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네고가 어디까지 진행되든 본사 수취액은 가맹비 1,500만원 그대로입니다. 줄어드는 구간은 내일사장 성공보수 하나입니다.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4590288" y="20756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수취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699248" y="2075688"/>
            <a:ext cx="39255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성공보수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없음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4535424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7644384" y="2377440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(1,000)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1847088" y="273405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7797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발생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535424" y="2779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7644384" y="2779776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(1,000 − 할인액)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847088" y="313639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18211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최대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535424" y="31821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7644384" y="3182112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1847088" y="353872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7124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847088" y="3913632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47088" y="39776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수취 구간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5413248" y="3977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주체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7516368" y="3977640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847088" y="42336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47088" y="427939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413248" y="4279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16368" y="4279392"/>
            <a:ext cx="4016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수취액 중 200만원을 해당 매장 LSM 광고비로 집행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47088" y="4617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7088" y="46634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663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16368" y="4663440"/>
            <a:ext cx="4016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 200만원 기준으로 협의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47088" y="50017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50474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413248" y="50474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16368" y="5047488"/>
            <a:ext cx="4016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주체와 금액을 양사 협의로 결정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47088" y="538581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47088" y="56235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1847088" y="5952744"/>
            <a:ext cx="73152" cy="73152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48256" y="5861304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진행할 수 있으며, 본사 지정 스펙과 감리 승인 범위 안에서 수행합니다</a:t>
            </a:r>
            <a:endParaRPr lang="en-US" sz="860" dirty="0"/>
          </a:p>
        </p:txBody>
      </p:sp>
      <p:sp>
        <p:nvSpPr>
          <p:cNvPr id="61" name="Shape 59"/>
          <p:cNvSpPr/>
          <p:nvPr/>
        </p:nvSpPr>
        <p:spPr>
          <a:xfrm>
            <a:off x="5106314" y="5952744"/>
            <a:ext cx="73152" cy="73152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07482" y="5861304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참여 여부는 가맹 조건에 영향을 주지 않습니다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8365541" y="5952744"/>
            <a:ext cx="73152" cy="73152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566709" y="5861304"/>
            <a:ext cx="28934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수익 분배는 착수 전 별도 합의합니다</a:t>
            </a:r>
            <a:endParaRPr lang="en-US" sz="860" dirty="0"/>
          </a:p>
        </p:txBody>
      </p:sp>
      <p:sp>
        <p:nvSpPr>
          <p:cNvPr id="65" name="Shape 63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여하에 불구 본사 수취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 불변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수지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안에서 정산하므로, 계약 시점에 이미 흑자입니다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본사가 추가로 편성하는 예산이 아닙니다. 가맹비 범위 안에서 처리되고, 이후 월 로열티는 전액 순증으로 쌓입니다.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47088" y="23408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4315968" y="23408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</a:t>
            </a:r>
            <a:pPr algn="r"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847088" y="2670048"/>
            <a:ext cx="411480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940" dirty="0"/>
          </a:p>
        </p:txBody>
      </p:sp>
      <p:sp>
        <p:nvSpPr>
          <p:cNvPr id="28" name="Text 26"/>
          <p:cNvSpPr/>
          <p:nvPr/>
        </p:nvSpPr>
        <p:spPr>
          <a:xfrm>
            <a:off x="4315968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</a:t>
            </a:r>
            <a:pPr algn="r"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847088" y="3072384"/>
            <a:ext cx="411480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7088" y="3218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순수익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4041648" y="31821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algn="r" indent="0" marL="0">
              <a:buNone/>
            </a:pPr>
            <a:r>
              <a:rPr lang="en-US" sz="94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1847088" y="3602736"/>
            <a:ext cx="4114800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37307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성공보수를 지급하고도 계약 즉시 흑자입니다. 본사가 별도 예산을 편성할 필요가 없습니다.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1847088" y="4315968"/>
            <a:ext cx="4114800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4443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성공보수의 성격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1847088" y="47000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1회성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3310128" y="470001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1건에 한 번만 발생합니다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1847088" y="50840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내 정산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3310128" y="50840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예산 편성이 필요하지 않습니다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1847088" y="54681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로열티는 순증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3310128" y="54681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150만원은 전액 본사 수익으로 남습니다</a:t>
            </a:r>
            <a:endParaRPr lang="en-US" sz="860" dirty="0"/>
          </a:p>
        </p:txBody>
      </p:sp>
      <p:sp>
        <p:nvSpPr>
          <p:cNvPr id="42" name="Text 40"/>
          <p:cNvSpPr/>
          <p:nvPr/>
        </p:nvSpPr>
        <p:spPr>
          <a:xfrm>
            <a:off x="6601968" y="2048256"/>
            <a:ext cx="50227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누적 본사 수익 · 월 로열티 150만원 반영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60196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90688" y="2432304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90688" y="2432304"/>
            <a:ext cx="16993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87407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601968" y="2852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790688" y="2907792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790688" y="2907792"/>
            <a:ext cx="78171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887407" y="2852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601968" y="33284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90688" y="3383280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90688" y="3383280"/>
            <a:ext cx="139349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87407" y="33284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601968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90688" y="3858768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90688" y="3858768"/>
            <a:ext cx="2005279" cy="164592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887407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601968" y="4315968"/>
            <a:ext cx="502279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01968" y="4443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6601968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840" dirty="0"/>
          </a:p>
        </p:txBody>
      </p:sp>
      <p:sp>
        <p:nvSpPr>
          <p:cNvPr id="62" name="Text 60"/>
          <p:cNvSpPr/>
          <p:nvPr/>
        </p:nvSpPr>
        <p:spPr>
          <a:xfrm>
            <a:off x="6601968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8276234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8276234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950501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840" dirty="0"/>
          </a:p>
        </p:txBody>
      </p:sp>
      <p:sp>
        <p:nvSpPr>
          <p:cNvPr id="66" name="Text 64"/>
          <p:cNvSpPr/>
          <p:nvPr/>
        </p:nvSpPr>
        <p:spPr>
          <a:xfrm>
            <a:off x="9950501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 · 36개월 누적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2300" dirty="0"/>
          </a:p>
        </p:txBody>
      </p:sp>
      <p:sp>
        <p:nvSpPr>
          <p:cNvPr id="70" name="Text 68"/>
          <p:cNvSpPr/>
          <p:nvPr/>
        </p:nvSpPr>
        <p:spPr>
          <a:xfrm>
            <a:off x="1847088" y="6208776"/>
            <a:ext cx="977767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기준(가맹비 1,500만원 / 월 로열티 150만원·부가세 별도) 시뮬레이션이며, 실제 조건은 본사 정책에 따릅니다. 폐점·중도해지는 반영하지 않았습니다.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통제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· 귀속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브랜드와 준법 책임은 본사 기준을 그대로 적용합니다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정보제공 책임이 본사에 귀속되는 항목은 본사가 직접 수행하고, 내일사장은 보조 범위 안에서만 움직입니다.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29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847088" y="2249424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29514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4315968" y="2295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제공, 내일사장은 전달·설명 보조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1847088" y="2633472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679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숙려기간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315968" y="2679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전 숙려기간 준수, 기간 단축 유도 금지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1847088" y="3017520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0632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진술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4315968" y="30632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예상매출·수익 구두 약속 금지, 본사 승인 문구만 사용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847088" y="3401568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7088" y="34472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광고·상담 스크립트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4315968" y="3447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1847088" y="3785616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47088" y="38313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4315968" y="3831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중단, 성공보수 미청구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1847088" y="4169664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82128" y="2029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 귀속 규칙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82128" y="2249424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82128" y="229514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귀속 기준 시점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9253728" y="2295144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ERP에 등록하고 본사에 통보한 시점</a:t>
            </a:r>
            <a:endParaRPr lang="en-US" sz="860" dirty="0"/>
          </a:p>
        </p:txBody>
      </p:sp>
      <p:sp>
        <p:nvSpPr>
          <p:cNvPr id="44" name="Shape 42"/>
          <p:cNvSpPr/>
          <p:nvPr/>
        </p:nvSpPr>
        <p:spPr>
          <a:xfrm>
            <a:off x="7882128" y="2633472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82128" y="26791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선등록 우선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9253728" y="2679192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DB에 이미 있는 건은 본사 귀속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7882128" y="3017520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82128" y="30632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귀속 유효기간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9253728" y="3063240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기간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7882128" y="3401568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82128" y="3447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이견 처리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9253728" y="3447288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수령 후 이의제기, 최종 판정은 본사 자료 기준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7882128" y="3785616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47088" y="4315968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47088" y="44439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경험을 대체하는 장치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847088" y="46817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60" dirty="0"/>
          </a:p>
        </p:txBody>
      </p:sp>
      <p:sp>
        <p:nvSpPr>
          <p:cNvPr id="57" name="Text 55"/>
          <p:cNvSpPr/>
          <p:nvPr/>
        </p:nvSpPr>
        <p:spPr>
          <a:xfrm>
            <a:off x="2249424" y="4681728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 트랙은 이미 업을 운영 중인 점주가 대상이므로 업종 지식 부담이 낮습니다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6918808" y="46817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60" dirty="0"/>
          </a:p>
        </p:txBody>
      </p:sp>
      <p:sp>
        <p:nvSpPr>
          <p:cNvPr id="59" name="Text 57"/>
          <p:cNvSpPr/>
          <p:nvPr/>
        </p:nvSpPr>
        <p:spPr>
          <a:xfrm>
            <a:off x="7321144" y="4681728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입지·손익·계약 절차는 업종에 무관하게 반복되는 영역입니다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1847088" y="50657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60" dirty="0"/>
          </a:p>
        </p:txBody>
      </p:sp>
      <p:sp>
        <p:nvSpPr>
          <p:cNvPr id="61" name="Text 59"/>
          <p:cNvSpPr/>
          <p:nvPr/>
        </p:nvSpPr>
        <p:spPr>
          <a:xfrm>
            <a:off x="2249424" y="5065776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개시 전 본사 교육 과정을 이수한 뒤 착수합니다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6918808" y="50657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60" dirty="0"/>
          </a:p>
        </p:txBody>
      </p:sp>
      <p:sp>
        <p:nvSpPr>
          <p:cNvPr id="63" name="Text 61"/>
          <p:cNvSpPr/>
          <p:nvPr/>
        </p:nvSpPr>
        <p:spPr>
          <a:xfrm>
            <a:off x="7321144" y="5065776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구간은 본사 동석 파일럿으로 진행하고, 건수·기간은 본사가 정합니다</a:t>
            </a:r>
            <a:endParaRPr lang="en-US" sz="880" dirty="0"/>
          </a:p>
        </p:txBody>
      </p:sp>
      <p:sp>
        <p:nvSpPr>
          <p:cNvPr id="64" name="Shape 62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위반 확인 시 · 해당 건 성공보수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미청구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68580"/>
          </a:xfrm>
          <a:prstGeom prst="rect">
            <a:avLst/>
          </a:prstGeom>
          <a:solidFill>
            <a:srgbClr val="F3F5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P.13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CLOSE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한 건으로 검증 기준을 먼저 정하시면 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기간과 판단 지표를 본사가 정하시고, 그 기준으로 첫 구간을 평가하시면 됩니다. 기간이 끝나면 연장 또는 종료를 본사가 단독으로 결정하며, 종료 시 본사에 남는 비용은 없습니다.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121408"/>
            <a:ext cx="6309360" cy="10973"/>
          </a:xfrm>
          <a:prstGeom prst="rect">
            <a:avLst/>
          </a:prstGeom>
          <a:solidFill>
            <a:srgbClr val="F3F5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249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950208" y="2249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기간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847088" y="2578608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50208" y="26700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가맹계약 체결 건수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847088" y="2999232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7088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50208" y="3090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지표와 단계별 파이프라인 포함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847088" y="3419856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3511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구간 운영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50208" y="3511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동석 파일럿으로 진행, 건수·기간은 본사 지정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1847088" y="3840480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50208" y="3931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종료를 본사가 단독 결정, 잔여 비용 없음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1847088" y="4261104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13648" y="2121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613648" y="2487168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39572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 보유 — 창업 수요를 새로 만들지 않습니다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8613648" y="2962656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51392" y="287121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완비 — 상권·손익·브리핑·ERP·점포개발 직접 운영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8613648" y="3438144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51392" y="334670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전 비용 — 착수금·월 고정비·광고비 없음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8613648" y="3913632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51392" y="3822192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+500만원 — 회수 대기 기간 없음</a:t>
            </a:r>
            <a:endParaRPr lang="en-US" sz="880" dirty="0"/>
          </a:p>
        </p:txBody>
      </p:sp>
      <p:pic>
        <p:nvPicPr>
          <p:cNvPr id="48" name="Image 0" descr="/home/user/onewillco-meeting-2026/runnerpub-proposal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4498848"/>
            <a:ext cx="1417320" cy="466344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8613648" y="5065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8613648" y="52303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 귀중 · 대표 박경관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8613648" y="5431536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강남구 삼성로100길 12 제이타워 B2</a:t>
            </a:r>
            <a:endParaRPr lang="en-US" sz="740" dirty="0"/>
          </a:p>
        </p:txBody>
      </p:sp>
      <p:sp>
        <p:nvSpPr>
          <p:cNvPr id="52" name="Text 49"/>
          <p:cNvSpPr/>
          <p:nvPr/>
        </p:nvSpPr>
        <p:spPr>
          <a:xfrm>
            <a:off x="1847088" y="5065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1847088" y="52303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— 생성형 AI 기반 창업 지원 플랫폼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1847088" y="54315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담당자명 · 연락처 · 이메일</a:t>
            </a:r>
            <a:endParaRPr lang="en-US" sz="760" dirty="0"/>
          </a:p>
        </p:txBody>
      </p:sp>
      <p:sp>
        <p:nvSpPr>
          <p:cNvPr id="55" name="Shape 52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 종료 시 본사 잔여 비용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원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가맹 개설 영업 위임 제안 — 내일사장 → 러너펍</dc:title>
  <dc:subject>PptxGenJS Presentation</dc:subject>
  <dc:creator>내일사장</dc:creator>
  <cp:lastModifiedBy>내일사장</cp:lastModifiedBy>
  <cp:revision>1</cp:revision>
  <dcterms:created xsi:type="dcterms:W3CDTF">2026-07-27T02:05:47Z</dcterms:created>
  <dcterms:modified xsi:type="dcterms:W3CDTF">2026-07-27T02:05:47Z</dcterms:modified>
</cp:coreProperties>
</file>