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발신은 주식회사 내일사장입니다. 가맹 개설 영업을 전면 위임받겠다는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러너펍은 개설 이후 구조가 완비돼 있습니다. 남은 한 가지가 계약 가능한 창업자 모수입니다.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모수를 새로 만드실 필요가 없습니다. 이 값은 이번 제안 이전에 확보돼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설립 이후 프랜차이즈 본사를 상대로 쌓아 온 이력입니다.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가맹 개설을 본사에서 직접 해 본 사람들이 만든 회사입니다.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플랫폼 지표가 아니라 가맹을 판 실적입니다.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러너펍에 필요한 창업 수요는 이 제휴망 안에서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창업자가 결정을 미루는 자리마다 근거 문서를 내놓습니다.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본사는 승인만 하시면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대안과 나란히 놓아야 위임이 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청구는 계약이 체결되고 가맹비 입금이 확인된 뒤에만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 시점에 이미 흑자입니다.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준법은 사람이 아니라 시스템이 강제합니다.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숨기지 않고 먼저 말씀드립니다. 검증 방법은 본사가 정하십니다.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가지만 정해 주시면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image" Target="../media/image-12-3.png"/><Relationship Id="rId7" Type="http://schemas.openxmlformats.org/officeDocument/2006/relationships/image" Target="../media/image-12-3.png"/><Relationship Id="rId8" Type="http://schemas.openxmlformats.org/officeDocument/2006/relationships/image" Target="../media/image-12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358384"/>
          </a:xfrm>
          <a:prstGeom prst="rect">
            <a:avLst/>
          </a:prstGeom>
        </p:spPr>
      </p:pic>
      <p:pic>
        <p:nvPicPr>
          <p:cNvPr id="3" name="Image 1" descr="/home/user/onewillco-meeting-2026/runnerpub-proposal/assets/gr_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8384"/>
            <a:ext cx="12191695" cy="14996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859536"/>
            <a:ext cx="6217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b="1" spc="2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개설 영업 전면 위임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85800" y="1225296"/>
            <a:ext cx="1463040" cy="27432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6" name="Text 2"/>
          <p:cNvSpPr/>
          <p:nvPr/>
        </p:nvSpPr>
        <p:spPr>
          <a:xfrm>
            <a:off x="685800" y="1444752"/>
            <a:ext cx="621792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가맹영업대행 제안서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85800" y="2304288"/>
            <a:ext cx="62179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갖춘 개설 구조에 내일사장이 확보한 창업 수요를 붙입니다.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성사된 건에만 비용이 발생하며, 파일럿으로 검증받고 시작합니다.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85800" y="2926080"/>
            <a:ext cx="62179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9" name="Text 5"/>
          <p:cNvSpPr/>
          <p:nvPr/>
        </p:nvSpPr>
        <p:spPr>
          <a:xfrm>
            <a:off x="685800" y="3035808"/>
            <a:ext cx="6217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1건당 성공보수 (VAT 별도)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3310128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4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pPr indent="0" marL="0">
              <a:buNone/>
            </a:pPr>
            <a:r>
              <a:rPr lang="en-US" sz="16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만원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685800" y="411480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1,500만원 − 성공보수 1,000만원 = 계약 시점 본사 순수취 +500만원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4645152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계약 체결 및 가맹비 입금 완료 건에만 청구하며, 착수금 · 월 고정비 · 광고비 없음 (러너펍 공개 가맹 안내 기준)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269480" y="1513508"/>
            <a:ext cx="4236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40"/>
              </a:lnSpc>
              <a:buNone/>
            </a:pPr>
            <a:r>
              <a:rPr lang="en-US" sz="1000" b="1" spc="14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대상 업종  ·  RUNNER PUB 홀덤 라운지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69480" y="1879268"/>
            <a:ext cx="4236415" cy="2313080"/>
          </a:xfrm>
          <a:prstGeom prst="roundRect">
            <a:avLst>
              <a:gd name="adj" fmla="val 2372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15" name="Image 2" descr="/home/user/onewillco-meeting-2026/runnerpub-proposal/assets/p11_p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53588"/>
            <a:ext cx="3687775" cy="15449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3790012"/>
            <a:ext cx="387065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대상 매장 구성 · 홀덤 테이블 · 바 · 라운지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85800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확보된 창업 수요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85800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10만 · 예비창업자 DB 5,114명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62808" y="5614416"/>
            <a:ext cx="9144" cy="402336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sp>
        <p:nvSpPr>
          <p:cNvPr id="20" name="Text 15"/>
          <p:cNvSpPr/>
          <p:nvPr/>
        </p:nvSpPr>
        <p:spPr>
          <a:xfrm>
            <a:off x="3390824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 범위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390824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발굴부터 클로징까지 전 과정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967832" y="5614416"/>
            <a:ext cx="9144" cy="402336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sp>
        <p:nvSpPr>
          <p:cNvPr id="23" name="Text 18"/>
          <p:cNvSpPr/>
          <p:nvPr/>
        </p:nvSpPr>
        <p:spPr>
          <a:xfrm>
            <a:off x="6095848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095848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성사 건에만 1,000만원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672855" y="5614416"/>
            <a:ext cx="9144" cy="402336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sp>
        <p:nvSpPr>
          <p:cNvPr id="26" name="Text 21"/>
          <p:cNvSpPr/>
          <p:nvPr/>
        </p:nvSpPr>
        <p:spPr>
          <a:xfrm>
            <a:off x="8800871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방식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800871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기간 · 건수 본사 결정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5800" y="6126480"/>
            <a:ext cx="10820095" cy="9144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pic>
        <p:nvPicPr>
          <p:cNvPr id="29" name="Image 3" descr="/home/user/onewillco-meeting-2026/runnerpub-proposal/assets/ns_logo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309370"/>
            <a:ext cx="1237578" cy="274300"/>
          </a:xfrm>
          <a:prstGeom prst="rect">
            <a:avLst/>
          </a:prstGeom>
        </p:spPr>
      </p:pic>
      <p:pic>
        <p:nvPicPr>
          <p:cNvPr id="30" name="Image 4" descr="/home/user/onewillco-meeting-2026/runnerpub-proposal/assets/ic_arrow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2834" y="6336792"/>
            <a:ext cx="219456" cy="219456"/>
          </a:xfrm>
          <a:prstGeom prst="rect">
            <a:avLst/>
          </a:prstGeom>
        </p:spPr>
      </p:pic>
      <p:pic>
        <p:nvPicPr>
          <p:cNvPr id="31" name="Image 5" descr="/home/user/onewillco-meeting-2026/runnerpub-proposal/assets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746" y="6279559"/>
            <a:ext cx="1016607" cy="3339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19495" y="62179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 러너스튜디오(주) 귀중 · 대표 박경관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019495" y="643737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 지용관 본부장 · 010-3629-7778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nel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0"/>
            <a:ext cx="5516575" cy="5605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0"/>
            <a:ext cx="9144" cy="5605272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" name="Shape 1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Fit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85800" y="1263701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갖춘 것과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채우는 것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1" name="Text 7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2" name="Text 8"/>
          <p:cNvSpPr/>
          <p:nvPr/>
        </p:nvSpPr>
        <p:spPr>
          <a:xfrm>
            <a:off x="1005840" y="2359152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이미 갖춘 것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2659075"/>
            <a:ext cx="556869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4" name="Shape 10"/>
          <p:cNvSpPr/>
          <p:nvPr/>
        </p:nvSpPr>
        <p:spPr>
          <a:xfrm>
            <a:off x="685800" y="2916936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5" name="Text 11"/>
          <p:cNvSpPr/>
          <p:nvPr/>
        </p:nvSpPr>
        <p:spPr>
          <a:xfrm>
            <a:off x="685800" y="291693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978408" y="2871216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 (예약 · 회원관리 · 정산 · 토너먼트)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8" name="Text 14"/>
          <p:cNvSpPr/>
          <p:nvPr/>
        </p:nvSpPr>
        <p:spPr>
          <a:xfrm>
            <a:off x="685800" y="33375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978408" y="3291840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검증 점포 추천 체계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85800" y="3758184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1" name="Text 17"/>
          <p:cNvSpPr/>
          <p:nvPr/>
        </p:nvSpPr>
        <p:spPr>
          <a:xfrm>
            <a:off x="685800" y="375818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978408" y="3712464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운영 기준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5800" y="4178808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Text 20"/>
          <p:cNvSpPr/>
          <p:nvPr/>
        </p:nvSpPr>
        <p:spPr>
          <a:xfrm>
            <a:off x="685800" y="417880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978408" y="4133088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절차 9단계 · 계약에서 오픈까지 4~6주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85800" y="4599432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7" name="Text 23"/>
          <p:cNvSpPr/>
          <p:nvPr/>
        </p:nvSpPr>
        <p:spPr>
          <a:xfrm>
            <a:off x="685800" y="45994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8" name="Text 24"/>
          <p:cNvSpPr/>
          <p:nvPr/>
        </p:nvSpPr>
        <p:spPr>
          <a:xfrm>
            <a:off x="978408" y="4553712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래빗 페스티벌 · 시즌 랭킹전 · 매장 간 콜라보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85800" y="5020056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0" name="Text 26"/>
          <p:cNvSpPr/>
          <p:nvPr/>
        </p:nvSpPr>
        <p:spPr>
          <a:xfrm>
            <a:off x="685800" y="50200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31" name="Text 27"/>
          <p:cNvSpPr/>
          <p:nvPr/>
        </p:nvSpPr>
        <p:spPr>
          <a:xfrm>
            <a:off x="978408" y="4974336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리뉴얼 후 플랫폼 이용자 1.5배 증가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85800" y="5321808"/>
            <a:ext cx="5568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: IT비즈뉴스(2024.7.4) · 앱 리뉴얼 후 플랫폼 이용자 증가분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09574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4" name="Text 30"/>
          <p:cNvSpPr/>
          <p:nvPr/>
        </p:nvSpPr>
        <p:spPr>
          <a:xfrm>
            <a:off x="709574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5" name="Text 31"/>
          <p:cNvSpPr/>
          <p:nvPr/>
        </p:nvSpPr>
        <p:spPr>
          <a:xfrm>
            <a:off x="7415784" y="2359152"/>
            <a:ext cx="403524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한 가지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7095744" y="2659075"/>
            <a:ext cx="441015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3"/>
          <p:cNvSpPr/>
          <p:nvPr/>
        </p:nvSpPr>
        <p:spPr>
          <a:xfrm>
            <a:off x="7260336" y="2816352"/>
            <a:ext cx="4245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가능한 창업자 모수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260336" y="3145536"/>
            <a:ext cx="4080967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속도를 결정하는 계약 이전 구간의 접점 총량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7214616" y="3803904"/>
            <a:ext cx="18288" cy="1115568"/>
          </a:xfrm>
          <a:prstGeom prst="rect">
            <a:avLst/>
          </a:prstGeom>
          <a:solidFill>
            <a:srgbClr val="A8C0F8"/>
          </a:solidFill>
          <a:ln>
            <a:noFill/>
          </a:ln>
        </p:spPr>
      </p:sp>
      <p:sp>
        <p:nvSpPr>
          <p:cNvPr id="40" name="Shape 36"/>
          <p:cNvSpPr/>
          <p:nvPr/>
        </p:nvSpPr>
        <p:spPr>
          <a:xfrm>
            <a:off x="7095744" y="3712464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1" name="Text 37"/>
          <p:cNvSpPr/>
          <p:nvPr/>
        </p:nvSpPr>
        <p:spPr>
          <a:xfrm>
            <a:off x="7095744" y="37124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40" dirty="0"/>
          </a:p>
        </p:txBody>
      </p:sp>
      <p:sp>
        <p:nvSpPr>
          <p:cNvPr id="42" name="Text 38"/>
          <p:cNvSpPr/>
          <p:nvPr/>
        </p:nvSpPr>
        <p:spPr>
          <a:xfrm>
            <a:off x="7461504" y="3675888"/>
            <a:ext cx="40443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7461504" y="3886200"/>
            <a:ext cx="4044391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수요가 상주하는 플랫폼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7095744" y="4224528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5" name="Text 41"/>
          <p:cNvSpPr/>
          <p:nvPr/>
        </p:nvSpPr>
        <p:spPr>
          <a:xfrm>
            <a:off x="7095744" y="42245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40" dirty="0"/>
          </a:p>
        </p:txBody>
      </p:sp>
      <p:sp>
        <p:nvSpPr>
          <p:cNvPr id="46" name="Text 42"/>
          <p:cNvSpPr/>
          <p:nvPr/>
        </p:nvSpPr>
        <p:spPr>
          <a:xfrm>
            <a:off x="7461504" y="4187952"/>
            <a:ext cx="40443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461504" y="4398264"/>
            <a:ext cx="4044391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DB 5,114명 · 상담 기록 499건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7095744" y="4736592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9" name="Text 45"/>
          <p:cNvSpPr/>
          <p:nvPr/>
        </p:nvSpPr>
        <p:spPr>
          <a:xfrm>
            <a:off x="7095744" y="47365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40" dirty="0"/>
          </a:p>
        </p:txBody>
      </p:sp>
      <p:sp>
        <p:nvSpPr>
          <p:cNvPr id="50" name="Text 46"/>
          <p:cNvSpPr/>
          <p:nvPr/>
        </p:nvSpPr>
        <p:spPr>
          <a:xfrm>
            <a:off x="7461504" y="4700016"/>
            <a:ext cx="40443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7461504" y="4910328"/>
            <a:ext cx="4044391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가맹계약 체결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7095744" y="5175504"/>
            <a:ext cx="4410151" cy="301752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49"/>
          <p:cNvSpPr/>
          <p:nvPr/>
        </p:nvSpPr>
        <p:spPr>
          <a:xfrm>
            <a:off x="7278624" y="5175504"/>
            <a:ext cx="4044391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붙이는 구간 : 접점 확보부터 계약 체결까지</a:t>
            </a:r>
            <a:endParaRPr lang="en-US" sz="1050" dirty="0"/>
          </a:p>
        </p:txBody>
      </p:sp>
      <p:pic>
        <p:nvPicPr>
          <p:cNvPr id="54" name="Image 2" descr="/home/user/onewillco-meeting-2026/runnerpub-proposal/assets/gr_b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5272"/>
            <a:ext cx="12191695" cy="65836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685800" y="5751576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이후 구조는 러너펍이 완비 · 계약 이전 구간의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수요는 내일사장이 보유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5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Capability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제안 이전에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확보된 창업 수요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85800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누적 다운로드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100,000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85800" y="3328416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</a:t>
            </a:r>
            <a:endParaRPr lang="en-US" sz="850" dirty="0"/>
          </a:p>
        </p:txBody>
      </p:sp>
      <p:pic>
        <p:nvPicPr>
          <p:cNvPr id="12" name="Image 2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374136"/>
            <a:ext cx="435689" cy="1188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86736" y="3328416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3만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85800" y="356616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850" dirty="0"/>
          </a:p>
        </p:txBody>
      </p:sp>
      <p:pic>
        <p:nvPicPr>
          <p:cNvPr id="15" name="Image 3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3611880"/>
            <a:ext cx="1161837" cy="1188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86736" y="3566160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8만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85800" y="3803904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850" dirty="0"/>
          </a:p>
        </p:txBody>
      </p:sp>
      <p:pic>
        <p:nvPicPr>
          <p:cNvPr id="18" name="Image 4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3849624"/>
            <a:ext cx="1452296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86736" y="380390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85800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 누적 기준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3454832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활성 이용자 MAU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3454832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600" dirty="0"/>
          </a:p>
        </p:txBody>
      </p:sp>
      <p:sp>
        <p:nvSpPr>
          <p:cNvPr id="23" name="Shape 16"/>
          <p:cNvSpPr/>
          <p:nvPr/>
        </p:nvSpPr>
        <p:spPr>
          <a:xfrm>
            <a:off x="3454832" y="4005072"/>
            <a:ext cx="251300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4" name="Text 17"/>
          <p:cNvSpPr/>
          <p:nvPr/>
        </p:nvSpPr>
        <p:spPr>
          <a:xfrm>
            <a:off x="3454832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 기준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6223864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DB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223864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5,114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3600" dirty="0"/>
          </a:p>
        </p:txBody>
      </p:sp>
      <p:sp>
        <p:nvSpPr>
          <p:cNvPr id="27" name="Shape 20"/>
          <p:cNvSpPr/>
          <p:nvPr/>
        </p:nvSpPr>
        <p:spPr>
          <a:xfrm>
            <a:off x="6223864" y="4005072"/>
            <a:ext cx="251300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Text 21"/>
          <p:cNvSpPr/>
          <p:nvPr/>
        </p:nvSpPr>
        <p:spPr>
          <a:xfrm>
            <a:off x="6223864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2026.06 사내 ERP 기준 · 상담 기록 499건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992895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거래 규모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992895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억원</a:t>
            </a:r>
            <a:endParaRPr lang="en-US" sz="3600" dirty="0"/>
          </a:p>
        </p:txBody>
      </p:sp>
      <p:sp>
        <p:nvSpPr>
          <p:cNvPr id="31" name="Shape 24"/>
          <p:cNvSpPr/>
          <p:nvPr/>
        </p:nvSpPr>
        <p:spPr>
          <a:xfrm>
            <a:off x="8992895" y="4005072"/>
            <a:ext cx="251300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5"/>
          <p:cNvSpPr/>
          <p:nvPr/>
        </p:nvSpPr>
        <p:spPr>
          <a:xfrm>
            <a:off x="8992895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 누적 · 매물 등록 10,000건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85800" y="4686300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4" name="Text 27"/>
          <p:cNvSpPr/>
          <p:nvPr/>
        </p:nvSpPr>
        <p:spPr>
          <a:xfrm>
            <a:off x="685800" y="468630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5" name="Text 28"/>
          <p:cNvSpPr/>
          <p:nvPr/>
        </p:nvSpPr>
        <p:spPr>
          <a:xfrm>
            <a:off x="1005840" y="4626864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모객 실행 실적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85800" y="492678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0"/>
          <p:cNvSpPr/>
          <p:nvPr/>
        </p:nvSpPr>
        <p:spPr>
          <a:xfrm>
            <a:off x="685800" y="51572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호호반점 · 공감 소구 광고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454603" y="51206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모객   </a:t>
            </a:r>
            <a:pPr indent="0" marL="0">
              <a:buNone/>
            </a:pPr>
            <a:r>
              <a:rPr lang="en-US" sz="2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100건 돌파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8992210" y="5184648"/>
            <a:ext cx="25136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내일사장 수행 브랜드 광고 집행 기준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685800" y="57607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더진국 · 상황 소구 광고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3454603" y="572414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모객   </a:t>
            </a:r>
            <a:pPr indent="0" marL="0">
              <a:buNone/>
            </a:pPr>
            <a:r>
              <a:rPr lang="en-US" sz="2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700% 증가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8992210" y="5788152"/>
            <a:ext cx="25136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내일사장 수행 브랜드 광고 집행 기준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본사와 일해 온 회사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현황 및 연혁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현황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48463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Shape 8"/>
          <p:cNvSpPr/>
          <p:nvPr/>
        </p:nvSpPr>
        <p:spPr>
          <a:xfrm>
            <a:off x="685800" y="2743200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2761488"/>
            <a:ext cx="1371600" cy="402336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777240" y="2761488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40280" y="2761488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내일사장  ·  2023년 1월 설립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057400" y="3163824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6" name="Shape 13"/>
          <p:cNvSpPr/>
          <p:nvPr/>
        </p:nvSpPr>
        <p:spPr>
          <a:xfrm>
            <a:off x="685800" y="3163824"/>
            <a:ext cx="1371600" cy="402336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17" name="Text 14"/>
          <p:cNvSpPr/>
          <p:nvPr/>
        </p:nvSpPr>
        <p:spPr>
          <a:xfrm>
            <a:off x="777240" y="3163824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40280" y="3163824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박규태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057400" y="3566160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0" name="Shape 17"/>
          <p:cNvSpPr/>
          <p:nvPr/>
        </p:nvSpPr>
        <p:spPr>
          <a:xfrm>
            <a:off x="685800" y="3566160"/>
            <a:ext cx="1371600" cy="402336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21" name="Text 18"/>
          <p:cNvSpPr/>
          <p:nvPr/>
        </p:nvSpPr>
        <p:spPr>
          <a:xfrm>
            <a:off x="777240" y="3566160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40280" y="3566160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양도양수 직거래 플랫폼 (앱 · 웹) · ERP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3968496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Shape 21"/>
          <p:cNvSpPr/>
          <p:nvPr/>
        </p:nvSpPr>
        <p:spPr>
          <a:xfrm>
            <a:off x="685800" y="4320540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5" name="Text 22"/>
          <p:cNvSpPr/>
          <p:nvPr/>
        </p:nvSpPr>
        <p:spPr>
          <a:xfrm>
            <a:off x="685800" y="432054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6" name="Text 23"/>
          <p:cNvSpPr/>
          <p:nvPr/>
        </p:nvSpPr>
        <p:spPr>
          <a:xfrm>
            <a:off x="1005840" y="4261104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협력기관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85800" y="4561027"/>
            <a:ext cx="48463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Shape 25"/>
          <p:cNvSpPr/>
          <p:nvPr/>
        </p:nvSpPr>
        <p:spPr>
          <a:xfrm>
            <a:off x="685800" y="4645152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9" name="Shape 26"/>
          <p:cNvSpPr/>
          <p:nvPr/>
        </p:nvSpPr>
        <p:spPr>
          <a:xfrm>
            <a:off x="685800" y="4663440"/>
            <a:ext cx="1371600" cy="420624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777240" y="466344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투자사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240280" y="4663440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씨엔티테크 · 스테이션케이 제1호 투자조합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057400" y="5084064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3" name="Shape 30"/>
          <p:cNvSpPr/>
          <p:nvPr/>
        </p:nvSpPr>
        <p:spPr>
          <a:xfrm>
            <a:off x="685800" y="5084064"/>
            <a:ext cx="1371600" cy="420624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34" name="Text 31"/>
          <p:cNvSpPr/>
          <p:nvPr/>
        </p:nvSpPr>
        <p:spPr>
          <a:xfrm>
            <a:off x="777240" y="5084064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240280" y="5084064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한국프랜차이즈산업협회 (KFA)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057400" y="5504688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Shape 34"/>
          <p:cNvSpPr/>
          <p:nvPr/>
        </p:nvSpPr>
        <p:spPr>
          <a:xfrm>
            <a:off x="685800" y="5504688"/>
            <a:ext cx="1371600" cy="420624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777240" y="550468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업무협약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240280" y="5504688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 · 삼성웰스토리 · 캐시노트 · 다날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85800" y="5925312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1" name="Shape 38"/>
          <p:cNvSpPr/>
          <p:nvPr/>
        </p:nvSpPr>
        <p:spPr>
          <a:xfrm>
            <a:off x="5916168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2" name="Text 39"/>
          <p:cNvSpPr/>
          <p:nvPr/>
        </p:nvSpPr>
        <p:spPr>
          <a:xfrm>
            <a:off x="5916168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3" name="Text 40"/>
          <p:cNvSpPr/>
          <p:nvPr/>
        </p:nvSpPr>
        <p:spPr>
          <a:xfrm>
            <a:off x="6236208" y="2359152"/>
            <a:ext cx="5214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연혁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916168" y="2659075"/>
            <a:ext cx="5589727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5" name="Shape 42"/>
          <p:cNvSpPr/>
          <p:nvPr/>
        </p:nvSpPr>
        <p:spPr>
          <a:xfrm>
            <a:off x="5998464" y="2798064"/>
            <a:ext cx="20117" cy="2962656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6" name="Shape 43"/>
          <p:cNvSpPr/>
          <p:nvPr/>
        </p:nvSpPr>
        <p:spPr>
          <a:xfrm>
            <a:off x="5934456" y="2816352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7" name="Shape 44"/>
          <p:cNvSpPr/>
          <p:nvPr/>
        </p:nvSpPr>
        <p:spPr>
          <a:xfrm>
            <a:off x="5934456" y="3593592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8" name="Shape 45"/>
          <p:cNvSpPr/>
          <p:nvPr/>
        </p:nvSpPr>
        <p:spPr>
          <a:xfrm>
            <a:off x="5934456" y="4567428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9" name="Shape 46"/>
          <p:cNvSpPr/>
          <p:nvPr/>
        </p:nvSpPr>
        <p:spPr>
          <a:xfrm>
            <a:off x="5934456" y="5541264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0" name="Shape 47"/>
          <p:cNvSpPr/>
          <p:nvPr/>
        </p:nvSpPr>
        <p:spPr>
          <a:xfrm>
            <a:off x="6227064" y="2766060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51" name="Text 48"/>
          <p:cNvSpPr/>
          <p:nvPr/>
        </p:nvSpPr>
        <p:spPr>
          <a:xfrm>
            <a:off x="6391656" y="2766060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324344" y="2743200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 준비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318504" y="3035808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앱 MVP 테스트 · 정식버전 출시 준비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318504" y="3232404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매장등록 200건 · 인증매물 1,000건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227064" y="3543300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56" name="Text 53"/>
          <p:cNvSpPr/>
          <p:nvPr/>
        </p:nvSpPr>
        <p:spPr>
          <a:xfrm>
            <a:off x="6391656" y="3543300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7324344" y="3520440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설립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6318504" y="3813048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벤처기업 인증 · 기업부설연구소 설립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318504" y="4009644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매물인증 기반 부동산 중개방법 특허출원 3건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6318504" y="4206240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앱 다운로드 3만 돌파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227064" y="4517136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62" name="Text 59"/>
          <p:cNvSpPr/>
          <p:nvPr/>
        </p:nvSpPr>
        <p:spPr>
          <a:xfrm>
            <a:off x="6391656" y="4517136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7324344" y="4494276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 다각화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6318504" y="4786884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초기창업패키지 · R&amp;D 디딤돌사업 선정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318504" y="4983480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한국프랜차이즈산업협회 공동사업단 설립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6318504" y="5180076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SPC · 삼성웰스토리 · 캐시노트 · 다날 업무협약 체결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227064" y="5490972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68" name="Text 65"/>
          <p:cNvSpPr/>
          <p:nvPr/>
        </p:nvSpPr>
        <p:spPr>
          <a:xfrm>
            <a:off x="6391656" y="5490972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7324344" y="5468112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유치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6318504" y="5760720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구글 창구 프로그램 선정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6318504" y="5957316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Seed 투자유치 (씨엔티테크 · 스테이션케이 제1호 투자조합)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· 영업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본사에서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 본 사람들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48463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685800" y="27432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박규태  </a:t>
            </a:r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303580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유통학 박사 · 세종사이버대 외식창업프랜차이즈학과 겸임교수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685800" y="331012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현] (주)내일사장 대표이사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685800" y="352958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중앙그룹 외식부문 신사업 팀장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685800" y="374904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이삭토스트 총괄사업부장 (COO)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85800" y="396849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SPC 파리바게뜨 가맹사업본부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85800" y="4224528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685800" y="4242816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"가맹을 팔아본 적 있느냐", 이 질문에 대한 답이 팀 자체입니다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916168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0" name="Text 17"/>
          <p:cNvSpPr/>
          <p:nvPr/>
        </p:nvSpPr>
        <p:spPr>
          <a:xfrm>
            <a:off x="5916168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1" name="Text 18"/>
          <p:cNvSpPr/>
          <p:nvPr/>
        </p:nvSpPr>
        <p:spPr>
          <a:xfrm>
            <a:off x="6236208" y="2359152"/>
            <a:ext cx="5214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창업 Specialist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16168" y="2659075"/>
            <a:ext cx="5589727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3" name="Shape 20"/>
          <p:cNvSpPr/>
          <p:nvPr/>
        </p:nvSpPr>
        <p:spPr>
          <a:xfrm>
            <a:off x="5916168" y="2761488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4" name="Text 21"/>
          <p:cNvSpPr/>
          <p:nvPr/>
        </p:nvSpPr>
        <p:spPr>
          <a:xfrm>
            <a:off x="6062472" y="2761488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본부구축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784184" y="2761488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6" name="Text 23"/>
          <p:cNvSpPr/>
          <p:nvPr/>
        </p:nvSpPr>
        <p:spPr>
          <a:xfrm>
            <a:off x="8930488" y="2761488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모객 · 매장 활성화 마케팅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16168" y="3639312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28" name="Text 25"/>
          <p:cNvSpPr/>
          <p:nvPr/>
        </p:nvSpPr>
        <p:spPr>
          <a:xfrm>
            <a:off x="6062472" y="3639312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운영관리 (SV)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84184" y="3639312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8930488" y="3639312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 · 점포개발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5800" y="4535424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9"/>
          <p:cNvSpPr/>
          <p:nvPr/>
        </p:nvSpPr>
        <p:spPr>
          <a:xfrm>
            <a:off x="685800" y="4626864"/>
            <a:ext cx="346039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김우곤  </a:t>
            </a:r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" y="4901184"/>
            <a:ext cx="346039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유통학 박사 · 세종대 유통학과 겸임교수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5800" y="5175504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McDonald's · Subway International B.V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" y="5390388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Delivery Hero Korea · CJ푸드빌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5800" y="5605272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SPC 등 외식 프랜차이즈 15년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255922" y="4645152"/>
            <a:ext cx="7315" cy="1426464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4365650" y="4626864"/>
            <a:ext cx="346039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천영식  </a:t>
            </a:r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CMO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365650" y="4901184"/>
            <a:ext cx="346039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경영학 석사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365650" y="5175504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현] 경기창조센터 마케팅 전담강사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365650" y="5390388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한촌 · 육수당 마케팅본부장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365650" y="5605272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죠스떡볶이 · 바르다김선생 마케팅팀장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935773" y="4645152"/>
            <a:ext cx="7315" cy="1426464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8045501" y="4626864"/>
            <a:ext cx="346039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엄태관  </a:t>
            </a:r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045501" y="4901184"/>
            <a:ext cx="346039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경영학 석사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045501" y="5175504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현] 학점은행 기관운영교수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045501" y="5390388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아딸 가맹사업본부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8045501" y="5605272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셀렉토커피 영업팀장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045501" y="5820156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이삭토스트 영업파트장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주력은 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가맹영업대행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업무와 수행 브랜드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러너펍에 투입할 업무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4206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pic>
        <p:nvPicPr>
          <p:cNvPr id="11" name="Image 1" descr="/home/user/onewillco-meeting-2026/runnerpub-proposal/assets/ic_d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986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4984" y="2889504"/>
            <a:ext cx="10439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가맹영업대행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058924" y="2898648"/>
            <a:ext cx="63093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14" name="Text 10"/>
          <p:cNvSpPr/>
          <p:nvPr/>
        </p:nvSpPr>
        <p:spPr>
          <a:xfrm>
            <a:off x="2223516" y="2898648"/>
            <a:ext cx="301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주력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14984" y="316382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예비창업자 모객 · 1차 상담 · 등급 분류</a:t>
            </a:r>
            <a:endParaRPr lang="en-US" sz="930" dirty="0"/>
          </a:p>
        </p:txBody>
      </p:sp>
      <p:sp>
        <p:nvSpPr>
          <p:cNvPr id="16" name="Text 12"/>
          <p:cNvSpPr/>
          <p:nvPr/>
        </p:nvSpPr>
        <p:spPr>
          <a:xfrm>
            <a:off x="1014984" y="3383280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조건별 브랜드 매칭 및 미팅 주선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1014984" y="360273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인·적성검사, 정보공개서 제공부터 계약 체결까지 절차 관리</a:t>
            </a:r>
            <a:endParaRPr lang="en-US" sz="930" dirty="0"/>
          </a:p>
        </p:txBody>
      </p:sp>
      <p:pic>
        <p:nvPicPr>
          <p:cNvPr id="18" name="Image 2" descr="/home/user/onewillco-meeting-2026/runnerpub-proposal/assets/ic_st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2277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14984" y="3913632"/>
            <a:ext cx="138366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점포개발 · 물건화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2398649" y="3922776"/>
            <a:ext cx="63093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21" name="Text 16"/>
          <p:cNvSpPr/>
          <p:nvPr/>
        </p:nvSpPr>
        <p:spPr>
          <a:xfrm>
            <a:off x="2563241" y="3922776"/>
            <a:ext cx="301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주력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14984" y="4187952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보증금 · 권리금 · 월세 · 평수 수집</a:t>
            </a:r>
            <a:endParaRPr lang="en-US" sz="930" dirty="0"/>
          </a:p>
        </p:txBody>
      </p:sp>
      <p:sp>
        <p:nvSpPr>
          <p:cNvPr id="23" name="Text 18"/>
          <p:cNvSpPr/>
          <p:nvPr/>
        </p:nvSpPr>
        <p:spPr>
          <a:xfrm>
            <a:off x="1014984" y="4407408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실측 · 현장사진 · 인테리어 견적 산출</a:t>
            </a:r>
            <a:endParaRPr lang="en-US" sz="930" dirty="0"/>
          </a:p>
        </p:txBody>
      </p:sp>
      <p:sp>
        <p:nvSpPr>
          <p:cNvPr id="24" name="Text 19"/>
          <p:cNvSpPr/>
          <p:nvPr/>
        </p:nvSpPr>
        <p:spPr>
          <a:xfrm>
            <a:off x="1014984" y="462686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즉시 브리핑 가능한 상태로 완성</a:t>
            </a:r>
            <a:endParaRPr lang="en-US" sz="930" dirty="0"/>
          </a:p>
        </p:txBody>
      </p:sp>
      <p:pic>
        <p:nvPicPr>
          <p:cNvPr id="25" name="Image 3" descr="/home/user/onewillco-meeting-2026/runnerpub-proposal/assets/ic_meg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46904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14984" y="4937760"/>
            <a:ext cx="929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마케팅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1944624" y="4946904"/>
            <a:ext cx="630936" cy="246888"/>
          </a:xfrm>
          <a:prstGeom prst="roundRect">
            <a:avLst>
              <a:gd name="adj" fmla="val 48148"/>
            </a:avLst>
          </a:prstGeom>
          <a:solidFill>
            <a:srgbClr val="EFF1F4"/>
          </a:solidFill>
          <a:ln>
            <a:noFill/>
          </a:ln>
        </p:spPr>
      </p:sp>
      <p:sp>
        <p:nvSpPr>
          <p:cNvPr id="28" name="Text 22"/>
          <p:cNvSpPr/>
          <p:nvPr/>
        </p:nvSpPr>
        <p:spPr>
          <a:xfrm>
            <a:off x="2109216" y="4946904"/>
            <a:ext cx="301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14984" y="5212080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블로그 · 네이버 플레이스 · 검색광고 · SNS</a:t>
            </a:r>
            <a:endParaRPr lang="en-US" sz="930" dirty="0"/>
          </a:p>
        </p:txBody>
      </p:sp>
      <p:sp>
        <p:nvSpPr>
          <p:cNvPr id="30" name="Text 24"/>
          <p:cNvSpPr/>
          <p:nvPr/>
        </p:nvSpPr>
        <p:spPr>
          <a:xfrm>
            <a:off x="1014984" y="543153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창업박람회 부스 · 사업설명회</a:t>
            </a:r>
            <a:endParaRPr lang="en-US" sz="930" dirty="0"/>
          </a:p>
        </p:txBody>
      </p:sp>
      <p:sp>
        <p:nvSpPr>
          <p:cNvPr id="31" name="Text 25"/>
          <p:cNvSpPr/>
          <p:nvPr/>
        </p:nvSpPr>
        <p:spPr>
          <a:xfrm>
            <a:off x="1014984" y="5650992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매장 오픈 마케팅</a:t>
            </a:r>
            <a:endParaRPr lang="en-US" sz="930" dirty="0"/>
          </a:p>
        </p:txBody>
      </p:sp>
      <p:sp>
        <p:nvSpPr>
          <p:cNvPr id="32" name="Text 26"/>
          <p:cNvSpPr/>
          <p:nvPr/>
        </p:nvSpPr>
        <p:spPr>
          <a:xfrm>
            <a:off x="685800" y="5943600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창업 마케팅은 집행비 발생 선택 항목 · 성공보수 미포함 · 집행 여부 별도 협의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31266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531266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5" name="Text 29"/>
          <p:cNvSpPr/>
          <p:nvPr/>
        </p:nvSpPr>
        <p:spPr>
          <a:xfrm>
            <a:off x="5632704" y="23591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2025~2026 영업 수행 브랜드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5312664" y="2659075"/>
            <a:ext cx="61932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1"/>
          <p:cNvSpPr/>
          <p:nvPr/>
        </p:nvSpPr>
        <p:spPr>
          <a:xfrm>
            <a:off x="10225735" y="23957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 18개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312664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9" name="Text 33"/>
          <p:cNvSpPr/>
          <p:nvPr/>
        </p:nvSpPr>
        <p:spPr>
          <a:xfrm>
            <a:off x="5385816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33떡볶이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897548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1" name="Text 35"/>
          <p:cNvSpPr/>
          <p:nvPr/>
        </p:nvSpPr>
        <p:spPr>
          <a:xfrm>
            <a:off x="6970700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백소정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8482432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8555584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원앤원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10067315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5" name="Text 39"/>
          <p:cNvSpPr/>
          <p:nvPr/>
        </p:nvSpPr>
        <p:spPr>
          <a:xfrm>
            <a:off x="10140467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투썸플레이스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5312664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7" name="Text 41"/>
          <p:cNvSpPr/>
          <p:nvPr/>
        </p:nvSpPr>
        <p:spPr>
          <a:xfrm>
            <a:off x="5385816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명륜진사갈비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6897548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9" name="Text 43"/>
          <p:cNvSpPr/>
          <p:nvPr/>
        </p:nvSpPr>
        <p:spPr>
          <a:xfrm>
            <a:off x="6970700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요아정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8482432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1" name="Text 45"/>
          <p:cNvSpPr/>
          <p:nvPr/>
        </p:nvSpPr>
        <p:spPr>
          <a:xfrm>
            <a:off x="8555584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차알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10067315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3" name="Text 47"/>
          <p:cNvSpPr/>
          <p:nvPr/>
        </p:nvSpPr>
        <p:spPr>
          <a:xfrm>
            <a:off x="10140467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밀본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5312664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5" name="Text 49"/>
          <p:cNvSpPr/>
          <p:nvPr/>
        </p:nvSpPr>
        <p:spPr>
          <a:xfrm>
            <a:off x="5385816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오레노카츠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6897548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7" name="Text 51"/>
          <p:cNvSpPr/>
          <p:nvPr/>
        </p:nvSpPr>
        <p:spPr>
          <a:xfrm>
            <a:off x="6970700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랑데자뷰</a:t>
            </a:r>
            <a:endParaRPr lang="en-US" sz="1050" dirty="0"/>
          </a:p>
        </p:txBody>
      </p:sp>
      <p:sp>
        <p:nvSpPr>
          <p:cNvPr id="58" name="Shape 52"/>
          <p:cNvSpPr/>
          <p:nvPr/>
        </p:nvSpPr>
        <p:spPr>
          <a:xfrm>
            <a:off x="8482432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9" name="Text 53"/>
          <p:cNvSpPr/>
          <p:nvPr/>
        </p:nvSpPr>
        <p:spPr>
          <a:xfrm>
            <a:off x="8555584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청년피자</a:t>
            </a:r>
            <a:endParaRPr lang="en-US" sz="1050" dirty="0"/>
          </a:p>
        </p:txBody>
      </p:sp>
      <p:sp>
        <p:nvSpPr>
          <p:cNvPr id="60" name="Shape 54"/>
          <p:cNvSpPr/>
          <p:nvPr/>
        </p:nvSpPr>
        <p:spPr>
          <a:xfrm>
            <a:off x="10067315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61" name="Text 55"/>
          <p:cNvSpPr/>
          <p:nvPr/>
        </p:nvSpPr>
        <p:spPr>
          <a:xfrm>
            <a:off x="10140467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셀렉토커피</a:t>
            </a:r>
            <a:endParaRPr lang="en-US" sz="1050" dirty="0"/>
          </a:p>
        </p:txBody>
      </p:sp>
      <p:sp>
        <p:nvSpPr>
          <p:cNvPr id="62" name="Text 56"/>
          <p:cNvSpPr/>
          <p:nvPr/>
        </p:nvSpPr>
        <p:spPr>
          <a:xfrm>
            <a:off x="5312664" y="4901184"/>
            <a:ext cx="619323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브랜드별 수행 범위와 계약 체결 건수는 미팅 시 원장 기준으로 제시합니다.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접점을 넓히는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제휴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현황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창업 수요 확보에 활용되는 제휴망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Shape 8"/>
          <p:cNvSpPr/>
          <p:nvPr/>
        </p:nvSpPr>
        <p:spPr>
          <a:xfrm>
            <a:off x="685800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2308022" y="3049524"/>
            <a:ext cx="70789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2472614" y="3049524"/>
            <a:ext cx="37871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68680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 플랫폼 개발 참여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8680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6" name="Text 13"/>
          <p:cNvSpPr/>
          <p:nvPr/>
        </p:nvSpPr>
        <p:spPr>
          <a:xfrm>
            <a:off x="868680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파리바게뜨 · 던킨 등 가맹점 6,000개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3454832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18" name="Image 1" descr="/home/user/onewillco-meeting-2026/runnerpub-proposal/assets/lg_kf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712" y="3091824"/>
            <a:ext cx="1178034" cy="13485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077054" y="3049524"/>
            <a:ext cx="70789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5241646" y="3049524"/>
            <a:ext cx="37871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637712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KFA 공동사업단 공동설립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637712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3" name="Text 19"/>
          <p:cNvSpPr/>
          <p:nvPr/>
        </p:nvSpPr>
        <p:spPr>
          <a:xfrm>
            <a:off x="3637712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1,400여개 대상 · 인증매장 · 위생교육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6223864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25" name="Image 2" descr="/home/user/onewillco-meeting-2026/runnerpub-proposal/assets/lg_bar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4" y="3088476"/>
            <a:ext cx="1122304" cy="14155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954035" y="3049524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 22"/>
          <p:cNvSpPr/>
          <p:nvPr/>
        </p:nvSpPr>
        <p:spPr>
          <a:xfrm>
            <a:off x="8118627" y="3049524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406744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바로고 든든상점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6744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0" name="Text 25"/>
          <p:cNvSpPr/>
          <p:nvPr/>
        </p:nvSpPr>
        <p:spPr>
          <a:xfrm>
            <a:off x="6406744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등록매장 18만 대상 배너 · 푸시 상호 노출</a:t>
            </a:r>
            <a:endParaRPr lang="en-US" sz="930" dirty="0"/>
          </a:p>
        </p:txBody>
      </p:sp>
      <p:sp>
        <p:nvSpPr>
          <p:cNvPr id="31" name="Shape 26"/>
          <p:cNvSpPr/>
          <p:nvPr/>
        </p:nvSpPr>
        <p:spPr>
          <a:xfrm>
            <a:off x="8992895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2" name="Shape 27"/>
          <p:cNvSpPr/>
          <p:nvPr/>
        </p:nvSpPr>
        <p:spPr>
          <a:xfrm>
            <a:off x="10723067" y="3049524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28"/>
          <p:cNvSpPr/>
          <p:nvPr/>
        </p:nvSpPr>
        <p:spPr>
          <a:xfrm>
            <a:off x="10887659" y="3049524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9175775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삼성웰스토리 365솔루션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9175775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6" name="Text 31"/>
          <p:cNvSpPr/>
          <p:nvPr/>
        </p:nvSpPr>
        <p:spPr>
          <a:xfrm>
            <a:off x="9175775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사업단 공동설립 · 브랜드인증관 입점 및 광고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685800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38" name="Image 3" descr="/home/user/onewillco-meeting-2026/runnerpub-proposal/assets/lg_yogiy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77740"/>
            <a:ext cx="536827" cy="27432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2415972" y="4805172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 34"/>
          <p:cNvSpPr/>
          <p:nvPr/>
        </p:nvSpPr>
        <p:spPr>
          <a:xfrm>
            <a:off x="2580564" y="4805172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868680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요기요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868680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868680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배너 · 내일사장 제작 콘텐츠 노출</a:t>
            </a:r>
            <a:endParaRPr lang="en-US" sz="930" dirty="0"/>
          </a:p>
        </p:txBody>
      </p:sp>
      <p:sp>
        <p:nvSpPr>
          <p:cNvPr id="44" name="Shape 38"/>
          <p:cNvSpPr/>
          <p:nvPr/>
        </p:nvSpPr>
        <p:spPr>
          <a:xfrm>
            <a:off x="3454832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45" name="Image 4" descr="/home/user/onewillco-meeting-2026/runnerpub-proposal/assets/lg_sara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12" y="4814966"/>
            <a:ext cx="794848" cy="199867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185004" y="4805172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 40"/>
          <p:cNvSpPr/>
          <p:nvPr/>
        </p:nvSpPr>
        <p:spPr>
          <a:xfrm>
            <a:off x="5349596" y="4805172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3637712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동네알바 (사람인)</a:t>
            </a:r>
            <a:endParaRPr lang="en-US" sz="1150" dirty="0"/>
          </a:p>
        </p:txBody>
      </p:sp>
      <p:sp>
        <p:nvSpPr>
          <p:cNvPr id="49" name="Shape 42"/>
          <p:cNvSpPr/>
          <p:nvPr/>
        </p:nvSpPr>
        <p:spPr>
          <a:xfrm>
            <a:off x="3637712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0" name="Text 43"/>
          <p:cNvSpPr/>
          <p:nvPr/>
        </p:nvSpPr>
        <p:spPr>
          <a:xfrm>
            <a:off x="3637712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배너 노출</a:t>
            </a:r>
            <a:endParaRPr lang="en-US" sz="930" dirty="0"/>
          </a:p>
        </p:txBody>
      </p:sp>
      <p:sp>
        <p:nvSpPr>
          <p:cNvPr id="51" name="Shape 44"/>
          <p:cNvSpPr/>
          <p:nvPr/>
        </p:nvSpPr>
        <p:spPr>
          <a:xfrm>
            <a:off x="6223864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52" name="Image 5" descr="/home/user/onewillco-meeting-2026/runnerpub-proposal/assets/lg_forb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744" y="4805379"/>
            <a:ext cx="725270" cy="219041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7846085" y="4805172"/>
            <a:ext cx="70789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 46"/>
          <p:cNvSpPr/>
          <p:nvPr/>
        </p:nvSpPr>
        <p:spPr>
          <a:xfrm>
            <a:off x="8010677" y="4805172"/>
            <a:ext cx="37871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6406744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포브스코리아 어워즈</a:t>
            </a:r>
            <a:endParaRPr lang="en-US" sz="1150" dirty="0"/>
          </a:p>
        </p:txBody>
      </p:sp>
      <p:sp>
        <p:nvSpPr>
          <p:cNvPr id="56" name="Shape 48"/>
          <p:cNvSpPr/>
          <p:nvPr/>
        </p:nvSpPr>
        <p:spPr>
          <a:xfrm>
            <a:off x="6406744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7" name="Text 49"/>
          <p:cNvSpPr/>
          <p:nvPr/>
        </p:nvSpPr>
        <p:spPr>
          <a:xfrm>
            <a:off x="6406744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중앙일보 주최 · 내일사장 주관</a:t>
            </a:r>
            <a:endParaRPr lang="en-US" sz="930" dirty="0"/>
          </a:p>
        </p:txBody>
      </p:sp>
      <p:sp>
        <p:nvSpPr>
          <p:cNvPr id="58" name="Shape 50"/>
          <p:cNvSpPr/>
          <p:nvPr/>
        </p:nvSpPr>
        <p:spPr>
          <a:xfrm>
            <a:off x="8992895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9" name="Shape 51"/>
          <p:cNvSpPr/>
          <p:nvPr/>
        </p:nvSpPr>
        <p:spPr>
          <a:xfrm>
            <a:off x="10723067" y="4805172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0" name="Text 52"/>
          <p:cNvSpPr/>
          <p:nvPr/>
        </p:nvSpPr>
        <p:spPr>
          <a:xfrm>
            <a:off x="10887659" y="4805172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9175775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아프니까 사장이다</a:t>
            </a:r>
            <a:endParaRPr lang="en-US" sz="1150" dirty="0"/>
          </a:p>
        </p:txBody>
      </p:sp>
      <p:sp>
        <p:nvSpPr>
          <p:cNvPr id="62" name="Shape 54"/>
          <p:cNvSpPr/>
          <p:nvPr/>
        </p:nvSpPr>
        <p:spPr>
          <a:xfrm>
            <a:off x="9175775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3" name="Text 55"/>
          <p:cNvSpPr/>
          <p:nvPr/>
        </p:nvSpPr>
        <p:spPr>
          <a:xfrm>
            <a:off x="9175775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210만 대상 바이럴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31136"/>
            <a:ext cx="12191695" cy="4626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31136"/>
            <a:ext cx="12191695" cy="9144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" name="Shape 1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6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5800" y="1263701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단계마다 </a:t>
            </a:r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문서</a:t>
            </a:r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제공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85800" y="1775765"/>
            <a:ext cx="9901657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단계마다 근거 문서가 남습니다 · 홈택스 연동 · 검증 리포트 · 상권 분석 · 정보공개서 D-day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85800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2" name="Image 2" descr="/home/user/onewillco-meeting-2026/runnerpub-proposal/assets/p07_step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59141"/>
            <a:ext cx="2343836" cy="138929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14" name="Shape 9"/>
          <p:cNvSpPr/>
          <p:nvPr/>
        </p:nvSpPr>
        <p:spPr>
          <a:xfrm>
            <a:off x="685800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15" name="Shape 10"/>
          <p:cNvSpPr/>
          <p:nvPr/>
        </p:nvSpPr>
        <p:spPr>
          <a:xfrm>
            <a:off x="685800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6" name="Text 11"/>
          <p:cNvSpPr/>
          <p:nvPr/>
        </p:nvSpPr>
        <p:spPr>
          <a:xfrm>
            <a:off x="804672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홈택스 연동 실매출 확인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49092" y="4409237"/>
            <a:ext cx="164592" cy="20117"/>
          </a:xfrm>
          <a:prstGeom prst="rect">
            <a:avLst/>
          </a:prstGeom>
          <a:solidFill>
            <a:srgbClr val="A6B6D2"/>
          </a:solidFill>
          <a:ln>
            <a:noFill/>
          </a:ln>
        </p:spPr>
      </p:sp>
      <p:sp>
        <p:nvSpPr>
          <p:cNvPr id="18" name="Text 13"/>
          <p:cNvSpPr/>
          <p:nvPr/>
        </p:nvSpPr>
        <p:spPr>
          <a:xfrm>
            <a:off x="3450260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450260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0" name="Image 3" descr="/home/user/onewillco-meeting-2026/runnerpub-proposal/assets/p07_step2_fl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700" y="3253645"/>
            <a:ext cx="2343836" cy="2000287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450260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2" name="Shape 16"/>
          <p:cNvSpPr/>
          <p:nvPr/>
        </p:nvSpPr>
        <p:spPr>
          <a:xfrm>
            <a:off x="3450260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23" name="Shape 17"/>
          <p:cNvSpPr/>
          <p:nvPr/>
        </p:nvSpPr>
        <p:spPr>
          <a:xfrm>
            <a:off x="3450260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Text 18"/>
          <p:cNvSpPr/>
          <p:nvPr/>
        </p:nvSpPr>
        <p:spPr>
          <a:xfrm>
            <a:off x="3569132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리포트 제공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013552" y="4409237"/>
            <a:ext cx="164592" cy="20117"/>
          </a:xfrm>
          <a:prstGeom prst="rect">
            <a:avLst/>
          </a:prstGeom>
          <a:solidFill>
            <a:srgbClr val="A6B6D2"/>
          </a:solidFill>
          <a:ln>
            <a:noFill/>
          </a:ln>
        </p:spPr>
      </p:sp>
      <p:sp>
        <p:nvSpPr>
          <p:cNvPr id="26" name="Text 20"/>
          <p:cNvSpPr/>
          <p:nvPr/>
        </p:nvSpPr>
        <p:spPr>
          <a:xfrm>
            <a:off x="6214720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14720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8" name="Image 4" descr="/home/user/onewillco-meeting-2026/runnerpub-proposal/assets/p07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160" y="3512723"/>
            <a:ext cx="2343836" cy="1482131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214720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30" name="Shape 23"/>
          <p:cNvSpPr/>
          <p:nvPr/>
        </p:nvSpPr>
        <p:spPr>
          <a:xfrm>
            <a:off x="6214720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31" name="Shape 24"/>
          <p:cNvSpPr/>
          <p:nvPr/>
        </p:nvSpPr>
        <p:spPr>
          <a:xfrm>
            <a:off x="6214720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2" name="Text 25"/>
          <p:cNvSpPr/>
          <p:nvPr/>
        </p:nvSpPr>
        <p:spPr>
          <a:xfrm>
            <a:off x="6333592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· 입지 출점 검토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778011" y="4409237"/>
            <a:ext cx="164592" cy="20117"/>
          </a:xfrm>
          <a:prstGeom prst="rect">
            <a:avLst/>
          </a:prstGeom>
          <a:solidFill>
            <a:srgbClr val="A6B6D2"/>
          </a:solidFill>
          <a:ln>
            <a:noFill/>
          </a:ln>
        </p:spPr>
      </p:sp>
      <p:sp>
        <p:nvSpPr>
          <p:cNvPr id="34" name="Text 27"/>
          <p:cNvSpPr/>
          <p:nvPr/>
        </p:nvSpPr>
        <p:spPr>
          <a:xfrm>
            <a:off x="8979179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979179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6" name="Image 5" descr="/home/user/onewillco-meeting-2026/runnerpub-proposal/assets/p07_d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619" y="3443787"/>
            <a:ext cx="2343836" cy="162000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979179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38" name="Shape 30"/>
          <p:cNvSpPr/>
          <p:nvPr/>
        </p:nvSpPr>
        <p:spPr>
          <a:xfrm>
            <a:off x="8979179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39" name="Shape 31"/>
          <p:cNvSpPr/>
          <p:nvPr/>
        </p:nvSpPr>
        <p:spPr>
          <a:xfrm>
            <a:off x="8979179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0" name="Text 32"/>
          <p:cNvSpPr/>
          <p:nvPr/>
        </p:nvSpPr>
        <p:spPr>
          <a:xfrm>
            <a:off x="9098051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D-day 카운트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85800" y="5876849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2" name="Text 34"/>
          <p:cNvSpPr/>
          <p:nvPr/>
        </p:nvSpPr>
        <p:spPr>
          <a:xfrm>
            <a:off x="685800" y="5876849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3" name="Text 35"/>
          <p:cNvSpPr/>
          <p:nvPr/>
        </p:nvSpPr>
        <p:spPr>
          <a:xfrm>
            <a:off x="1005840" y="5835701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도구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685800" y="6099048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5" name="Shape 37"/>
          <p:cNvSpPr/>
          <p:nvPr/>
        </p:nvSpPr>
        <p:spPr>
          <a:xfrm>
            <a:off x="1929384" y="5863133"/>
            <a:ext cx="95402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Text 38"/>
          <p:cNvSpPr/>
          <p:nvPr/>
        </p:nvSpPr>
        <p:spPr>
          <a:xfrm>
            <a:off x="2093976" y="5863133"/>
            <a:ext cx="62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홈택스 연동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3029712" y="5863133"/>
            <a:ext cx="116992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Text 40"/>
          <p:cNvSpPr/>
          <p:nvPr/>
        </p:nvSpPr>
        <p:spPr>
          <a:xfrm>
            <a:off x="3194304" y="5863133"/>
            <a:ext cx="8407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상권분석 보고서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4345940" y="5863133"/>
            <a:ext cx="106197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Text 42"/>
          <p:cNvSpPr/>
          <p:nvPr/>
        </p:nvSpPr>
        <p:spPr>
          <a:xfrm>
            <a:off x="4510532" y="5863133"/>
            <a:ext cx="73279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거리제한 지도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5554218" y="5863133"/>
            <a:ext cx="1267079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Text 44"/>
          <p:cNvSpPr/>
          <p:nvPr/>
        </p:nvSpPr>
        <p:spPr>
          <a:xfrm>
            <a:off x="5718810" y="5863133"/>
            <a:ext cx="93789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D-day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6967601" y="5863133"/>
            <a:ext cx="8158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 46"/>
          <p:cNvSpPr/>
          <p:nvPr/>
        </p:nvSpPr>
        <p:spPr>
          <a:xfrm>
            <a:off x="7132193" y="5863133"/>
            <a:ext cx="4866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7929753" y="5863133"/>
            <a:ext cx="107924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6" name="Text 48"/>
          <p:cNvSpPr/>
          <p:nvPr/>
        </p:nvSpPr>
        <p:spPr>
          <a:xfrm>
            <a:off x="8094345" y="5863133"/>
            <a:ext cx="75006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SV 점검보고서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발굴부터 클로징까지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과정 위임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본사는 승인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0" name="Text 7"/>
          <p:cNvSpPr/>
          <p:nvPr/>
        </p:nvSpPr>
        <p:spPr>
          <a:xfrm>
            <a:off x="1005840" y="2359152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개설 업무별 수행 주체와 본사 승인 사항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65907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3434225"/>
            <a:ext cx="10820095" cy="288689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3" name="Shape 10"/>
          <p:cNvSpPr/>
          <p:nvPr/>
        </p:nvSpPr>
        <p:spPr>
          <a:xfrm>
            <a:off x="685800" y="4011603"/>
            <a:ext cx="10820095" cy="288689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4" name="Shape 11"/>
          <p:cNvSpPr/>
          <p:nvPr/>
        </p:nvSpPr>
        <p:spPr>
          <a:xfrm>
            <a:off x="685800" y="4588982"/>
            <a:ext cx="10820095" cy="288689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5" name="Shape 12"/>
          <p:cNvSpPr/>
          <p:nvPr/>
        </p:nvSpPr>
        <p:spPr>
          <a:xfrm>
            <a:off x="685800" y="2798064"/>
            <a:ext cx="10820095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154680" y="2871216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수행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58200" y="2871216"/>
            <a:ext cx="304769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5800" y="3145536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0" name="Text 17"/>
          <p:cNvSpPr/>
          <p:nvPr/>
        </p:nvSpPr>
        <p:spPr>
          <a:xfrm>
            <a:off x="685800" y="3191256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조직 운영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154680" y="3191256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가맹영업팀 운영 · 두 트랙 동시 영업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58200" y="3191256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343422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4" name="Text 21"/>
          <p:cNvSpPr/>
          <p:nvPr/>
        </p:nvSpPr>
        <p:spPr>
          <a:xfrm>
            <a:off x="685800" y="3479945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마케팅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154680" y="3479945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리드 확보 · 창업마케팅 집행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58200" y="3479945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자료 승인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85800" y="3722914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Text 25"/>
          <p:cNvSpPr/>
          <p:nvPr/>
        </p:nvSpPr>
        <p:spPr>
          <a:xfrm>
            <a:off x="685800" y="3768634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상담 및 브리핑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154680" y="3768634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· 손익 자료와 인·적성검사 결과로 결정 마무리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58200" y="3768634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서식 · 산출근거 · 점주 승인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85800" y="401160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9"/>
          <p:cNvSpPr/>
          <p:nvPr/>
        </p:nvSpPr>
        <p:spPr>
          <a:xfrm>
            <a:off x="685800" y="4057323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점포개발 및 물건화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154680" y="4057323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· 견적 · 기존 매장 거리 충돌 확인까지 끝낸 브리핑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58200" y="4057323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승인 · 영업지역 확인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85800" y="430029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6" name="Text 33"/>
          <p:cNvSpPr/>
          <p:nvPr/>
        </p:nvSpPr>
        <p:spPr>
          <a:xfrm>
            <a:off x="685800" y="4346013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주선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154680" y="4346013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협의 및 클로징 지원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458200" y="4346013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85800" y="4588982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685800" y="4634702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시공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154680" y="4634702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공사주관 및 도급계약 수행 가능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458200" y="4634702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여부 · 수익 분배 협의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85800" y="4877671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685800" y="4923391"/>
            <a:ext cx="232257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유입 건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154680" y="4923391"/>
            <a:ext cx="5157216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대상 제외 · 리드 최초 유입 경로 기준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458200" y="4923391"/>
            <a:ext cx="2901391" cy="1972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경로 본사 확인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85800" y="516636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8" name="Shape 45"/>
          <p:cNvSpPr/>
          <p:nvPr/>
        </p:nvSpPr>
        <p:spPr>
          <a:xfrm>
            <a:off x="685800" y="5353812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9" name="Text 46"/>
          <p:cNvSpPr/>
          <p:nvPr/>
        </p:nvSpPr>
        <p:spPr>
          <a:xfrm>
            <a:off x="685800" y="5353812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50" name="Text 47"/>
          <p:cNvSpPr/>
          <p:nvPr/>
        </p:nvSpPr>
        <p:spPr>
          <a:xfrm>
            <a:off x="1005840" y="5294376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2트랙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85800" y="559429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2" name="Shape 49"/>
          <p:cNvSpPr/>
          <p:nvPr/>
        </p:nvSpPr>
        <p:spPr>
          <a:xfrm>
            <a:off x="685800" y="5660136"/>
            <a:ext cx="5272888" cy="512064"/>
          </a:xfrm>
          <a:prstGeom prst="roundRect">
            <a:avLst>
              <a:gd name="adj" fmla="val 10714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3" name="Text 50"/>
          <p:cNvSpPr/>
          <p:nvPr/>
        </p:nvSpPr>
        <p:spPr>
          <a:xfrm>
            <a:off x="850392" y="5733288"/>
            <a:ext cx="841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A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728216" y="5724144"/>
            <a:ext cx="4065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50392" y="5934456"/>
            <a:ext cx="494370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상주 창업 수요 · 예비창업자 DB 5,114명</a:t>
            </a:r>
            <a:endParaRPr lang="en-US" sz="930" dirty="0"/>
          </a:p>
        </p:txBody>
      </p:sp>
      <p:sp>
        <p:nvSpPr>
          <p:cNvPr id="56" name="Shape 53"/>
          <p:cNvSpPr/>
          <p:nvPr/>
        </p:nvSpPr>
        <p:spPr>
          <a:xfrm>
            <a:off x="6233008" y="5660136"/>
            <a:ext cx="5272888" cy="512064"/>
          </a:xfrm>
          <a:prstGeom prst="roundRect">
            <a:avLst>
              <a:gd name="adj" fmla="val 10714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7" name="Text 54"/>
          <p:cNvSpPr/>
          <p:nvPr/>
        </p:nvSpPr>
        <p:spPr>
          <a:xfrm>
            <a:off x="6397600" y="5733288"/>
            <a:ext cx="841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B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275424" y="5724144"/>
            <a:ext cx="4065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홀덤펍 리브랜딩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397600" y="5934456"/>
            <a:ext cx="494370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점주 대상 · 검토 기간 단축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5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채용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일반 대행 · 내일사장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방식 비교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685800" y="2475281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5"/>
          <p:cNvSpPr/>
          <p:nvPr/>
        </p:nvSpPr>
        <p:spPr>
          <a:xfrm>
            <a:off x="685800" y="2475281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0" name="Text 6"/>
          <p:cNvSpPr/>
          <p:nvPr/>
        </p:nvSpPr>
        <p:spPr>
          <a:xfrm>
            <a:off x="1005840" y="2415845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개설 영업 방식 항목별 비교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2715768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2" name="Shape 8"/>
          <p:cNvSpPr/>
          <p:nvPr/>
        </p:nvSpPr>
        <p:spPr>
          <a:xfrm>
            <a:off x="8770925" y="2854757"/>
            <a:ext cx="2734970" cy="2439619"/>
          </a:xfrm>
          <a:prstGeom prst="roundRect">
            <a:avLst>
              <a:gd name="adj" fmla="val 2999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13" name="Shape 9"/>
          <p:cNvSpPr/>
          <p:nvPr/>
        </p:nvSpPr>
        <p:spPr>
          <a:xfrm>
            <a:off x="685800" y="3501107"/>
            <a:ext cx="8085125" cy="298878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4" name="Shape 10"/>
          <p:cNvSpPr/>
          <p:nvPr/>
        </p:nvSpPr>
        <p:spPr>
          <a:xfrm>
            <a:off x="685800" y="4098863"/>
            <a:ext cx="8085125" cy="298878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5" name="Shape 11"/>
          <p:cNvSpPr/>
          <p:nvPr/>
        </p:nvSpPr>
        <p:spPr>
          <a:xfrm>
            <a:off x="685800" y="4696620"/>
            <a:ext cx="8085125" cy="298878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6" name="Shape 12"/>
          <p:cNvSpPr/>
          <p:nvPr/>
        </p:nvSpPr>
        <p:spPr>
          <a:xfrm>
            <a:off x="685800" y="2854757"/>
            <a:ext cx="10820095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17" name="Text 13"/>
          <p:cNvSpPr/>
          <p:nvPr/>
        </p:nvSpPr>
        <p:spPr>
          <a:xfrm>
            <a:off x="685800" y="2927909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00984" y="2927909"/>
            <a:ext cx="273497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채용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035954" y="2927909"/>
            <a:ext cx="273497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대행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770925" y="2927909"/>
            <a:ext cx="273497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85800" y="320222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2" name="Text 18"/>
          <p:cNvSpPr/>
          <p:nvPr/>
        </p:nvSpPr>
        <p:spPr>
          <a:xfrm>
            <a:off x="685800" y="3247949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시점 비용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300984" y="3247949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 · 4대보험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035954" y="3247949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 발생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770925" y="3247949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85800" y="350110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7" name="Text 23"/>
          <p:cNvSpPr/>
          <p:nvPr/>
        </p:nvSpPr>
        <p:spPr>
          <a:xfrm>
            <a:off x="685800" y="3546827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미계약 건 원가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300984" y="3546827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부담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035954" y="3546827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부담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770925" y="3546827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부담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85800" y="379998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8"/>
          <p:cNvSpPr/>
          <p:nvPr/>
        </p:nvSpPr>
        <p:spPr>
          <a:xfrm>
            <a:off x="685800" y="3845705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 모수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3300984" y="3845705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모객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6035954" y="3845705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 규모에 따름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770925" y="3845705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10만 · DB 5,114명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85800" y="409886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3"/>
          <p:cNvSpPr/>
          <p:nvPr/>
        </p:nvSpPr>
        <p:spPr>
          <a:xfrm>
            <a:off x="685800" y="4144583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점주 선별 기준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3300984" y="4144583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판단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6035954" y="4144583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대행사별 계약에 따름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8770925" y="4144583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인·적성검사 결과 제출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685800" y="4397741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2" name="Text 38"/>
          <p:cNvSpPr/>
          <p:nvPr/>
        </p:nvSpPr>
        <p:spPr>
          <a:xfrm>
            <a:off x="685800" y="4443461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브리핑 자료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3300984" y="4443461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제작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6035954" y="4443461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자료 전달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8770925" y="4443461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· 손익 산출 (본사 승인 서식)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685800" y="469662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7" name="Text 43"/>
          <p:cNvSpPr/>
          <p:nvPr/>
        </p:nvSpPr>
        <p:spPr>
          <a:xfrm>
            <a:off x="685800" y="4742340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관리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3300984" y="4742340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개별 관리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6035954" y="4742340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대행사별 계약에 따름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8770925" y="4742340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강제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685800" y="4995498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2" name="Text 48"/>
          <p:cNvSpPr/>
          <p:nvPr/>
        </p:nvSpPr>
        <p:spPr>
          <a:xfrm>
            <a:off x="685800" y="5041218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인력 증원</a:t>
            </a:r>
            <a:endParaRPr lang="en-US" sz="1150" dirty="0"/>
          </a:p>
        </p:txBody>
      </p:sp>
      <p:sp>
        <p:nvSpPr>
          <p:cNvPr id="53" name="Text 49"/>
          <p:cNvSpPr/>
          <p:nvPr/>
        </p:nvSpPr>
        <p:spPr>
          <a:xfrm>
            <a:off x="3300984" y="5041218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6035954" y="5041218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관리 담당 배정</a:t>
            </a:r>
            <a:endParaRPr lang="en-US" sz="1150" dirty="0"/>
          </a:p>
        </p:txBody>
      </p:sp>
      <p:sp>
        <p:nvSpPr>
          <p:cNvPr id="55" name="Text 51"/>
          <p:cNvSpPr/>
          <p:nvPr/>
        </p:nvSpPr>
        <p:spPr>
          <a:xfrm>
            <a:off x="8770925" y="5041218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0명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685800" y="5294376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7" name="Text 53"/>
          <p:cNvSpPr/>
          <p:nvPr/>
        </p:nvSpPr>
        <p:spPr>
          <a:xfrm>
            <a:off x="3300984" y="5349240"/>
            <a:ext cx="820491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직영 채용 : 계약 성사 여부와 무관하게 급여 · 4대보험 매월 발생    ※ 일반 대행 : 착수금 유무 및 반환 조건은 대행사별 계약에 따름</a:t>
            </a:r>
            <a:endParaRPr lang="en-US" sz="850" dirty="0"/>
          </a:p>
        </p:txBody>
      </p:sp>
      <p:pic>
        <p:nvPicPr>
          <p:cNvPr id="58" name="Image 2" descr="/home/user/onewillco-meeting-2026/runnerpub-proposal/assets/gr_b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5272"/>
            <a:ext cx="12191695" cy="65836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85800" y="5751576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미위임 시 채용 고정비와 미계약 건 원가 본사 부담 · 위임 시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성사 건에만 비용 발생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발생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시점과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정산 기준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5294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발생 시점과 금액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Shape 8"/>
          <p:cNvSpPr/>
          <p:nvPr/>
        </p:nvSpPr>
        <p:spPr>
          <a:xfrm>
            <a:off x="685800" y="3686861"/>
            <a:ext cx="5669280" cy="541325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4769510"/>
            <a:ext cx="5669280" cy="541325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3" name="Shape 10"/>
          <p:cNvSpPr/>
          <p:nvPr/>
        </p:nvSpPr>
        <p:spPr>
          <a:xfrm>
            <a:off x="685800" y="2798064"/>
            <a:ext cx="5669280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14" name="Text 11"/>
          <p:cNvSpPr/>
          <p:nvPr/>
        </p:nvSpPr>
        <p:spPr>
          <a:xfrm>
            <a:off x="685800" y="287121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57400" y="287121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0" y="2871216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" y="3145536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685800" y="3191256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057400" y="3191256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3191256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3686861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2" name="Text 19"/>
          <p:cNvSpPr/>
          <p:nvPr/>
        </p:nvSpPr>
        <p:spPr>
          <a:xfrm>
            <a:off x="685800" y="3732581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고정비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057400" y="3732581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800600" y="3732581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5800" y="4228186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6" name="Text 23"/>
          <p:cNvSpPr/>
          <p:nvPr/>
        </p:nvSpPr>
        <p:spPr>
          <a:xfrm>
            <a:off x="685800" y="4273906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2057400" y="4273906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영업 대가 청구 없음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800600" y="4273906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85800" y="4769510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685800" y="4815230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2057400" y="4815230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 및 가맹비 입금 완료 후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00600" y="4815230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1,000만원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85800" y="5310835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4" name="Text 31"/>
          <p:cNvSpPr/>
          <p:nvPr/>
        </p:nvSpPr>
        <p:spPr>
          <a:xfrm>
            <a:off x="685800" y="5356555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· 환불 시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2057400" y="5356555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정책에 맞춰 착수 전 협의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800600" y="5356555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85800" y="5852160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685800" y="592531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성공보수는 부가가치세 별도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77570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677570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1" name="Text 38"/>
          <p:cNvSpPr/>
          <p:nvPr/>
        </p:nvSpPr>
        <p:spPr>
          <a:xfrm>
            <a:off x="7095744" y="2359152"/>
            <a:ext cx="435528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귀속과 해제 시 환수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775704" y="2659075"/>
            <a:ext cx="473019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3" name="Shape 40"/>
          <p:cNvSpPr/>
          <p:nvPr/>
        </p:nvSpPr>
        <p:spPr>
          <a:xfrm>
            <a:off x="6775704" y="2761488"/>
            <a:ext cx="4730191" cy="640080"/>
          </a:xfrm>
          <a:prstGeom prst="roundRect">
            <a:avLst>
              <a:gd name="adj" fmla="val 8571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6940296" y="2798064"/>
            <a:ext cx="4401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귀속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940296" y="2999232"/>
            <a:ext cx="440100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할인은 건별 본사 승인 범위 안에서만 제시</a:t>
            </a:r>
            <a:endParaRPr lang="en-US" sz="93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할인액 전액 내일사장 성공보수 차감 · 본사 수취 1,500만원 불변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6775704" y="3438144"/>
            <a:ext cx="4730191" cy="640080"/>
          </a:xfrm>
          <a:prstGeom prst="roundRect">
            <a:avLst>
              <a:gd name="adj" fmla="val 8571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7" name="Text 44"/>
          <p:cNvSpPr/>
          <p:nvPr/>
        </p:nvSpPr>
        <p:spPr>
          <a:xfrm>
            <a:off x="6940296" y="3474720"/>
            <a:ext cx="4401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시 환수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940296" y="3675888"/>
            <a:ext cx="440100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해제 · 환불 발생 시 성공보수 환수 기준을 착수 전 협의</a:t>
            </a:r>
            <a:endParaRPr lang="en-US" sz="930" dirty="0"/>
          </a:p>
        </p:txBody>
      </p:sp>
      <p:sp>
        <p:nvSpPr>
          <p:cNvPr id="49" name="Text 46"/>
          <p:cNvSpPr/>
          <p:nvPr/>
        </p:nvSpPr>
        <p:spPr>
          <a:xfrm>
            <a:off x="6775704" y="4133088"/>
            <a:ext cx="473019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사전 승인 없는 할인 제시 건은 성공보수 미청구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775704" y="4393692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1" name="Text 48"/>
          <p:cNvSpPr/>
          <p:nvPr/>
        </p:nvSpPr>
        <p:spPr>
          <a:xfrm>
            <a:off x="6775704" y="4393692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52" name="Text 49"/>
          <p:cNvSpPr/>
          <p:nvPr/>
        </p:nvSpPr>
        <p:spPr>
          <a:xfrm>
            <a:off x="7095744" y="4334256"/>
            <a:ext cx="435528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매장 LSM 광고를 누가 집행하는가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6775704" y="4634179"/>
            <a:ext cx="473019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4" name="Text 51"/>
          <p:cNvSpPr/>
          <p:nvPr/>
        </p:nvSpPr>
        <p:spPr>
          <a:xfrm>
            <a:off x="6775704" y="4700016"/>
            <a:ext cx="47301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금액 = 내일사장 실수취 성공보수. 할인이 적용되면 이 금액이 줄어듭니다.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6775704" y="4974336"/>
            <a:ext cx="4730191" cy="384048"/>
          </a:xfrm>
          <a:prstGeom prst="roundRect">
            <a:avLst>
              <a:gd name="adj" fmla="val 14286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56" name="Shape 53"/>
          <p:cNvSpPr/>
          <p:nvPr/>
        </p:nvSpPr>
        <p:spPr>
          <a:xfrm>
            <a:off x="6922008" y="5047488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7" name="Text 54"/>
          <p:cNvSpPr/>
          <p:nvPr/>
        </p:nvSpPr>
        <p:spPr>
          <a:xfrm>
            <a:off x="6922008" y="50474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40" dirty="0"/>
          </a:p>
        </p:txBody>
      </p:sp>
      <p:sp>
        <p:nvSpPr>
          <p:cNvPr id="58" name="Text 55"/>
          <p:cNvSpPr/>
          <p:nvPr/>
        </p:nvSpPr>
        <p:spPr>
          <a:xfrm>
            <a:off x="7269480" y="4974336"/>
            <a:ext cx="2334463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실수취 1,000만원 (할인 없음)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658807" y="4974336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200만원</a:t>
            </a:r>
            <a:endParaRPr lang="en-US" sz="930" dirty="0"/>
          </a:p>
        </p:txBody>
      </p:sp>
      <p:sp>
        <p:nvSpPr>
          <p:cNvPr id="60" name="Text 57"/>
          <p:cNvSpPr/>
          <p:nvPr/>
        </p:nvSpPr>
        <p:spPr>
          <a:xfrm>
            <a:off x="10774375" y="4974336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0원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775704" y="5376672"/>
            <a:ext cx="4730191" cy="384048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62" name="Shape 59"/>
          <p:cNvSpPr/>
          <p:nvPr/>
        </p:nvSpPr>
        <p:spPr>
          <a:xfrm>
            <a:off x="6922008" y="5449824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63" name="Text 60"/>
          <p:cNvSpPr/>
          <p:nvPr/>
        </p:nvSpPr>
        <p:spPr>
          <a:xfrm>
            <a:off x="6922008" y="54498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40" dirty="0"/>
          </a:p>
        </p:txBody>
      </p:sp>
      <p:sp>
        <p:nvSpPr>
          <p:cNvPr id="64" name="Text 61"/>
          <p:cNvSpPr/>
          <p:nvPr/>
        </p:nvSpPr>
        <p:spPr>
          <a:xfrm>
            <a:off x="7269480" y="5376672"/>
            <a:ext cx="2334463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실수취 800만원 초과 ~ 1,000만원 미만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658807" y="537667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양사 협의</a:t>
            </a:r>
            <a:endParaRPr lang="en-US" sz="930" dirty="0"/>
          </a:p>
        </p:txBody>
      </p:sp>
      <p:sp>
        <p:nvSpPr>
          <p:cNvPr id="66" name="Text 63"/>
          <p:cNvSpPr/>
          <p:nvPr/>
        </p:nvSpPr>
        <p:spPr>
          <a:xfrm>
            <a:off x="10774375" y="5376672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6775704" y="5779008"/>
            <a:ext cx="4730191" cy="384048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68" name="Shape 65"/>
          <p:cNvSpPr/>
          <p:nvPr/>
        </p:nvSpPr>
        <p:spPr>
          <a:xfrm>
            <a:off x="6922008" y="5852160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69" name="Text 66"/>
          <p:cNvSpPr/>
          <p:nvPr/>
        </p:nvSpPr>
        <p:spPr>
          <a:xfrm>
            <a:off x="6922008" y="58521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40" dirty="0"/>
          </a:p>
        </p:txBody>
      </p:sp>
      <p:sp>
        <p:nvSpPr>
          <p:cNvPr id="70" name="Text 67"/>
          <p:cNvSpPr/>
          <p:nvPr/>
        </p:nvSpPr>
        <p:spPr>
          <a:xfrm>
            <a:off x="7269480" y="5779008"/>
            <a:ext cx="2334463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실수취 800만원 이하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658807" y="5779008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집행</a:t>
            </a:r>
            <a:endParaRPr lang="en-US" sz="930" dirty="0"/>
          </a:p>
        </p:txBody>
      </p:sp>
      <p:sp>
        <p:nvSpPr>
          <p:cNvPr id="72" name="Text 69"/>
          <p:cNvSpPr/>
          <p:nvPr/>
        </p:nvSpPr>
        <p:spPr>
          <a:xfrm>
            <a:off x="10774375" y="5779008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부담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nel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0" y="0"/>
            <a:ext cx="9144" cy="6858000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" name="Shape 1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6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5800" y="1263701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시점부터 흑자,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로열티 전액 순증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0" name="Text 6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1" name="Text 7"/>
          <p:cNvSpPr/>
          <p:nvPr/>
        </p:nvSpPr>
        <p:spPr>
          <a:xfrm>
            <a:off x="1005840" y="2359152"/>
            <a:ext cx="40965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1건 · 계약 시점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2659075"/>
            <a:ext cx="447141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3" name="Text 9"/>
          <p:cNvSpPr/>
          <p:nvPr/>
        </p:nvSpPr>
        <p:spPr>
          <a:xfrm>
            <a:off x="685800" y="2889504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(본사 수취)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54680" y="2889504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76"/>
              </a:lnSpc>
              <a:buNone/>
            </a:pPr>
            <a:r>
              <a:rPr lang="en-US" sz="1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+1,500만원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3236976"/>
            <a:ext cx="447141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6" name="Text 12"/>
          <p:cNvSpPr/>
          <p:nvPr/>
        </p:nvSpPr>
        <p:spPr>
          <a:xfrm>
            <a:off x="685800" y="3328416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(내일사장)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154680" y="3328416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76"/>
              </a:lnSpc>
              <a:buNone/>
            </a:pPr>
            <a:r>
              <a:rPr lang="en-US" sz="1400" b="1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−1,000만원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5800" y="3675888"/>
            <a:ext cx="447141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9" name="Shape 15"/>
          <p:cNvSpPr/>
          <p:nvPr/>
        </p:nvSpPr>
        <p:spPr>
          <a:xfrm>
            <a:off x="685800" y="3840480"/>
            <a:ext cx="4471416" cy="786384"/>
          </a:xfrm>
          <a:prstGeom prst="roundRect">
            <a:avLst>
              <a:gd name="adj" fmla="val 9302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868680" y="3931920"/>
            <a:ext cx="41056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 본사 순수취 · 착수금 · 월 고정비 · 광고비 0원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68680" y="4133088"/>
            <a:ext cx="410565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2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+500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만원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685800" y="4754880"/>
            <a:ext cx="44714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월 로열티 150만원 전액 본사 순증 · 개설 대가 추가 청구 없음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5800" y="5065776"/>
            <a:ext cx="447141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기본비용 1,600만원 전액 할인 프로모션은 본사 정책 그대로 유지</a:t>
            </a:r>
            <a:endParaRPr lang="en-US" sz="10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성공보수는 가맹비 1,500만원 범위 안에서만 정산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85800" y="5925312"/>
            <a:ext cx="44714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가맹비 기준 순수취 · 개설 실비는 본사 산정 기준 · 러너펍 공개 안내 기준 시뮬레이션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99846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6" name="Text 22"/>
          <p:cNvSpPr/>
          <p:nvPr/>
        </p:nvSpPr>
        <p:spPr>
          <a:xfrm>
            <a:off x="599846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7" name="Text 23"/>
          <p:cNvSpPr/>
          <p:nvPr/>
        </p:nvSpPr>
        <p:spPr>
          <a:xfrm>
            <a:off x="6318504" y="2359152"/>
            <a:ext cx="513252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1개점 누적 본사 순수취 (막대 100% = 5,900만원)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998464" y="2659075"/>
            <a:ext cx="55074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9" name="Text 25"/>
          <p:cNvSpPr/>
          <p:nvPr/>
        </p:nvSpPr>
        <p:spPr>
          <a:xfrm>
            <a:off x="5998464" y="2889504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</a:t>
            </a:r>
            <a:endParaRPr lang="en-US" sz="1050" dirty="0"/>
          </a:p>
        </p:txBody>
      </p:sp>
      <p:pic>
        <p:nvPicPr>
          <p:cNvPr id="30" name="Image 2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2935224"/>
            <a:ext cx="1091840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805111" y="2889504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2,300만원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998464" y="3328416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24개월</a:t>
            </a:r>
            <a:endParaRPr lang="en-US" sz="1050" dirty="0"/>
          </a:p>
        </p:txBody>
      </p:sp>
      <p:pic>
        <p:nvPicPr>
          <p:cNvPr id="33" name="Image 3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3374136"/>
            <a:ext cx="1946324" cy="16459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805111" y="3328416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4,100만원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998464" y="376732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36개월</a:t>
            </a:r>
            <a:endParaRPr lang="en-US" sz="1050" dirty="0"/>
          </a:p>
        </p:txBody>
      </p:sp>
      <p:pic>
        <p:nvPicPr>
          <p:cNvPr id="36" name="Image 4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3813048"/>
            <a:ext cx="2800807" cy="16459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805111" y="3767328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5,900만원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998464" y="4302252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9" name="Text 32"/>
          <p:cNvSpPr/>
          <p:nvPr/>
        </p:nvSpPr>
        <p:spPr>
          <a:xfrm>
            <a:off x="5998464" y="4302252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0" name="Text 33"/>
          <p:cNvSpPr/>
          <p:nvPr/>
        </p:nvSpPr>
        <p:spPr>
          <a:xfrm>
            <a:off x="6318504" y="4242816"/>
            <a:ext cx="513252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출점 규모별 36개월 누적 (막대 100% = 5억 9,000만원)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5998464" y="4542739"/>
            <a:ext cx="55074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2" name="Text 35"/>
          <p:cNvSpPr/>
          <p:nvPr/>
        </p:nvSpPr>
        <p:spPr>
          <a:xfrm>
            <a:off x="5998464" y="4754880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3개점</a:t>
            </a:r>
            <a:endParaRPr lang="en-US" sz="1050" dirty="0"/>
          </a:p>
        </p:txBody>
      </p:sp>
      <p:pic>
        <p:nvPicPr>
          <p:cNvPr id="43" name="Image 5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4800600"/>
            <a:ext cx="840242" cy="16459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805111" y="4754880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7,700만원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998464" y="5193792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5개점</a:t>
            </a:r>
            <a:endParaRPr lang="en-US" sz="1050" dirty="0"/>
          </a:p>
        </p:txBody>
      </p:sp>
      <p:pic>
        <p:nvPicPr>
          <p:cNvPr id="46" name="Image 6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5239512"/>
            <a:ext cx="1400404" cy="16459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805111" y="519379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2억 9,500만원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5998464" y="5632704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10개점</a:t>
            </a:r>
            <a:endParaRPr lang="en-US" sz="1050" dirty="0"/>
          </a:p>
        </p:txBody>
      </p:sp>
      <p:pic>
        <p:nvPicPr>
          <p:cNvPr id="49" name="Image 7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5678424"/>
            <a:ext cx="2800807" cy="16459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805111" y="5632704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5억 9,000만원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5998464" y="5961888"/>
            <a:ext cx="550743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1,500만원 + 월 로열티 150만원 × 36개월 − 성공보수 1,000만원 기준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Governance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아닌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기반의 준법 통제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0" name="Text 7"/>
          <p:cNvSpPr/>
          <p:nvPr/>
        </p:nvSpPr>
        <p:spPr>
          <a:xfrm>
            <a:off x="1005840" y="2359152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 잠금 흐름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65907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13" name="Shape 10"/>
          <p:cNvSpPr/>
          <p:nvPr/>
        </p:nvSpPr>
        <p:spPr>
          <a:xfrm>
            <a:off x="832104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4" name="Text 11"/>
          <p:cNvSpPr/>
          <p:nvPr/>
        </p:nvSpPr>
        <p:spPr>
          <a:xfrm>
            <a:off x="832104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24712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제공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24712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자료 그대로 전달</a:t>
            </a:r>
            <a:endParaRPr lang="en-US" sz="930" dirty="0"/>
          </a:p>
        </p:txBody>
      </p:sp>
      <p:pic>
        <p:nvPicPr>
          <p:cNvPr id="17" name="Image 1" descr="/home/user/onewillco-meeting-2026/runnerpub-proposal/assets/ic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940" y="3017520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486836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19" name="Shape 15"/>
          <p:cNvSpPr/>
          <p:nvPr/>
        </p:nvSpPr>
        <p:spPr>
          <a:xfrm>
            <a:off x="3633140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3633140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60" dirty="0"/>
          </a:p>
        </p:txBody>
      </p:sp>
      <p:sp>
        <p:nvSpPr>
          <p:cNvPr id="21" name="Text 17"/>
          <p:cNvSpPr/>
          <p:nvPr/>
        </p:nvSpPr>
        <p:spPr>
          <a:xfrm>
            <a:off x="3925748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D-14 자동 카운트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925748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가맹사업법 제7조제3항</a:t>
            </a:r>
            <a:endParaRPr lang="en-US" sz="930" dirty="0"/>
          </a:p>
        </p:txBody>
      </p:sp>
      <p:pic>
        <p:nvPicPr>
          <p:cNvPr id="23" name="Image 2" descr="/home/user/onewillco-meeting-2026/runnerpub-proposal/asset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76" y="3017520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87872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5" name="Shape 20"/>
          <p:cNvSpPr/>
          <p:nvPr/>
        </p:nvSpPr>
        <p:spPr>
          <a:xfrm>
            <a:off x="6434176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6" name="Text 21"/>
          <p:cNvSpPr/>
          <p:nvPr/>
        </p:nvSpPr>
        <p:spPr>
          <a:xfrm>
            <a:off x="6434176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60" dirty="0"/>
          </a:p>
        </p:txBody>
      </p:sp>
      <p:sp>
        <p:nvSpPr>
          <p:cNvPr id="27" name="Text 22"/>
          <p:cNvSpPr/>
          <p:nvPr/>
        </p:nvSpPr>
        <p:spPr>
          <a:xfrm>
            <a:off x="6726784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 시스템 잠금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726784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경과 전 체결 불가</a:t>
            </a:r>
            <a:endParaRPr lang="en-US" sz="930" dirty="0"/>
          </a:p>
        </p:txBody>
      </p:sp>
      <p:pic>
        <p:nvPicPr>
          <p:cNvPr id="29" name="Image 3" descr="/home/user/onewillco-meeting-2026/runnerpub-proposal/assets/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011" y="3017520"/>
            <a:ext cx="219456" cy="21945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9088907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1" name="Shape 25"/>
          <p:cNvSpPr/>
          <p:nvPr/>
        </p:nvSpPr>
        <p:spPr>
          <a:xfrm>
            <a:off x="9235211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2" name="Text 26"/>
          <p:cNvSpPr/>
          <p:nvPr/>
        </p:nvSpPr>
        <p:spPr>
          <a:xfrm>
            <a:off x="9235211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60" dirty="0"/>
          </a:p>
        </p:txBody>
      </p:sp>
      <p:sp>
        <p:nvSpPr>
          <p:cNvPr id="33" name="Text 27"/>
          <p:cNvSpPr/>
          <p:nvPr/>
        </p:nvSpPr>
        <p:spPr>
          <a:xfrm>
            <a:off x="9527819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경과 후 잠금 해제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527819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진행</a:t>
            </a:r>
            <a:endParaRPr lang="en-US" sz="930" dirty="0"/>
          </a:p>
        </p:txBody>
      </p:sp>
      <p:sp>
        <p:nvSpPr>
          <p:cNvPr id="35" name="Shape 29"/>
          <p:cNvSpPr/>
          <p:nvPr/>
        </p:nvSpPr>
        <p:spPr>
          <a:xfrm>
            <a:off x="685800" y="3662172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6" name="Text 30"/>
          <p:cNvSpPr/>
          <p:nvPr/>
        </p:nvSpPr>
        <p:spPr>
          <a:xfrm>
            <a:off x="685800" y="3662172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7" name="Text 31"/>
          <p:cNvSpPr/>
          <p:nvPr/>
        </p:nvSpPr>
        <p:spPr>
          <a:xfrm>
            <a:off x="1005840" y="3602736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위험과 차단 장치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685800" y="390265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9" name="Shape 33"/>
          <p:cNvSpPr/>
          <p:nvPr/>
        </p:nvSpPr>
        <p:spPr>
          <a:xfrm>
            <a:off x="685800" y="4686300"/>
            <a:ext cx="10820095" cy="297180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685800" y="5280660"/>
            <a:ext cx="10820095" cy="297180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41" name="Shape 35"/>
          <p:cNvSpPr/>
          <p:nvPr/>
        </p:nvSpPr>
        <p:spPr>
          <a:xfrm>
            <a:off x="685800" y="5875020"/>
            <a:ext cx="10820095" cy="297180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42" name="Shape 36"/>
          <p:cNvSpPr/>
          <p:nvPr/>
        </p:nvSpPr>
        <p:spPr>
          <a:xfrm>
            <a:off x="685800" y="4041648"/>
            <a:ext cx="10820095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685800" y="41148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3703320" y="4114800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 장치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7909560" y="4114800"/>
            <a:ext cx="359633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확인 방법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85800" y="438912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7" name="Text 41"/>
          <p:cNvSpPr/>
          <p:nvPr/>
        </p:nvSpPr>
        <p:spPr>
          <a:xfrm>
            <a:off x="685800" y="4434840"/>
            <a:ext cx="287121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예상매출 과장 안내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3703320" y="4434840"/>
            <a:ext cx="405993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 서식 서면만 사용 · 구두 약속 금지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7909560" y="4434840"/>
            <a:ext cx="345003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산출근거 본사 제출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85800" y="468630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1" name="Text 45"/>
          <p:cNvSpPr/>
          <p:nvPr/>
        </p:nvSpPr>
        <p:spPr>
          <a:xfrm>
            <a:off x="685800" y="4732020"/>
            <a:ext cx="287121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숙고기간 14일 미준수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3703320" y="4732020"/>
            <a:ext cx="405993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D-14 자동 카운트 · 경과 전 전자계약 잠금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7909560" y="4732020"/>
            <a:ext cx="345003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· 경과 이력 화면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85800" y="498348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5" name="Text 49"/>
          <p:cNvSpPr/>
          <p:nvPr/>
        </p:nvSpPr>
        <p:spPr>
          <a:xfrm>
            <a:off x="685800" y="5029200"/>
            <a:ext cx="287121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· 계약서 오제공</a:t>
            </a:r>
            <a:endParaRPr lang="en-US" sz="950" dirty="0"/>
          </a:p>
        </p:txBody>
      </p:sp>
      <p:sp>
        <p:nvSpPr>
          <p:cNvPr id="56" name="Text 50"/>
          <p:cNvSpPr/>
          <p:nvPr/>
        </p:nvSpPr>
        <p:spPr>
          <a:xfrm>
            <a:off x="3703320" y="5029200"/>
            <a:ext cx="405993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제공 원본 그대로 전달 · 설명 보조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7909560" y="5029200"/>
            <a:ext cx="345003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이력 기록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85800" y="528066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9" name="Text 53"/>
          <p:cNvSpPr/>
          <p:nvPr/>
        </p:nvSpPr>
        <p:spPr>
          <a:xfrm>
            <a:off x="685800" y="5326380"/>
            <a:ext cx="287121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자료 · 광고 무단 변형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3703320" y="5326380"/>
            <a:ext cx="405993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· 상담 스크립트 본사 사전 승인 후 사용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7909560" y="5326380"/>
            <a:ext cx="345003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건만 집행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685800" y="557784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3" name="Text 57"/>
          <p:cNvSpPr/>
          <p:nvPr/>
        </p:nvSpPr>
        <p:spPr>
          <a:xfrm>
            <a:off x="685800" y="5623560"/>
            <a:ext cx="287121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부적격 점주 유입</a:t>
            </a:r>
            <a:endParaRPr lang="en-US" sz="950" dirty="0"/>
          </a:p>
        </p:txBody>
      </p:sp>
      <p:sp>
        <p:nvSpPr>
          <p:cNvPr id="64" name="Text 58"/>
          <p:cNvSpPr/>
          <p:nvPr/>
        </p:nvSpPr>
        <p:spPr>
          <a:xfrm>
            <a:off x="3703320" y="5623560"/>
            <a:ext cx="405993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인·적성검사 결과 제출 후 브리핑</a:t>
            </a:r>
            <a:endParaRPr lang="en-US" sz="950" dirty="0"/>
          </a:p>
        </p:txBody>
      </p:sp>
      <p:sp>
        <p:nvSpPr>
          <p:cNvPr id="65" name="Text 59"/>
          <p:cNvSpPr/>
          <p:nvPr/>
        </p:nvSpPr>
        <p:spPr>
          <a:xfrm>
            <a:off x="7909560" y="5623560"/>
            <a:ext cx="345003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점주 승인은 본사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685800" y="587502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7" name="Text 61"/>
          <p:cNvSpPr/>
          <p:nvPr/>
        </p:nvSpPr>
        <p:spPr>
          <a:xfrm>
            <a:off x="685800" y="5920740"/>
            <a:ext cx="287121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인허가 · 게임물 기준 오안내</a:t>
            </a:r>
            <a:endParaRPr lang="en-US" sz="950" dirty="0"/>
          </a:p>
        </p:txBody>
      </p:sp>
      <p:sp>
        <p:nvSpPr>
          <p:cNvPr id="68" name="Text 62"/>
          <p:cNvSpPr/>
          <p:nvPr/>
        </p:nvSpPr>
        <p:spPr>
          <a:xfrm>
            <a:off x="3703320" y="5920740"/>
            <a:ext cx="4059936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본사 기준 그대로 적용 · 독자 안내 금지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7909560" y="5920740"/>
            <a:ext cx="345003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시 즉시 중단 · 본사 통보</a:t>
            </a:r>
            <a:endParaRPr lang="en-US" sz="950" dirty="0"/>
          </a:p>
        </p:txBody>
      </p:sp>
      <p:sp>
        <p:nvSpPr>
          <p:cNvPr id="70" name="Shape 64"/>
          <p:cNvSpPr/>
          <p:nvPr/>
        </p:nvSpPr>
        <p:spPr>
          <a:xfrm>
            <a:off x="685800" y="617220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pic>
        <p:nvPicPr>
          <p:cNvPr id="5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 업종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이력 없음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685800" y="2359152"/>
            <a:ext cx="4315968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9" name="Shape 5"/>
          <p:cNvSpPr/>
          <p:nvPr/>
        </p:nvSpPr>
        <p:spPr>
          <a:xfrm>
            <a:off x="868680" y="2505456"/>
            <a:ext cx="1092200" cy="219456"/>
          </a:xfrm>
          <a:prstGeom prst="roundRect">
            <a:avLst>
              <a:gd name="adj" fmla="val 25000"/>
            </a:avLst>
          </a:prstGeom>
          <a:solidFill>
            <a:srgbClr val="EFF1F4"/>
          </a:solidFill>
          <a:ln>
            <a:noFill/>
          </a:ln>
        </p:spPr>
      </p:sp>
      <p:sp>
        <p:nvSpPr>
          <p:cNvPr id="10" name="Text 6"/>
          <p:cNvSpPr/>
          <p:nvPr/>
        </p:nvSpPr>
        <p:spPr>
          <a:xfrm>
            <a:off x="1033272" y="2505456"/>
            <a:ext cx="7630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경험 없음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68680" y="285292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 업종 영업 이력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68680" y="309067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buNone/>
            </a:pPr>
            <a:r>
              <a:rPr lang="en-US" sz="1300" b="1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2898648" y="2852928"/>
            <a:ext cx="7315" cy="786384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4" name="Text 10"/>
          <p:cNvSpPr/>
          <p:nvPr/>
        </p:nvSpPr>
        <p:spPr>
          <a:xfrm>
            <a:off x="3081528" y="28529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정하는 파일럿 조건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081528" y="309067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3200" dirty="0"/>
          </a:p>
        </p:txBody>
      </p:sp>
      <p:sp>
        <p:nvSpPr>
          <p:cNvPr id="16" name="Shape 12"/>
          <p:cNvSpPr/>
          <p:nvPr/>
        </p:nvSpPr>
        <p:spPr>
          <a:xfrm>
            <a:off x="685800" y="4142232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7" name="Text 13"/>
          <p:cNvSpPr/>
          <p:nvPr/>
        </p:nvSpPr>
        <p:spPr>
          <a:xfrm>
            <a:off x="685800" y="41422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978408" y="41148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구간 파일럿 : 홀덤 적합군 분류부터 검증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85800" y="4562856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685800" y="45628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978408" y="453542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 · 기간 · 중단 시점 본사 단독 결정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85800" y="4983480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3" name="Text 19"/>
          <p:cNvSpPr/>
          <p:nvPr/>
        </p:nvSpPr>
        <p:spPr>
          <a:xfrm>
            <a:off x="685800" y="49834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4" name="Text 20"/>
          <p:cNvSpPr/>
          <p:nvPr/>
        </p:nvSpPr>
        <p:spPr>
          <a:xfrm>
            <a:off x="978408" y="49560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장치 : 파일럿 · 주 단위 리포트 · 본사 승인 자료 전용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85800" y="5404104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6" name="Text 22"/>
          <p:cNvSpPr/>
          <p:nvPr/>
        </p:nvSpPr>
        <p:spPr>
          <a:xfrm>
            <a:off x="685800" y="540410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7" name="Text 23"/>
          <p:cNvSpPr/>
          <p:nvPr/>
        </p:nvSpPr>
        <p:spPr>
          <a:xfrm>
            <a:off x="978408" y="537667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브랜드 및 러너러너 앱 본사 교육 이수 후 영업 투입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85800" y="5888736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리브랜딩 트랙은 운영 중 점주 대상이며, 입지 · 손익 · 계약 절차는 업종과 무관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422392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0" name="Text 26"/>
          <p:cNvSpPr/>
          <p:nvPr/>
        </p:nvSpPr>
        <p:spPr>
          <a:xfrm>
            <a:off x="5422392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1" name="Text 27"/>
          <p:cNvSpPr/>
          <p:nvPr/>
        </p:nvSpPr>
        <p:spPr>
          <a:xfrm>
            <a:off x="5742432" y="2359152"/>
            <a:ext cx="5708599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운영 기준 (본사 결정 사항)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5422392" y="2659075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3" name="Shape 29"/>
          <p:cNvSpPr/>
          <p:nvPr/>
        </p:nvSpPr>
        <p:spPr>
          <a:xfrm>
            <a:off x="5422392" y="3523869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4" name="Shape 30"/>
          <p:cNvSpPr/>
          <p:nvPr/>
        </p:nvSpPr>
        <p:spPr>
          <a:xfrm>
            <a:off x="5422392" y="4280535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5" name="Shape 31"/>
          <p:cNvSpPr/>
          <p:nvPr/>
        </p:nvSpPr>
        <p:spPr>
          <a:xfrm>
            <a:off x="5422392" y="5037201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6" name="Shape 32"/>
          <p:cNvSpPr/>
          <p:nvPr/>
        </p:nvSpPr>
        <p:spPr>
          <a:xfrm>
            <a:off x="5422392" y="5793867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7" name="Shape 33"/>
          <p:cNvSpPr/>
          <p:nvPr/>
        </p:nvSpPr>
        <p:spPr>
          <a:xfrm>
            <a:off x="5422392" y="2798064"/>
            <a:ext cx="6083503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8" name="Text 34"/>
          <p:cNvSpPr/>
          <p:nvPr/>
        </p:nvSpPr>
        <p:spPr>
          <a:xfrm>
            <a:off x="5422392" y="287121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635240" y="2871216"/>
            <a:ext cx="387065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결정 사항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422392" y="3145536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1" name="Text 37"/>
          <p:cNvSpPr/>
          <p:nvPr/>
        </p:nvSpPr>
        <p:spPr>
          <a:xfrm>
            <a:off x="5422392" y="3191256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기준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7635240" y="3191256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판단으로 즉시 중단, 사유 제한 없음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422392" y="3523869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4" name="Text 40"/>
          <p:cNvSpPr/>
          <p:nvPr/>
        </p:nvSpPr>
        <p:spPr>
          <a:xfrm>
            <a:off x="5422392" y="3569589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기간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7635240" y="3569589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별지로 기간 확정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5422392" y="3902202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7" name="Text 43"/>
          <p:cNvSpPr/>
          <p:nvPr/>
        </p:nvSpPr>
        <p:spPr>
          <a:xfrm>
            <a:off x="5422392" y="3947922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건수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7635240" y="3947922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별지로 목표 건수 확정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5422392" y="4280535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0" name="Text 46"/>
          <p:cNvSpPr/>
          <p:nvPr/>
        </p:nvSpPr>
        <p:spPr>
          <a:xfrm>
            <a:off x="5422392" y="4326255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범위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7635240" y="4326255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또는 특정 권역 중 선택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422392" y="4658868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3" name="Text 49"/>
          <p:cNvSpPr/>
          <p:nvPr/>
        </p:nvSpPr>
        <p:spPr>
          <a:xfrm>
            <a:off x="5422392" y="4704588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지표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7635240" y="4704588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리드 수 · 상담 진행 수 · 계약 체결 건수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5422392" y="5037201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6" name="Text 52"/>
          <p:cNvSpPr/>
          <p:nvPr/>
        </p:nvSpPr>
        <p:spPr>
          <a:xfrm>
            <a:off x="5422392" y="5082921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150" dirty="0"/>
          </a:p>
        </p:txBody>
      </p:sp>
      <p:sp>
        <p:nvSpPr>
          <p:cNvPr id="57" name="Text 53"/>
          <p:cNvSpPr/>
          <p:nvPr/>
        </p:nvSpPr>
        <p:spPr>
          <a:xfrm>
            <a:off x="7635240" y="5082921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단위 리포트 · 활동 지표 및 단계별 파이프라인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5422392" y="5415534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9" name="Text 55"/>
          <p:cNvSpPr/>
          <p:nvPr/>
        </p:nvSpPr>
        <p:spPr>
          <a:xfrm>
            <a:off x="5422392" y="5461254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조건</a:t>
            </a:r>
            <a:endParaRPr lang="en-US" sz="1150" dirty="0"/>
          </a:p>
        </p:txBody>
      </p:sp>
      <p:sp>
        <p:nvSpPr>
          <p:cNvPr id="60" name="Text 56"/>
          <p:cNvSpPr/>
          <p:nvPr/>
        </p:nvSpPr>
        <p:spPr>
          <a:xfrm>
            <a:off x="7635240" y="5461254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 자료 확정 후 즉시 착수 · 착수금 없음</a:t>
            </a:r>
            <a:endParaRPr lang="en-US" sz="1150" dirty="0"/>
          </a:p>
        </p:txBody>
      </p:sp>
      <p:sp>
        <p:nvSpPr>
          <p:cNvPr id="61" name="Shape 57"/>
          <p:cNvSpPr/>
          <p:nvPr/>
        </p:nvSpPr>
        <p:spPr>
          <a:xfrm>
            <a:off x="5422392" y="5793867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2" name="Text 58"/>
          <p:cNvSpPr/>
          <p:nvPr/>
        </p:nvSpPr>
        <p:spPr>
          <a:xfrm>
            <a:off x="5422392" y="5839587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종료 시</a:t>
            </a:r>
            <a:endParaRPr lang="en-US" sz="1150" dirty="0"/>
          </a:p>
        </p:txBody>
      </p:sp>
      <p:sp>
        <p:nvSpPr>
          <p:cNvPr id="63" name="Text 59"/>
          <p:cNvSpPr/>
          <p:nvPr/>
        </p:nvSpPr>
        <p:spPr>
          <a:xfrm>
            <a:off x="7635240" y="5839587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연장 또는 종료 본사 단독 결정</a:t>
            </a:r>
            <a:endParaRPr lang="en-US" sz="1150" dirty="0"/>
          </a:p>
        </p:txBody>
      </p:sp>
      <p:sp>
        <p:nvSpPr>
          <p:cNvPr id="64" name="Shape 60"/>
          <p:cNvSpPr/>
          <p:nvPr/>
        </p:nvSpPr>
        <p:spPr>
          <a:xfrm>
            <a:off x="5422392" y="6172200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pic>
        <p:nvPicPr>
          <p:cNvPr id="4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85800" y="1263701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정하시는 </a:t>
            </a:r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5건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5800" y="1775765"/>
            <a:ext cx="9901657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아래 다섯 가지만 정해 주시면, 파일럿 세부 운영 조건 8항목은 별지로 확정합니다.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2434133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5"/>
          <p:cNvSpPr/>
          <p:nvPr/>
        </p:nvSpPr>
        <p:spPr>
          <a:xfrm>
            <a:off x="685800" y="2434133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40" dirty="0"/>
          </a:p>
        </p:txBody>
      </p:sp>
      <p:sp>
        <p:nvSpPr>
          <p:cNvPr id="10" name="Text 6"/>
          <p:cNvSpPr/>
          <p:nvPr/>
        </p:nvSpPr>
        <p:spPr>
          <a:xfrm>
            <a:off x="1051560" y="2415845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 · 비전속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721608" y="2415845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 여부 · 타 대행사 병행 · 홀덤 동종 브랜드 영업 제한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276331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3" name="Shape 9"/>
          <p:cNvSpPr/>
          <p:nvPr/>
        </p:nvSpPr>
        <p:spPr>
          <a:xfrm>
            <a:off x="685800" y="2854757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4" name="Text 10"/>
          <p:cNvSpPr/>
          <p:nvPr/>
        </p:nvSpPr>
        <p:spPr>
          <a:xfrm>
            <a:off x="685800" y="2854757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1"/>
          <p:cNvSpPr/>
          <p:nvPr/>
        </p:nvSpPr>
        <p:spPr>
          <a:xfrm>
            <a:off x="1051560" y="2836469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지역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21608" y="2836469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또는 특정 권역 한정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" y="3183941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685800" y="3275381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9" name="Text 15"/>
          <p:cNvSpPr/>
          <p:nvPr/>
        </p:nvSpPr>
        <p:spPr>
          <a:xfrm>
            <a:off x="685800" y="3275381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40" dirty="0"/>
          </a:p>
        </p:txBody>
      </p:sp>
      <p:sp>
        <p:nvSpPr>
          <p:cNvPr id="20" name="Text 16"/>
          <p:cNvSpPr/>
          <p:nvPr/>
        </p:nvSpPr>
        <p:spPr>
          <a:xfrm>
            <a:off x="1051560" y="3257093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 기간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721608" y="3257093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기간 및 연장 조건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85800" y="360456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3" name="Shape 19"/>
          <p:cNvSpPr/>
          <p:nvPr/>
        </p:nvSpPr>
        <p:spPr>
          <a:xfrm>
            <a:off x="685800" y="3696005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Text 20"/>
          <p:cNvSpPr/>
          <p:nvPr/>
        </p:nvSpPr>
        <p:spPr>
          <a:xfrm>
            <a:off x="685800" y="369600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40" dirty="0"/>
          </a:p>
        </p:txBody>
      </p:sp>
      <p:sp>
        <p:nvSpPr>
          <p:cNvPr id="25" name="Text 21"/>
          <p:cNvSpPr/>
          <p:nvPr/>
        </p:nvSpPr>
        <p:spPr>
          <a:xfrm>
            <a:off x="1051560" y="3677717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영업 병행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721608" y="3677717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직영 영업 병행 여부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85800" y="402518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Shape 24"/>
          <p:cNvSpPr/>
          <p:nvPr/>
        </p:nvSpPr>
        <p:spPr>
          <a:xfrm>
            <a:off x="685800" y="4116629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9" name="Text 25"/>
          <p:cNvSpPr/>
          <p:nvPr/>
        </p:nvSpPr>
        <p:spPr>
          <a:xfrm>
            <a:off x="685800" y="4116629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40" dirty="0"/>
          </a:p>
        </p:txBody>
      </p:sp>
      <p:sp>
        <p:nvSpPr>
          <p:cNvPr id="30" name="Text 26"/>
          <p:cNvSpPr/>
          <p:nvPr/>
        </p:nvSpPr>
        <p:spPr>
          <a:xfrm>
            <a:off x="1051560" y="409834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시공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721608" y="4098341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시공 진행 여부 · 추가 수익 분배 별도 협의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85800" y="444581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3" name="Text 29"/>
          <p:cNvSpPr/>
          <p:nvPr/>
        </p:nvSpPr>
        <p:spPr>
          <a:xfrm>
            <a:off x="685800" y="4610405"/>
            <a:ext cx="1082009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착수금 없음 · 본사 승인 자료 확정 후 즉시 착수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175608" y="4939589"/>
            <a:ext cx="38404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pic>
        <p:nvPicPr>
          <p:cNvPr id="35" name="Image 2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64" y="5049317"/>
            <a:ext cx="1572768" cy="348593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5800" y="5469941"/>
            <a:ext cx="108200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내일부터 내 일이 사장이 되는 플랫폼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85800" y="5744261"/>
            <a:ext cx="1082009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 지용관 본부장 · 010-3629-7778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85800" y="5945429"/>
            <a:ext cx="1082009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 러너스튜디오(주) 귀중 · 대표 박경관   ·   서울 강남구 삼성로100길 12 제이타워 B2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주식회사 내일사장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러너펍 가맹 개설 영업 전면 위임 제안 — 내일사장</dc:title>
  <dc:subject>PptxGenJS Presentation</dc:subject>
  <dc:creator>주식회사 내일사장</dc:creator>
  <cp:lastModifiedBy>주식회사 내일사장</cp:lastModifiedBy>
  <cp:revision>1</cp:revision>
  <dcterms:created xsi:type="dcterms:W3CDTF">2026-08-04T02:21:32Z</dcterms:created>
  <dcterms:modified xsi:type="dcterms:W3CDTF">2026-08-04T02:21:32Z</dcterms:modified>
</cp:coreProperties>
</file>