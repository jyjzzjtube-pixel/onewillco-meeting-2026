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62179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62179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62179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62179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6217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269480" y="1513508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대상 업종  ·  RUNNER PUB 홀덤 라운지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69480" y="1879268"/>
            <a:ext cx="4236415" cy="2313080"/>
          </a:xfrm>
          <a:prstGeom prst="roundRect">
            <a:avLst>
              <a:gd name="adj" fmla="val 2372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5" name="Image 2" descr="/home/user/onewillco-meeting-2026/runnerpub-proposal/assets/p11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53588"/>
            <a:ext cx="3687775" cy="1544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3790012"/>
            <a:ext cx="38706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대상 매장 구성 — 홀덤 테이블 · 바 · 라운지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0" name="Text 15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3" name="Text 18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9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30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1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—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3429000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 서비스 활용 전후 비교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자영업자 1년 생존율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99%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223406" y="5138928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32%p</a:t>
            </a:r>
            <a:endParaRPr lang="en-US" sz="1600" dirty="0"/>
          </a:p>
        </p:txBody>
      </p:sp>
      <p:sp>
        <p:nvSpPr>
          <p:cNvPr id="40" name="Text 33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양도양수 성공비율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3454603" y="5724144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→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6223406" y="574243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44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33%p</a:t>
            </a:r>
            <a:endParaRPr lang="en-US" sz="1600" dirty="0"/>
          </a:p>
        </p:txBody>
      </p:sp>
      <p:sp>
        <p:nvSpPr>
          <p:cNvPr id="44" name="Text 37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인증 서비스 이용 건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하남시 조정대로 45 미사센텀비즈 922호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(CNT TECH)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이노베이션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다날 · SPC 섹타나인 · 토스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5998464" y="2798064"/>
            <a:ext cx="20117" cy="276606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5934456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5934456" y="3200400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5934456" y="4174236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5934456" y="534466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227064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391656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~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324344" y="274320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 자문사 설립 및 운영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6227064" y="3150108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4" name="Text 51"/>
          <p:cNvSpPr/>
          <p:nvPr/>
        </p:nvSpPr>
        <p:spPr>
          <a:xfrm>
            <a:off x="6391656" y="3150108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7324344" y="3127248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6318504" y="341985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내일사장 1.0 버전 출시 · 웹 버전 오픈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6318504" y="361645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318504" y="381304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6227064" y="4123944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0" name="Text 57"/>
          <p:cNvSpPr/>
          <p:nvPr/>
        </p:nvSpPr>
        <p:spPr>
          <a:xfrm>
            <a:off x="6391656" y="4123944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324344" y="4101084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구축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6318504" y="4393692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서브웨이 등 주요 프랜차이즈 약 20곳 브랜드인증관 입점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6318504" y="459028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6318504" y="478688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다날 업무협약 체결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318504" y="498348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227064" y="529437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7" name="Text 64"/>
          <p:cNvSpPr/>
          <p:nvPr/>
        </p:nvSpPr>
        <p:spPr>
          <a:xfrm>
            <a:off x="6391656" y="529437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324344" y="5271516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BM모델 고도화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318504" y="556412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우수 스타트업 선정 (Google 창구)</a:t>
            </a:r>
            <a:endParaRPr lang="en-US" sz="950" dirty="0"/>
          </a:p>
        </p:txBody>
      </p:sp>
      <p:sp>
        <p:nvSpPr>
          <p:cNvPr id="70" name="Text 67"/>
          <p:cNvSpPr/>
          <p:nvPr/>
        </p:nvSpPr>
        <p:spPr>
          <a:xfrm>
            <a:off x="6318504" y="576072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TIPS 선정 (중소벤처기업부)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318504" y="595731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디지털 이노베이션 IT플랫폼부문 대상 (과기정통부)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 만든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지원 플랫폼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프랜차이즈 재직 11년  +  외식 시스템 구축 7년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 · 창업마케팅 저서 다수</a:t>
            </a:r>
            <a:endParaRPr lang="en-US" sz="93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전임교수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 본부장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 팀장</a:t>
            </a:r>
            <a:endParaRPr lang="en-US" sz="930" dirty="0"/>
          </a:p>
        </p:txBody>
      </p:sp>
      <p:sp>
        <p:nvSpPr>
          <p:cNvPr id="37" name="Text 34"/>
          <p:cNvSpPr/>
          <p:nvPr/>
        </p:nvSpPr>
        <p:spPr>
          <a:xfrm>
            <a:off x="685800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창업마케팅 와이즈컴퍼니 대표</a:t>
            </a:r>
            <a:endParaRPr lang="en-US" sz="930" dirty="0"/>
          </a:p>
        </p:txBody>
      </p:sp>
      <p:sp>
        <p:nvSpPr>
          <p:cNvPr id="38" name="Shape 35"/>
          <p:cNvSpPr/>
          <p:nvPr/>
        </p:nvSpPr>
        <p:spPr>
          <a:xfrm>
            <a:off x="4255922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Text 36"/>
          <p:cNvSpPr/>
          <p:nvPr/>
        </p:nvSpPr>
        <p:spPr>
          <a:xfrm>
            <a:off x="4365650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365650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세종대학교 유통학과 겸임교수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4365650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30" dirty="0"/>
          </a:p>
        </p:txBody>
      </p:sp>
      <p:sp>
        <p:nvSpPr>
          <p:cNvPr id="42" name="Text 39"/>
          <p:cNvSpPr/>
          <p:nvPr/>
        </p:nvSpPr>
        <p:spPr>
          <a:xfrm>
            <a:off x="4365650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투썸플레이스 · 폴바셋</a:t>
            </a:r>
            <a:endParaRPr lang="en-US" sz="930" dirty="0"/>
          </a:p>
        </p:txBody>
      </p:sp>
      <p:sp>
        <p:nvSpPr>
          <p:cNvPr id="43" name="Text 40"/>
          <p:cNvSpPr/>
          <p:nvPr/>
        </p:nvSpPr>
        <p:spPr>
          <a:xfrm>
            <a:off x="4365650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30" dirty="0"/>
          </a:p>
        </p:txBody>
      </p:sp>
      <p:sp>
        <p:nvSpPr>
          <p:cNvPr id="44" name="Shape 41"/>
          <p:cNvSpPr/>
          <p:nvPr/>
        </p:nvSpPr>
        <p:spPr>
          <a:xfrm>
            <a:off x="7935773" y="4645152"/>
            <a:ext cx="7315" cy="122529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Text 42"/>
          <p:cNvSpPr/>
          <p:nvPr/>
        </p:nvSpPr>
        <p:spPr>
          <a:xfrm>
            <a:off x="8045501" y="4626864"/>
            <a:ext cx="346039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김준영  </a:t>
            </a:r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CSO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8045501" y="4901184"/>
            <a:ext cx="346039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호텔관광경영학 박사 · 세종대학교 유통학과 겸임교수</a:t>
            </a:r>
            <a:endParaRPr lang="en-US" sz="930" dirty="0"/>
          </a:p>
        </p:txBody>
      </p:sp>
      <p:sp>
        <p:nvSpPr>
          <p:cNvPr id="47" name="Text 44"/>
          <p:cNvSpPr/>
          <p:nvPr/>
        </p:nvSpPr>
        <p:spPr>
          <a:xfrm>
            <a:off x="8045501" y="5175504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한국외식협회 전문위원</a:t>
            </a:r>
            <a:endParaRPr lang="en-US" sz="930" dirty="0"/>
          </a:p>
        </p:txBody>
      </p:sp>
      <p:sp>
        <p:nvSpPr>
          <p:cNvPr id="48" name="Text 45"/>
          <p:cNvSpPr/>
          <p:nvPr/>
        </p:nvSpPr>
        <p:spPr>
          <a:xfrm>
            <a:off x="8045501" y="5390388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제너시스그룹 BBQ OSM팀 실무 관리자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45501" y="5605272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한국프랜차이즈학회 간사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045501" y="5820156"/>
            <a:ext cx="3460394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알파랩 2.0 수석연구원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수행 업무 3종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수행 브랜드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3831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수행 업무 3종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206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8950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14984" y="316382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4" name="Text 10"/>
          <p:cNvSpPr/>
          <p:nvPr/>
        </p:nvSpPr>
        <p:spPr>
          <a:xfrm>
            <a:off x="1014984" y="338328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5" name="Text 11"/>
          <p:cNvSpPr/>
          <p:nvPr/>
        </p:nvSpPr>
        <p:spPr>
          <a:xfrm>
            <a:off x="1014984" y="360273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pic>
        <p:nvPicPr>
          <p:cNvPr id="16" name="Image 2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14984" y="398678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14984" y="426110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19" name="Text 14"/>
          <p:cNvSpPr/>
          <p:nvPr/>
        </p:nvSpPr>
        <p:spPr>
          <a:xfrm>
            <a:off x="1014984" y="448056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20" name="Text 15"/>
          <p:cNvSpPr/>
          <p:nvPr/>
        </p:nvSpPr>
        <p:spPr>
          <a:xfrm>
            <a:off x="1014984" y="470001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pic>
        <p:nvPicPr>
          <p:cNvPr id="21" name="Image 3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14984" y="508406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→ 물건화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014984" y="535838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8"/>
          <p:cNvSpPr/>
          <p:nvPr/>
        </p:nvSpPr>
        <p:spPr>
          <a:xfrm>
            <a:off x="1014984" y="557784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19"/>
          <p:cNvSpPr/>
          <p:nvPr/>
        </p:nvSpPr>
        <p:spPr>
          <a:xfrm>
            <a:off x="1014984" y="579729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0"/>
          <p:cNvSpPr/>
          <p:nvPr/>
        </p:nvSpPr>
        <p:spPr>
          <a:xfrm>
            <a:off x="53126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1"/>
          <p:cNvSpPr/>
          <p:nvPr/>
        </p:nvSpPr>
        <p:spPr>
          <a:xfrm>
            <a:off x="53126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8" name="Text 22"/>
          <p:cNvSpPr/>
          <p:nvPr/>
        </p:nvSpPr>
        <p:spPr>
          <a:xfrm>
            <a:off x="5632704" y="235915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브랜드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312664" y="2659075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10225735" y="2395728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18개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312664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5385816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897548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4" name="Text 28"/>
          <p:cNvSpPr/>
          <p:nvPr/>
        </p:nvSpPr>
        <p:spPr>
          <a:xfrm>
            <a:off x="6970700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백소정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8482432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8555584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원앤원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10067315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8" name="Text 32"/>
          <p:cNvSpPr/>
          <p:nvPr/>
        </p:nvSpPr>
        <p:spPr>
          <a:xfrm>
            <a:off x="10140467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312664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5385816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명륜진사갈비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6897548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6970700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요아정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8482432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8555584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10067315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10140467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밀본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5312664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8" name="Text 42"/>
          <p:cNvSpPr/>
          <p:nvPr/>
        </p:nvSpPr>
        <p:spPr>
          <a:xfrm>
            <a:off x="5385816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897548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6970700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랑데자뷰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8482432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8555584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청년피자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10067315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4" name="Text 48"/>
          <p:cNvSpPr/>
          <p:nvPr/>
        </p:nvSpPr>
        <p:spPr>
          <a:xfrm>
            <a:off x="10140467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셀렉토커피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5312664" y="4924044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0"/>
          <p:cNvSpPr/>
          <p:nvPr/>
        </p:nvSpPr>
        <p:spPr>
          <a:xfrm>
            <a:off x="5312664" y="4924044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7" name="Text 51"/>
          <p:cNvSpPr/>
          <p:nvPr/>
        </p:nvSpPr>
        <p:spPr>
          <a:xfrm>
            <a:off x="5632704" y="4864608"/>
            <a:ext cx="58183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사례</a:t>
            </a:r>
            <a:endParaRPr lang="en-US" sz="1250" dirty="0"/>
          </a:p>
        </p:txBody>
      </p:sp>
      <p:sp>
        <p:nvSpPr>
          <p:cNvPr id="58" name="Shape 52"/>
          <p:cNvSpPr/>
          <p:nvPr/>
        </p:nvSpPr>
        <p:spPr>
          <a:xfrm>
            <a:off x="5312664" y="5164531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Shape 53"/>
          <p:cNvSpPr/>
          <p:nvPr/>
        </p:nvSpPr>
        <p:spPr>
          <a:xfrm>
            <a:off x="5312664" y="5303520"/>
            <a:ext cx="6193231" cy="585216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0" name="Text 54"/>
          <p:cNvSpPr/>
          <p:nvPr/>
        </p:nvSpPr>
        <p:spPr>
          <a:xfrm>
            <a:off x="5513832" y="5303520"/>
            <a:ext cx="5790895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 강동역점 — 임대차 · 가맹 예약 완료 · 주간 실매출 2,150 / 1,500만원 2주 실측</a:t>
            </a:r>
            <a:endParaRPr lang="en-US" sz="1200" dirty="0"/>
          </a:p>
        </p:txBody>
      </p:sp>
      <p:sp>
        <p:nvSpPr>
          <p:cNvPr id="61" name="Text 55"/>
          <p:cNvSpPr/>
          <p:nvPr/>
        </p:nvSpPr>
        <p:spPr>
          <a:xfrm>
            <a:off x="5312664" y="5961888"/>
            <a:ext cx="61932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2025~2026 영업 수행 브랜드 기준 · 브랜드별 계약 체결 건수는 미팅 시 원장 기준으로 제시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E7EFFA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지연 구간별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신고자료 연동 · 검증 리포트 · 상권 분석 · 정보공개서 D-day까지 이미 운영 중인 화면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2629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0"/>
          <p:cNvSpPr/>
          <p:nvPr/>
        </p:nvSpPr>
        <p:spPr>
          <a:xfrm>
            <a:off x="75895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7" name="Text 12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 3" descr="/home/user/onewillco-meeting-2026/runnerpub-proposal/assets/p07_step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46485"/>
            <a:ext cx="2343836" cy="20954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1" name="Shape 15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2" name="Text 16"/>
          <p:cNvSpPr/>
          <p:nvPr/>
        </p:nvSpPr>
        <p:spPr>
          <a:xfrm>
            <a:off x="352341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6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859793"/>
            <a:ext cx="2343836" cy="1482131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28" name="Shape 21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2"/>
          <p:cNvSpPr/>
          <p:nvPr/>
        </p:nvSpPr>
        <p:spPr>
          <a:xfrm>
            <a:off x="6287872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1" name="Text 24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3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721921"/>
            <a:ext cx="2343836" cy="1620004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22222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35" name="Shape 27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28"/>
          <p:cNvSpPr/>
          <p:nvPr/>
        </p:nvSpPr>
        <p:spPr>
          <a:xfrm>
            <a:off x="9052331" y="5396789"/>
            <a:ext cx="238041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8" name="Text 30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9" name="Text 31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Shape 33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4" name="Text 36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42063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35117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628170"/>
            <a:ext cx="10820095" cy="296527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420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8778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8778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8778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3859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8431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8431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8431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문구 사용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351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8083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8083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견적까지 끝낸 브리핑 상태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8083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3164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77363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77363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77363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62817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73890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73890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73890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92469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70417"/>
            <a:ext cx="232257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70417"/>
            <a:ext cx="5157216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70417"/>
            <a:ext cx="2901391" cy="20508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2212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408676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408676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349240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6491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733288"/>
            <a:ext cx="5272888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51576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42432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8017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직접 산출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역량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재량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인력 필요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— 계약 성사 여부와 무관하게 급여 · 4대보험 매월 발생    ※ 일반 대행 —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98064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83464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3035808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할인액 전액 내일사장 성공보수에서 차감 · 본사 가맹비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01568"/>
            <a:ext cx="4730191" cy="54864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43814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639312"/>
            <a:ext cx="44010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005072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할인 한도는 건별 본사 승인 후 확정 · 내일사장 단독 조건 제시 없음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33882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33882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27939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 · 내일사장 수취 구간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57931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Shape 51"/>
          <p:cNvSpPr/>
          <p:nvPr/>
        </p:nvSpPr>
        <p:spPr>
          <a:xfrm>
            <a:off x="6775704" y="470001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5" name="Shape 52"/>
          <p:cNvSpPr/>
          <p:nvPr/>
        </p:nvSpPr>
        <p:spPr>
          <a:xfrm>
            <a:off x="6922008" y="480060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22008" y="480060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7" name="Text 54"/>
          <p:cNvSpPr/>
          <p:nvPr/>
        </p:nvSpPr>
        <p:spPr>
          <a:xfrm>
            <a:off x="7269480" y="471830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7269480" y="491947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59" name="Shape 56"/>
          <p:cNvSpPr/>
          <p:nvPr/>
        </p:nvSpPr>
        <p:spPr>
          <a:xfrm>
            <a:off x="6775704" y="5193792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0" name="Shape 57"/>
          <p:cNvSpPr/>
          <p:nvPr/>
        </p:nvSpPr>
        <p:spPr>
          <a:xfrm>
            <a:off x="6922008" y="5294376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1" name="Text 58"/>
          <p:cNvSpPr/>
          <p:nvPr/>
        </p:nvSpPr>
        <p:spPr>
          <a:xfrm>
            <a:off x="6922008" y="5294376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2" name="Text 59"/>
          <p:cNvSpPr/>
          <p:nvPr/>
        </p:nvSpPr>
        <p:spPr>
          <a:xfrm>
            <a:off x="7269480" y="5212080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7269480" y="5413248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4" name="Shape 61"/>
          <p:cNvSpPr/>
          <p:nvPr/>
        </p:nvSpPr>
        <p:spPr>
          <a:xfrm>
            <a:off x="6775704" y="5687568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5" name="Shape 62"/>
          <p:cNvSpPr/>
          <p:nvPr/>
        </p:nvSpPr>
        <p:spPr>
          <a:xfrm>
            <a:off x="6922008" y="578815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6" name="Text 63"/>
          <p:cNvSpPr/>
          <p:nvPr/>
        </p:nvSpPr>
        <p:spPr>
          <a:xfrm>
            <a:off x="6922008" y="578815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67" name="Text 64"/>
          <p:cNvSpPr/>
          <p:nvPr/>
        </p:nvSpPr>
        <p:spPr>
          <a:xfrm>
            <a:off x="7269480" y="5705856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7269480" y="5907024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 · 수취액 중 200만원 매장 LSM 광고비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—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 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 시뮬레이션 · 실제 조건은 본사 정책에 따름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— 성공보수 차감 후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213037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0116007" y="2889504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2162370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0116007" y="33284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3111703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0116007" y="3767328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순수취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933511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0116007" y="4754880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572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02936"/>
            <a:ext cx="1555852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10116007" y="5157216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55955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05272"/>
            <a:ext cx="3111703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10116007" y="5559552"/>
            <a:ext cx="13898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 × 36개월 = 5억 9,000만원   ·   단위 : 만원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준법 기준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3580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21608" y="4114800"/>
            <a:ext cx="77842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685800" y="44348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1150" dirty="0"/>
          </a:p>
        </p:txBody>
      </p:sp>
      <p:sp>
        <p:nvSpPr>
          <p:cNvPr id="47" name="Text 41"/>
          <p:cNvSpPr/>
          <p:nvPr/>
        </p:nvSpPr>
        <p:spPr>
          <a:xfrm>
            <a:off x="3721608" y="44348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· 내일사장은 전달 및 설명 보조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9" name="Text 43"/>
          <p:cNvSpPr/>
          <p:nvPr/>
        </p:nvSpPr>
        <p:spPr>
          <a:xfrm>
            <a:off x="685800" y="473202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721608" y="473202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 14일 준수 · 기간 단축 유도 금지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685800" y="502920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진술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3721608" y="502920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 약속 금지 · 본사 승인 문구만 사용</a:t>
            </a:r>
            <a:endParaRPr lang="en-US" sz="1150" dirty="0"/>
          </a:p>
        </p:txBody>
      </p:sp>
      <p:sp>
        <p:nvSpPr>
          <p:cNvPr id="54" name="Shape 48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32638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</a:t>
            </a:r>
            <a:endParaRPr lang="en-US" sz="1150" dirty="0"/>
          </a:p>
        </p:txBody>
      </p:sp>
      <p:sp>
        <p:nvSpPr>
          <p:cNvPr id="56" name="Text 50"/>
          <p:cNvSpPr/>
          <p:nvPr/>
        </p:nvSpPr>
        <p:spPr>
          <a:xfrm>
            <a:off x="3721608" y="532638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1150" dirty="0"/>
          </a:p>
        </p:txBody>
      </p:sp>
      <p:sp>
        <p:nvSpPr>
          <p:cNvPr id="57" name="Shape 51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8" name="Text 52"/>
          <p:cNvSpPr/>
          <p:nvPr/>
        </p:nvSpPr>
        <p:spPr>
          <a:xfrm>
            <a:off x="685800" y="562356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1150" dirty="0"/>
          </a:p>
        </p:txBody>
      </p:sp>
      <p:sp>
        <p:nvSpPr>
          <p:cNvPr id="59" name="Text 53"/>
          <p:cNvSpPr/>
          <p:nvPr/>
        </p:nvSpPr>
        <p:spPr>
          <a:xfrm>
            <a:off x="3721608" y="562356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 및 본사 통보</a:t>
            </a:r>
            <a:endParaRPr lang="en-US" sz="1150" dirty="0"/>
          </a:p>
        </p:txBody>
      </p:sp>
      <p:sp>
        <p:nvSpPr>
          <p:cNvPr id="60" name="Shape 54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1" name="Text 55"/>
          <p:cNvSpPr/>
          <p:nvPr/>
        </p:nvSpPr>
        <p:spPr>
          <a:xfrm>
            <a:off x="685800" y="5920740"/>
            <a:ext cx="2889504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</a:t>
            </a:r>
            <a:endParaRPr lang="en-US" sz="1150" dirty="0"/>
          </a:p>
        </p:txBody>
      </p:sp>
      <p:sp>
        <p:nvSpPr>
          <p:cNvPr id="62" name="Text 56"/>
          <p:cNvSpPr/>
          <p:nvPr/>
        </p:nvSpPr>
        <p:spPr>
          <a:xfrm>
            <a:off x="3721608" y="5920740"/>
            <a:ext cx="7637983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내일사장 독자 판단 및 안내 금지</a:t>
            </a:r>
            <a:endParaRPr lang="en-US" sz="1150" dirty="0"/>
          </a:p>
        </p:txBody>
      </p:sp>
      <p:sp>
        <p:nvSpPr>
          <p:cNvPr id="63" name="Shape 57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항목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운영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—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— 본사 결정 사항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 및 단계별 파이프라인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 — 사유 제한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가지만 정해 주시면 그대로 따릅니다.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2026-07-31T08:39:10Z</dcterms:created>
  <dcterms:modified xsi:type="dcterms:W3CDTF">2026-07-31T08:39:10Z</dcterms:modified>
</cp:coreProperties>
</file>