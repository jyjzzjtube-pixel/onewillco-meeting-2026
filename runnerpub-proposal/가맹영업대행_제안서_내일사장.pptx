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4인입니다.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3.png"/><Relationship Id="rId5" Type="http://schemas.openxmlformats.org/officeDocument/2006/relationships/image" Target="../media/image-11-3.png"/><Relationship Id="rId6" Type="http://schemas.openxmlformats.org/officeDocument/2006/relationships/image" Target="../media/image-11-3.png"/><Relationship Id="rId7" Type="http://schemas.openxmlformats.org/officeDocument/2006/relationships/image" Target="../media/image-11-3.png"/><Relationship Id="rId8" Type="http://schemas.openxmlformats.org/officeDocument/2006/relationships/image" Target="../media/image-11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pic>
        <p:nvPicPr>
          <p:cNvPr id="4" name="Image 2" descr="/home/user/onewillco-meeting-2026/runnerpub-proposal/assets/cover_phon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859536"/>
            <a:ext cx="3360087" cy="36393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85800" y="4645152"/>
            <a:ext cx="3977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앱 — 실매출 검증 · 인증 리포트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4937760" y="859536"/>
            <a:ext cx="656813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7" name="Shape 2"/>
          <p:cNvSpPr/>
          <p:nvPr/>
        </p:nvSpPr>
        <p:spPr>
          <a:xfrm>
            <a:off x="493776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3"/>
          <p:cNvSpPr/>
          <p:nvPr/>
        </p:nvSpPr>
        <p:spPr>
          <a:xfrm>
            <a:off x="4937760" y="1444752"/>
            <a:ext cx="6568135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9" name="Text 4"/>
          <p:cNvSpPr/>
          <p:nvPr/>
        </p:nvSpPr>
        <p:spPr>
          <a:xfrm>
            <a:off x="4937760" y="2304288"/>
            <a:ext cx="6568135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발생합니다.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4937760" y="2926080"/>
            <a:ext cx="656813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6"/>
          <p:cNvSpPr/>
          <p:nvPr/>
        </p:nvSpPr>
        <p:spPr>
          <a:xfrm>
            <a:off x="4937760" y="3035808"/>
            <a:ext cx="656813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937760" y="3310128"/>
            <a:ext cx="656813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3" name="Text 8"/>
          <p:cNvSpPr/>
          <p:nvPr/>
        </p:nvSpPr>
        <p:spPr>
          <a:xfrm>
            <a:off x="4937760" y="4114800"/>
            <a:ext cx="656813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4937760" y="4645152"/>
            <a:ext cx="65681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청구하며, 착수금 · 월 고정비 · 광고비 없음 (러너펍 공개 가맹 안내 기준)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1" name="Text 16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4" name="Text 19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7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28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29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지윤진 본부장 · jiyj@sajang.app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359152"/>
            <a:ext cx="5568696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1" name="Shape 7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Text 8"/>
          <p:cNvSpPr/>
          <p:nvPr/>
        </p:nvSpPr>
        <p:spPr>
          <a:xfrm>
            <a:off x="850392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5" name="Text 11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7095744" y="2359152"/>
            <a:ext cx="4410151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7095744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260336" y="2359152"/>
            <a:ext cx="413583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38" name="Shape 34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5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0" name="Text 36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3" name="Text 39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4" name="Text 40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48" name="Text 44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1" name="Text 47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— 접점 확보부터 계약 체결까지</a:t>
            </a:r>
            <a:endParaRPr lang="en-US" sz="1050" dirty="0"/>
          </a:p>
        </p:txBody>
      </p:sp>
      <p:pic>
        <p:nvPicPr>
          <p:cNvPr id="52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3" name="Text 48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26864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Shape 27"/>
          <p:cNvSpPr/>
          <p:nvPr/>
        </p:nvSpPr>
        <p:spPr>
          <a:xfrm>
            <a:off x="685800" y="4626864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5" name="Text 28"/>
          <p:cNvSpPr/>
          <p:nvPr/>
        </p:nvSpPr>
        <p:spPr>
          <a:xfrm>
            <a:off x="850392" y="4626864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서비스 활용 전후 비교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자영업자 1년 생존율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3454603" y="51206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99%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6223406" y="5138928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32%p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  <p:sp>
        <p:nvSpPr>
          <p:cNvPr id="40" name="Text 33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양도양수 성공비율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3454603" y="5724144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6223406" y="574243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33%p</a:t>
            </a:r>
            <a:endParaRPr lang="en-US" sz="1600" dirty="0"/>
          </a:p>
        </p:txBody>
      </p:sp>
      <p:sp>
        <p:nvSpPr>
          <p:cNvPr id="43" name="Text 36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358384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492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· 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직접 수행한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4인 중심의 팀 구성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359152"/>
            <a:ext cx="42519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" name="Shape 6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850392" y="2359152"/>
            <a:ext cx="39776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 및 인증 현황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871216"/>
            <a:ext cx="1100836" cy="219456"/>
          </a:xfrm>
          <a:prstGeom prst="roundRect">
            <a:avLst>
              <a:gd name="adj" fmla="val 250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850392" y="2871216"/>
            <a:ext cx="77165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2022. 06 ~ 12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2020824" y="2852928"/>
            <a:ext cx="291693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MVP 테스트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95528" y="3127248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MVP 테스트 · 정식버전 출시 준비</a:t>
            </a:r>
            <a:endParaRPr lang="en-US" sz="930" dirty="0"/>
          </a:p>
        </p:txBody>
      </p:sp>
      <p:sp>
        <p:nvSpPr>
          <p:cNvPr id="16" name="Text 12"/>
          <p:cNvSpPr/>
          <p:nvPr/>
        </p:nvSpPr>
        <p:spPr>
          <a:xfrm>
            <a:off x="795528" y="3337560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매장등록 200건 · 인증매물 1,000건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685800" y="3648456"/>
            <a:ext cx="945388" cy="219456"/>
          </a:xfrm>
          <a:prstGeom prst="roundRect">
            <a:avLst>
              <a:gd name="adj" fmla="val 250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850392" y="3648456"/>
            <a:ext cx="61620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2023. 01 ~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2020824" y="3630168"/>
            <a:ext cx="291693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설립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795528" y="3904488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30" dirty="0"/>
          </a:p>
        </p:txBody>
      </p:sp>
      <p:sp>
        <p:nvSpPr>
          <p:cNvPr id="21" name="Text 17"/>
          <p:cNvSpPr/>
          <p:nvPr/>
        </p:nvSpPr>
        <p:spPr>
          <a:xfrm>
            <a:off x="795528" y="4114800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부동산중개방법 특허출원 3건</a:t>
            </a:r>
            <a:endParaRPr lang="en-US" sz="930" dirty="0"/>
          </a:p>
        </p:txBody>
      </p:sp>
      <p:sp>
        <p:nvSpPr>
          <p:cNvPr id="22" name="Text 18"/>
          <p:cNvSpPr/>
          <p:nvPr/>
        </p:nvSpPr>
        <p:spPr>
          <a:xfrm>
            <a:off x="795528" y="4325112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연 매출 2억원 · 앱 다운로드 3만 돌파</a:t>
            </a:r>
            <a:endParaRPr lang="en-US" sz="930" dirty="0"/>
          </a:p>
        </p:txBody>
      </p:sp>
      <p:sp>
        <p:nvSpPr>
          <p:cNvPr id="23" name="Shape 19"/>
          <p:cNvSpPr/>
          <p:nvPr/>
        </p:nvSpPr>
        <p:spPr>
          <a:xfrm>
            <a:off x="685800" y="4636008"/>
            <a:ext cx="945388" cy="219456"/>
          </a:xfrm>
          <a:prstGeom prst="roundRect">
            <a:avLst>
              <a:gd name="adj" fmla="val 250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850392" y="4636008"/>
            <a:ext cx="61620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 01 ~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2020824" y="4617720"/>
            <a:ext cx="291693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 다각화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95528" y="4892040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30" dirty="0"/>
          </a:p>
        </p:txBody>
      </p:sp>
      <p:sp>
        <p:nvSpPr>
          <p:cNvPr id="27" name="Text 23"/>
          <p:cNvSpPr/>
          <p:nvPr/>
        </p:nvSpPr>
        <p:spPr>
          <a:xfrm>
            <a:off x="795528" y="5102352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KFA 공동사업단 설립 · 앱 8만 돌파</a:t>
            </a:r>
            <a:endParaRPr lang="en-US" sz="930" dirty="0"/>
          </a:p>
        </p:txBody>
      </p:sp>
      <p:sp>
        <p:nvSpPr>
          <p:cNvPr id="28" name="Shape 24"/>
          <p:cNvSpPr/>
          <p:nvPr/>
        </p:nvSpPr>
        <p:spPr>
          <a:xfrm>
            <a:off x="685800" y="5413248"/>
            <a:ext cx="634492" cy="219456"/>
          </a:xfrm>
          <a:prstGeom prst="roundRect">
            <a:avLst>
              <a:gd name="adj" fmla="val 250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850392" y="5413248"/>
            <a:ext cx="30530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2020824" y="5394960"/>
            <a:ext cx="291693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유치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795528" y="5669280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창구 프로그램 선정</a:t>
            </a:r>
            <a:endParaRPr lang="en-US" sz="930" dirty="0"/>
          </a:p>
        </p:txBody>
      </p:sp>
      <p:sp>
        <p:nvSpPr>
          <p:cNvPr id="32" name="Text 28"/>
          <p:cNvSpPr/>
          <p:nvPr/>
        </p:nvSpPr>
        <p:spPr>
          <a:xfrm>
            <a:off x="795528" y="5879592"/>
            <a:ext cx="4142232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Seed 투자유치 (씨엔티테크—스테이션케이)</a:t>
            </a:r>
            <a:endParaRPr lang="en-US" sz="930" dirty="0"/>
          </a:p>
        </p:txBody>
      </p:sp>
      <p:sp>
        <p:nvSpPr>
          <p:cNvPr id="33" name="Shape 29"/>
          <p:cNvSpPr/>
          <p:nvPr/>
        </p:nvSpPr>
        <p:spPr>
          <a:xfrm>
            <a:off x="5779008" y="1938528"/>
            <a:ext cx="5726887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779008" y="1938528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5" name="Text 31"/>
          <p:cNvSpPr/>
          <p:nvPr/>
        </p:nvSpPr>
        <p:spPr>
          <a:xfrm>
            <a:off x="5943600" y="1938528"/>
            <a:ext cx="545256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실무부터 경영까지 완비된 팀 구성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5779008" y="2340864"/>
            <a:ext cx="5726887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5779008" y="2468880"/>
            <a:ext cx="106070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300" dirty="0"/>
          </a:p>
        </p:txBody>
      </p:sp>
      <p:sp>
        <p:nvSpPr>
          <p:cNvPr id="38" name="Text 34"/>
          <p:cNvSpPr/>
          <p:nvPr/>
        </p:nvSpPr>
        <p:spPr>
          <a:xfrm>
            <a:off x="6876288" y="2496312"/>
            <a:ext cx="106070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8028432" y="2487168"/>
            <a:ext cx="347746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</a:t>
            </a:r>
            <a:endParaRPr lang="en-US" sz="930" dirty="0"/>
          </a:p>
        </p:txBody>
      </p:sp>
      <p:sp>
        <p:nvSpPr>
          <p:cNvPr id="40" name="Text 36"/>
          <p:cNvSpPr/>
          <p:nvPr/>
        </p:nvSpPr>
        <p:spPr>
          <a:xfrm>
            <a:off x="8028432" y="2724912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세종사이버대 외식창업프랜차이즈학 겸임교수</a:t>
            </a:r>
            <a:endParaRPr lang="en-US" sz="930" dirty="0"/>
          </a:p>
        </p:txBody>
      </p:sp>
      <p:sp>
        <p:nvSpPr>
          <p:cNvPr id="41" name="Text 37"/>
          <p:cNvSpPr/>
          <p:nvPr/>
        </p:nvSpPr>
        <p:spPr>
          <a:xfrm>
            <a:off x="8028432" y="2935224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30" dirty="0"/>
          </a:p>
        </p:txBody>
      </p:sp>
      <p:sp>
        <p:nvSpPr>
          <p:cNvPr id="42" name="Text 38"/>
          <p:cNvSpPr/>
          <p:nvPr/>
        </p:nvSpPr>
        <p:spPr>
          <a:xfrm>
            <a:off x="8028432" y="3145536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30" dirty="0"/>
          </a:p>
        </p:txBody>
      </p:sp>
      <p:sp>
        <p:nvSpPr>
          <p:cNvPr id="43" name="Shape 39"/>
          <p:cNvSpPr/>
          <p:nvPr/>
        </p:nvSpPr>
        <p:spPr>
          <a:xfrm>
            <a:off x="5779008" y="3346704"/>
            <a:ext cx="572688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779008" y="3483864"/>
            <a:ext cx="106070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6876288" y="3511296"/>
            <a:ext cx="106070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8028432" y="3502152"/>
            <a:ext cx="347746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세종대학교 유통학과 겸임교수</a:t>
            </a:r>
            <a:endParaRPr lang="en-US" sz="930" dirty="0"/>
          </a:p>
        </p:txBody>
      </p:sp>
      <p:sp>
        <p:nvSpPr>
          <p:cNvPr id="47" name="Text 43"/>
          <p:cNvSpPr/>
          <p:nvPr/>
        </p:nvSpPr>
        <p:spPr>
          <a:xfrm>
            <a:off x="8028432" y="3739896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30" dirty="0"/>
          </a:p>
        </p:txBody>
      </p:sp>
      <p:sp>
        <p:nvSpPr>
          <p:cNvPr id="48" name="Text 44"/>
          <p:cNvSpPr/>
          <p:nvPr/>
        </p:nvSpPr>
        <p:spPr>
          <a:xfrm>
            <a:off x="8028432" y="3950208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CJ푸드빌 · SPC 외 15년</a:t>
            </a:r>
            <a:endParaRPr lang="en-US" sz="930" dirty="0"/>
          </a:p>
        </p:txBody>
      </p:sp>
      <p:sp>
        <p:nvSpPr>
          <p:cNvPr id="49" name="Shape 45"/>
          <p:cNvSpPr/>
          <p:nvPr/>
        </p:nvSpPr>
        <p:spPr>
          <a:xfrm>
            <a:off x="5779008" y="4151376"/>
            <a:ext cx="572688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779008" y="4288536"/>
            <a:ext cx="106070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엄태관</a:t>
            </a:r>
            <a:endParaRPr lang="en-US" sz="1300" dirty="0"/>
          </a:p>
        </p:txBody>
      </p:sp>
      <p:sp>
        <p:nvSpPr>
          <p:cNvPr id="51" name="Text 47"/>
          <p:cNvSpPr/>
          <p:nvPr/>
        </p:nvSpPr>
        <p:spPr>
          <a:xfrm>
            <a:off x="6876288" y="4315968"/>
            <a:ext cx="106070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8028432" y="4306824"/>
            <a:ext cx="347746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30" dirty="0"/>
          </a:p>
        </p:txBody>
      </p:sp>
      <p:sp>
        <p:nvSpPr>
          <p:cNvPr id="53" name="Text 49"/>
          <p:cNvSpPr/>
          <p:nvPr/>
        </p:nvSpPr>
        <p:spPr>
          <a:xfrm>
            <a:off x="8028432" y="4544568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학점은행 기관 운영교수</a:t>
            </a:r>
            <a:endParaRPr lang="en-US" sz="930" dirty="0"/>
          </a:p>
        </p:txBody>
      </p:sp>
      <p:sp>
        <p:nvSpPr>
          <p:cNvPr id="54" name="Text 50"/>
          <p:cNvSpPr/>
          <p:nvPr/>
        </p:nvSpPr>
        <p:spPr>
          <a:xfrm>
            <a:off x="8028432" y="4754880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아딸 가맹사업본부 · 셀렉토커피 영업팀장</a:t>
            </a:r>
            <a:endParaRPr lang="en-US" sz="930" dirty="0"/>
          </a:p>
        </p:txBody>
      </p:sp>
      <p:sp>
        <p:nvSpPr>
          <p:cNvPr id="55" name="Shape 51"/>
          <p:cNvSpPr/>
          <p:nvPr/>
        </p:nvSpPr>
        <p:spPr>
          <a:xfrm>
            <a:off x="5779008" y="4956048"/>
            <a:ext cx="572688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779008" y="5093208"/>
            <a:ext cx="106070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김호병</a:t>
            </a:r>
            <a:endParaRPr lang="en-US" sz="1300" dirty="0"/>
          </a:p>
        </p:txBody>
      </p:sp>
      <p:sp>
        <p:nvSpPr>
          <p:cNvPr id="57" name="Text 53"/>
          <p:cNvSpPr/>
          <p:nvPr/>
        </p:nvSpPr>
        <p:spPr>
          <a:xfrm>
            <a:off x="6876288" y="5120640"/>
            <a:ext cx="106070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900" dirty="0"/>
          </a:p>
        </p:txBody>
      </p:sp>
      <p:sp>
        <p:nvSpPr>
          <p:cNvPr id="58" name="Text 54"/>
          <p:cNvSpPr/>
          <p:nvPr/>
        </p:nvSpPr>
        <p:spPr>
          <a:xfrm>
            <a:off x="8028432" y="5111496"/>
            <a:ext cx="347746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공인중개사</a:t>
            </a:r>
            <a:endParaRPr lang="en-US" sz="930" dirty="0"/>
          </a:p>
        </p:txBody>
      </p:sp>
      <p:sp>
        <p:nvSpPr>
          <p:cNvPr id="59" name="Text 55"/>
          <p:cNvSpPr/>
          <p:nvPr/>
        </p:nvSpPr>
        <p:spPr>
          <a:xfrm>
            <a:off x="8028432" y="5349240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개설 및 영업</a:t>
            </a:r>
            <a:endParaRPr lang="en-US" sz="930" dirty="0"/>
          </a:p>
        </p:txBody>
      </p:sp>
      <p:sp>
        <p:nvSpPr>
          <p:cNvPr id="60" name="Text 56"/>
          <p:cNvSpPr/>
          <p:nvPr/>
        </p:nvSpPr>
        <p:spPr>
          <a:xfrm>
            <a:off x="8028432" y="5559552"/>
            <a:ext cx="3477463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창업컨설팅 경력 5년 이상</a:t>
            </a:r>
            <a:endParaRPr lang="en-US" sz="930" dirty="0"/>
          </a:p>
        </p:txBody>
      </p:sp>
      <p:sp>
        <p:nvSpPr>
          <p:cNvPr id="61" name="Shape 57"/>
          <p:cNvSpPr/>
          <p:nvPr/>
        </p:nvSpPr>
        <p:spPr>
          <a:xfrm>
            <a:off x="5779008" y="5824728"/>
            <a:ext cx="5726887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779008" y="5916168"/>
            <a:ext cx="57268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 천영식 CMO · 장수형 CTO · 김재현 팀장</a:t>
            </a:r>
            <a:endParaRPr lang="en-US" sz="9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수행 업무 3종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수행 브랜드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359152"/>
            <a:ext cx="4206240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8" name="Shape 5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850392" y="2359152"/>
            <a:ext cx="3931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수행 업무 3종</a:t>
            </a:r>
            <a:endParaRPr lang="en-US" sz="1250" dirty="0"/>
          </a:p>
        </p:txBody>
      </p:sp>
      <p:pic>
        <p:nvPicPr>
          <p:cNvPr id="10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14984" y="288950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14984" y="316382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3" name="Text 9"/>
          <p:cNvSpPr/>
          <p:nvPr/>
        </p:nvSpPr>
        <p:spPr>
          <a:xfrm>
            <a:off x="1014984" y="338328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4" name="Text 10"/>
          <p:cNvSpPr/>
          <p:nvPr/>
        </p:nvSpPr>
        <p:spPr>
          <a:xfrm>
            <a:off x="1014984" y="360273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pic>
        <p:nvPicPr>
          <p:cNvPr id="15" name="Image 2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14984" y="398678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014984" y="426110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18" name="Text 13"/>
          <p:cNvSpPr/>
          <p:nvPr/>
        </p:nvSpPr>
        <p:spPr>
          <a:xfrm>
            <a:off x="1014984" y="448056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19" name="Text 14"/>
          <p:cNvSpPr/>
          <p:nvPr/>
        </p:nvSpPr>
        <p:spPr>
          <a:xfrm>
            <a:off x="1014984" y="470001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pic>
        <p:nvPicPr>
          <p:cNvPr id="20" name="Image 3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14984" y="508406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→ 물건화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1014984" y="535838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3" name="Text 17"/>
          <p:cNvSpPr/>
          <p:nvPr/>
        </p:nvSpPr>
        <p:spPr>
          <a:xfrm>
            <a:off x="1014984" y="557784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4" name="Text 18"/>
          <p:cNvSpPr/>
          <p:nvPr/>
        </p:nvSpPr>
        <p:spPr>
          <a:xfrm>
            <a:off x="1014984" y="579729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5" name="Shape 19"/>
          <p:cNvSpPr/>
          <p:nvPr/>
        </p:nvSpPr>
        <p:spPr>
          <a:xfrm>
            <a:off x="5312664" y="2359152"/>
            <a:ext cx="6193231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6" name="Shape 20"/>
          <p:cNvSpPr/>
          <p:nvPr/>
        </p:nvSpPr>
        <p:spPr>
          <a:xfrm>
            <a:off x="5312664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1"/>
          <p:cNvSpPr/>
          <p:nvPr/>
        </p:nvSpPr>
        <p:spPr>
          <a:xfrm>
            <a:off x="5477256" y="2359152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브랜드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10225735" y="2395728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18개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5312664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5385816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897548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6970700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백소정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8482432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4" name="Text 28"/>
          <p:cNvSpPr/>
          <p:nvPr/>
        </p:nvSpPr>
        <p:spPr>
          <a:xfrm>
            <a:off x="8555584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원앤원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10067315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10140467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312664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8" name="Text 32"/>
          <p:cNvSpPr/>
          <p:nvPr/>
        </p:nvSpPr>
        <p:spPr>
          <a:xfrm>
            <a:off x="5385816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명륜진사갈비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6897548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6970700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요아정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8482432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2" name="Text 36"/>
          <p:cNvSpPr/>
          <p:nvPr/>
        </p:nvSpPr>
        <p:spPr>
          <a:xfrm>
            <a:off x="8555584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10067315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38"/>
          <p:cNvSpPr/>
          <p:nvPr/>
        </p:nvSpPr>
        <p:spPr>
          <a:xfrm>
            <a:off x="10140467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밀본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5312664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5385816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6897548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8" name="Text 42"/>
          <p:cNvSpPr/>
          <p:nvPr/>
        </p:nvSpPr>
        <p:spPr>
          <a:xfrm>
            <a:off x="6970700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랑데자뷰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8482432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0" name="Text 44"/>
          <p:cNvSpPr/>
          <p:nvPr/>
        </p:nvSpPr>
        <p:spPr>
          <a:xfrm>
            <a:off x="8555584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청년피자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10067315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10140467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셀렉토커피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5312664" y="4864608"/>
            <a:ext cx="6193231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54" name="Shape 48"/>
          <p:cNvSpPr/>
          <p:nvPr/>
        </p:nvSpPr>
        <p:spPr>
          <a:xfrm>
            <a:off x="5312664" y="4864608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5477256" y="4864608"/>
            <a:ext cx="591891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사례</a:t>
            </a:r>
            <a:endParaRPr lang="en-US" sz="1250" dirty="0"/>
          </a:p>
        </p:txBody>
      </p:sp>
      <p:sp>
        <p:nvSpPr>
          <p:cNvPr id="56" name="Shape 50"/>
          <p:cNvSpPr/>
          <p:nvPr/>
        </p:nvSpPr>
        <p:spPr>
          <a:xfrm>
            <a:off x="5312664" y="5303520"/>
            <a:ext cx="6193231" cy="585216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57" name="Text 51"/>
          <p:cNvSpPr/>
          <p:nvPr/>
        </p:nvSpPr>
        <p:spPr>
          <a:xfrm>
            <a:off x="5513832" y="5303520"/>
            <a:ext cx="5790895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 강동역점 — 임대차 · 가맹 예약 완료 · 주간 실매출 2,150 / 1,500만원 2주 실측</a:t>
            </a:r>
            <a:endParaRPr lang="en-US" sz="1200" dirty="0"/>
          </a:p>
        </p:txBody>
      </p:sp>
      <p:sp>
        <p:nvSpPr>
          <p:cNvPr id="58" name="Text 52"/>
          <p:cNvSpPr/>
          <p:nvPr/>
        </p:nvSpPr>
        <p:spPr>
          <a:xfrm>
            <a:off x="5312664" y="5961888"/>
            <a:ext cx="61932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2025~2026 영업 수행 브랜드 기준 · 브랜드별 계약 체결 건수는 미팅 시 원장 기준으로 제시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359152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8" name="Shape 5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850392" y="2359152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2" name="Text 9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5" name="Text 12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6" name="Shape 13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17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3" name="Shape 19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24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4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0" name="Shape 25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6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2" name="Text 27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4" name="Shape 29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5" name="Text 30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7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9" name="Text 33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1" name="Shape 35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6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3" name="Shape 37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4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5" name="Shape 38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9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7" name="Text 40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9" name="Text 42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0" name="Shape 43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1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2" name="Shape 44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5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4" name="Text 46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5" name="Shape 47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48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7" name="Shape 49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8" name="Shape 50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9" name="Text 51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0" name="Text 52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1" name="Shape 53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4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지연 구간별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신고자료 연동 · 검증 리포트 · 상권 분석 · 정보공개서 D-day까지 이미 운영 중인 화면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2629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0"/>
          <p:cNvSpPr/>
          <p:nvPr/>
        </p:nvSpPr>
        <p:spPr>
          <a:xfrm>
            <a:off x="75895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7" name="Text 12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 3" descr="/home/user/onewillco-meeting-2026/runnerpub-proposal/assets/p07_step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46485"/>
            <a:ext cx="2343836" cy="20954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1" name="Shape 15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2" name="Text 16"/>
          <p:cNvSpPr/>
          <p:nvPr/>
        </p:nvSpPr>
        <p:spPr>
          <a:xfrm>
            <a:off x="352341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6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859793"/>
            <a:ext cx="2343836" cy="1482131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8" name="Shape 21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2"/>
          <p:cNvSpPr/>
          <p:nvPr/>
        </p:nvSpPr>
        <p:spPr>
          <a:xfrm>
            <a:off x="628787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1" name="Text 24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3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721921"/>
            <a:ext cx="2343836" cy="1620004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35" name="Shape 27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28"/>
          <p:cNvSpPr/>
          <p:nvPr/>
        </p:nvSpPr>
        <p:spPr>
          <a:xfrm>
            <a:off x="9052331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685800" y="5835701"/>
            <a:ext cx="10820095" cy="274320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Shape 30"/>
          <p:cNvSpPr/>
          <p:nvPr/>
        </p:nvSpPr>
        <p:spPr>
          <a:xfrm>
            <a:off x="685800" y="5835701"/>
            <a:ext cx="45720" cy="274320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1"/>
          <p:cNvSpPr/>
          <p:nvPr/>
        </p:nvSpPr>
        <p:spPr>
          <a:xfrm>
            <a:off x="850392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1" name="Text 33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2" name="Shape 34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3" name="Text 35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5" name="Text 37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39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48" name="Shape 40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9" name="Text 41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0" name="Shape 42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1" name="Text 43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359152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9" name="Shape 6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7"/>
          <p:cNvSpPr/>
          <p:nvPr/>
        </p:nvSpPr>
        <p:spPr>
          <a:xfrm>
            <a:off x="850392" y="2359152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3442063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035117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628170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5" name="Text 12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Text 16"/>
          <p:cNvSpPr/>
          <p:nvPr/>
        </p:nvSpPr>
        <p:spPr>
          <a:xfrm>
            <a:off x="685800" y="3191256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154680" y="3191256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458200" y="3191256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4420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20"/>
          <p:cNvSpPr/>
          <p:nvPr/>
        </p:nvSpPr>
        <p:spPr>
          <a:xfrm>
            <a:off x="685800" y="348778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154680" y="348778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8458200" y="348778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85800" y="373859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4"/>
          <p:cNvSpPr/>
          <p:nvPr/>
        </p:nvSpPr>
        <p:spPr>
          <a:xfrm>
            <a:off x="685800" y="378431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154680" y="378431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458200" y="378431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문구 사용 · 점주 승인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85800" y="40351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1" name="Text 28"/>
          <p:cNvSpPr/>
          <p:nvPr/>
        </p:nvSpPr>
        <p:spPr>
          <a:xfrm>
            <a:off x="685800" y="408083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154680" y="408083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견적까지 끝낸 브리핑 상태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458200" y="408083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33164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5" name="Text 32"/>
          <p:cNvSpPr/>
          <p:nvPr/>
        </p:nvSpPr>
        <p:spPr>
          <a:xfrm>
            <a:off x="685800" y="437736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3154680" y="437736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8458200" y="437736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85800" y="462817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6"/>
          <p:cNvSpPr/>
          <p:nvPr/>
        </p:nvSpPr>
        <p:spPr>
          <a:xfrm>
            <a:off x="685800" y="467389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154680" y="467389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458200" y="467389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85800" y="492469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40"/>
          <p:cNvSpPr/>
          <p:nvPr/>
        </p:nvSpPr>
        <p:spPr>
          <a:xfrm>
            <a:off x="685800" y="497041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3154680" y="497041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8458200" y="497041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85800" y="52212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685800" y="5349240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349240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850392" y="5349240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0" name="Shape 47"/>
          <p:cNvSpPr/>
          <p:nvPr/>
        </p:nvSpPr>
        <p:spPr>
          <a:xfrm>
            <a:off x="685800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850392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1728216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50392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4" name="Shape 51"/>
          <p:cNvSpPr/>
          <p:nvPr/>
        </p:nvSpPr>
        <p:spPr>
          <a:xfrm>
            <a:off x="6233008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5" name="Text 52"/>
          <p:cNvSpPr/>
          <p:nvPr/>
        </p:nvSpPr>
        <p:spPr>
          <a:xfrm>
            <a:off x="6397600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7275424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397600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15845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685800" y="2415845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850392" y="2415845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1" name="Text 27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2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직접 산출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Text 42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역량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0" name="Shape 46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1" name="Text 47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2" name="Text 48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인력 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— 계약 성사 여부와 무관하게 급여 · 4대보험 매월 발생    ※ 일반 대행 — 착수금 유무 및 반환 조건은 대행사별 계약에 따름</a:t>
            </a:r>
            <a:endParaRPr lang="en-US" sz="850" dirty="0"/>
          </a:p>
        </p:txBody>
      </p:sp>
      <p:pic>
        <p:nvPicPr>
          <p:cNvPr id="57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8" name="Text 53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359152"/>
            <a:ext cx="5669280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8" name="Shape 5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850392" y="2359152"/>
            <a:ext cx="5394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6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30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4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6775704" y="2359152"/>
            <a:ext cx="4730191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9" name="Shape 36"/>
          <p:cNvSpPr/>
          <p:nvPr/>
        </p:nvSpPr>
        <p:spPr>
          <a:xfrm>
            <a:off x="6775704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940296" y="2359152"/>
            <a:ext cx="445587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6775704" y="2798064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6940296" y="283464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940296" y="3035808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할인액 전액 내일사장 성공보수에서 차감 · 본사 가맹비 수취 1,500만원 불변</a:t>
            </a:r>
            <a:endParaRPr lang="en-US" sz="930" dirty="0"/>
          </a:p>
        </p:txBody>
      </p:sp>
      <p:sp>
        <p:nvSpPr>
          <p:cNvPr id="44" name="Shape 41"/>
          <p:cNvSpPr/>
          <p:nvPr/>
        </p:nvSpPr>
        <p:spPr>
          <a:xfrm>
            <a:off x="6775704" y="3401568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5" name="Text 42"/>
          <p:cNvSpPr/>
          <p:nvPr/>
        </p:nvSpPr>
        <p:spPr>
          <a:xfrm>
            <a:off x="6940296" y="343814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940296" y="3639312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7" name="Text 44"/>
          <p:cNvSpPr/>
          <p:nvPr/>
        </p:nvSpPr>
        <p:spPr>
          <a:xfrm>
            <a:off x="6775704" y="4005072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할인 한도는 건별 본사 승인 후 확정 · 내일사장 단독 조건 제시 없음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6775704" y="4279392"/>
            <a:ext cx="4730191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6775704" y="427939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Text 47"/>
          <p:cNvSpPr/>
          <p:nvPr/>
        </p:nvSpPr>
        <p:spPr>
          <a:xfrm>
            <a:off x="6940296" y="4279392"/>
            <a:ext cx="445587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 · 내일사장 수취 구간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775704" y="470001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922008" y="480060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6922008" y="480060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4" name="Text 51"/>
          <p:cNvSpPr/>
          <p:nvPr/>
        </p:nvSpPr>
        <p:spPr>
          <a:xfrm>
            <a:off x="7269480" y="471830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7269480" y="491947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775704" y="5193792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Shape 54"/>
          <p:cNvSpPr/>
          <p:nvPr/>
        </p:nvSpPr>
        <p:spPr>
          <a:xfrm>
            <a:off x="6922008" y="5294376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8" name="Text 55"/>
          <p:cNvSpPr/>
          <p:nvPr/>
        </p:nvSpPr>
        <p:spPr>
          <a:xfrm>
            <a:off x="6922008" y="5294376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59" name="Text 56"/>
          <p:cNvSpPr/>
          <p:nvPr/>
        </p:nvSpPr>
        <p:spPr>
          <a:xfrm>
            <a:off x="7269480" y="5212080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269480" y="5413248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1" name="Shape 58"/>
          <p:cNvSpPr/>
          <p:nvPr/>
        </p:nvSpPr>
        <p:spPr>
          <a:xfrm>
            <a:off x="6775704" y="5687568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2" name="Shape 59"/>
          <p:cNvSpPr/>
          <p:nvPr/>
        </p:nvSpPr>
        <p:spPr>
          <a:xfrm>
            <a:off x="6922008" y="578815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3" name="Text 60"/>
          <p:cNvSpPr/>
          <p:nvPr/>
        </p:nvSpPr>
        <p:spPr>
          <a:xfrm>
            <a:off x="6922008" y="578815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64" name="Text 61"/>
          <p:cNvSpPr/>
          <p:nvPr/>
        </p:nvSpPr>
        <p:spPr>
          <a:xfrm>
            <a:off x="7269480" y="5705856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7269480" y="5907024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 · 수취액 중 200만원 매장 LSM 광고비</a:t>
            </a:r>
            <a:endParaRPr lang="en-US" sz="9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359152"/>
            <a:ext cx="4471416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0" name="Shape 6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850392" y="2359152"/>
            <a:ext cx="419709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1" name="Text 17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— 개설 대가 추가 청구 없음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 · 성공보수는 가맹비 1,500만원 범위 안에서만 정산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 시뮬레이션 · 실제 조건은 본사 정책에 따름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998464" y="2359152"/>
            <a:ext cx="5507431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" name="Shape 21"/>
          <p:cNvSpPr/>
          <p:nvPr/>
        </p:nvSpPr>
        <p:spPr>
          <a:xfrm>
            <a:off x="5998464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163056" y="2359152"/>
            <a:ext cx="523311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— 성공보수 차감 후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28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213037" cy="16459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0116007" y="2889504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1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2162370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0116007" y="3328416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4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3111703" cy="16459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116007" y="3767328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998464" y="4242816"/>
            <a:ext cx="5507431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7" name="Shape 30"/>
          <p:cNvSpPr/>
          <p:nvPr/>
        </p:nvSpPr>
        <p:spPr>
          <a:xfrm>
            <a:off x="5998464" y="4242816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8" name="Text 31"/>
          <p:cNvSpPr/>
          <p:nvPr/>
        </p:nvSpPr>
        <p:spPr>
          <a:xfrm>
            <a:off x="6163056" y="4242816"/>
            <a:ext cx="523311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순수취</a:t>
            </a:r>
            <a:endParaRPr lang="en-US" sz="1250" dirty="0"/>
          </a:p>
        </p:txBody>
      </p:sp>
      <p:sp>
        <p:nvSpPr>
          <p:cNvPr id="39" name="Text 32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0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933511" cy="164592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0116007" y="4754880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17,700만원</a:t>
            </a:r>
            <a:endParaRPr lang="en-US" sz="1100" dirty="0"/>
          </a:p>
        </p:txBody>
      </p:sp>
      <p:sp>
        <p:nvSpPr>
          <p:cNvPr id="42" name="Text 34"/>
          <p:cNvSpPr/>
          <p:nvPr/>
        </p:nvSpPr>
        <p:spPr>
          <a:xfrm>
            <a:off x="5998464" y="51572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3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02936"/>
            <a:ext cx="1555852" cy="164592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10116007" y="5157216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29,500만원</a:t>
            </a:r>
            <a:endParaRPr lang="en-US" sz="1100" dirty="0"/>
          </a:p>
        </p:txBody>
      </p:sp>
      <p:sp>
        <p:nvSpPr>
          <p:cNvPr id="45" name="Text 36"/>
          <p:cNvSpPr/>
          <p:nvPr/>
        </p:nvSpPr>
        <p:spPr>
          <a:xfrm>
            <a:off x="5998464" y="555955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6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05272"/>
            <a:ext cx="3111703" cy="164592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10116007" y="5559552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59,000만원</a:t>
            </a:r>
            <a:endParaRPr lang="en-US" sz="1100" dirty="0"/>
          </a:p>
        </p:txBody>
      </p:sp>
      <p:sp>
        <p:nvSpPr>
          <p:cNvPr id="48" name="Text 38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 × 36개월 = 5억 9,000만원   ·   단위 : 만원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359152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9" name="Shape 6"/>
          <p:cNvSpPr/>
          <p:nvPr/>
        </p:nvSpPr>
        <p:spPr>
          <a:xfrm>
            <a:off x="685800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7"/>
          <p:cNvSpPr/>
          <p:nvPr/>
        </p:nvSpPr>
        <p:spPr>
          <a:xfrm>
            <a:off x="850392" y="2359152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4" name="Text 11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6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0" name="Text 16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2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Shape 19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0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6" name="Text 21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8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Shape 24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1" name="Text 25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2" name="Text 26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4" name="Shape 28"/>
          <p:cNvSpPr/>
          <p:nvPr/>
        </p:nvSpPr>
        <p:spPr>
          <a:xfrm>
            <a:off x="685800" y="3602736"/>
            <a:ext cx="10820095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5" name="Shape 29"/>
          <p:cNvSpPr/>
          <p:nvPr/>
        </p:nvSpPr>
        <p:spPr>
          <a:xfrm>
            <a:off x="685800" y="3602736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850392" y="3602736"/>
            <a:ext cx="105457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준법 기준</a:t>
            </a:r>
            <a:endParaRPr lang="en-US" sz="1250" dirty="0"/>
          </a:p>
        </p:txBody>
      </p:sp>
      <p:sp>
        <p:nvSpPr>
          <p:cNvPr id="37" name="Shape 31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8" name="Shape 32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1" name="Text 35"/>
          <p:cNvSpPr/>
          <p:nvPr/>
        </p:nvSpPr>
        <p:spPr>
          <a:xfrm>
            <a:off x="685800" y="4114800"/>
            <a:ext cx="303580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3721608" y="4114800"/>
            <a:ext cx="77842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38"/>
          <p:cNvSpPr/>
          <p:nvPr/>
        </p:nvSpPr>
        <p:spPr>
          <a:xfrm>
            <a:off x="685800" y="44348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</a:t>
            </a:r>
            <a:endParaRPr lang="en-US" sz="1150" dirty="0"/>
          </a:p>
        </p:txBody>
      </p:sp>
      <p:sp>
        <p:nvSpPr>
          <p:cNvPr id="45" name="Text 39"/>
          <p:cNvSpPr/>
          <p:nvPr/>
        </p:nvSpPr>
        <p:spPr>
          <a:xfrm>
            <a:off x="3721608" y="44348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· 내일사장은 전달 및 설명 보조</a:t>
            </a:r>
            <a:endParaRPr lang="en-US" sz="1150" dirty="0"/>
          </a:p>
        </p:txBody>
      </p:sp>
      <p:sp>
        <p:nvSpPr>
          <p:cNvPr id="46" name="Shape 40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685800" y="473202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</a:t>
            </a:r>
            <a:endParaRPr lang="en-US" sz="1150" dirty="0"/>
          </a:p>
        </p:txBody>
      </p:sp>
      <p:sp>
        <p:nvSpPr>
          <p:cNvPr id="48" name="Text 42"/>
          <p:cNvSpPr/>
          <p:nvPr/>
        </p:nvSpPr>
        <p:spPr>
          <a:xfrm>
            <a:off x="3721608" y="473202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 14일 준수 · 기간 단축 유도 금지</a:t>
            </a:r>
            <a:endParaRPr lang="en-US" sz="1150" dirty="0"/>
          </a:p>
        </p:txBody>
      </p:sp>
      <p:sp>
        <p:nvSpPr>
          <p:cNvPr id="49" name="Shape 43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4"/>
          <p:cNvSpPr/>
          <p:nvPr/>
        </p:nvSpPr>
        <p:spPr>
          <a:xfrm>
            <a:off x="685800" y="502920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진술</a:t>
            </a:r>
            <a:endParaRPr lang="en-US" sz="1150" dirty="0"/>
          </a:p>
        </p:txBody>
      </p:sp>
      <p:sp>
        <p:nvSpPr>
          <p:cNvPr id="51" name="Text 45"/>
          <p:cNvSpPr/>
          <p:nvPr/>
        </p:nvSpPr>
        <p:spPr>
          <a:xfrm>
            <a:off x="3721608" y="502920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 약속 금지 · 본사 승인 문구만 사용</a:t>
            </a:r>
            <a:endParaRPr lang="en-US" sz="1150" dirty="0"/>
          </a:p>
        </p:txBody>
      </p:sp>
      <p:sp>
        <p:nvSpPr>
          <p:cNvPr id="52" name="Shape 46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7"/>
          <p:cNvSpPr/>
          <p:nvPr/>
        </p:nvSpPr>
        <p:spPr>
          <a:xfrm>
            <a:off x="685800" y="532638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721608" y="532638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사전 승인 후 사용</a:t>
            </a:r>
            <a:endParaRPr lang="en-US" sz="1150" dirty="0"/>
          </a:p>
        </p:txBody>
      </p:sp>
      <p:sp>
        <p:nvSpPr>
          <p:cNvPr id="55" name="Shape 49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0"/>
          <p:cNvSpPr/>
          <p:nvPr/>
        </p:nvSpPr>
        <p:spPr>
          <a:xfrm>
            <a:off x="685800" y="562356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확인 시</a:t>
            </a:r>
            <a:endParaRPr lang="en-US" sz="1150" dirty="0"/>
          </a:p>
        </p:txBody>
      </p:sp>
      <p:sp>
        <p:nvSpPr>
          <p:cNvPr id="57" name="Text 51"/>
          <p:cNvSpPr/>
          <p:nvPr/>
        </p:nvSpPr>
        <p:spPr>
          <a:xfrm>
            <a:off x="3721608" y="562356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건 영업 즉시 중단 및 본사 통보</a:t>
            </a:r>
            <a:endParaRPr lang="en-US" sz="1150" dirty="0"/>
          </a:p>
        </p:txBody>
      </p:sp>
      <p:sp>
        <p:nvSpPr>
          <p:cNvPr id="58" name="Shape 52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3"/>
          <p:cNvSpPr/>
          <p:nvPr/>
        </p:nvSpPr>
        <p:spPr>
          <a:xfrm>
            <a:off x="685800" y="59207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</a:t>
            </a:r>
            <a:endParaRPr lang="en-US" sz="1150" dirty="0"/>
          </a:p>
        </p:txBody>
      </p:sp>
      <p:sp>
        <p:nvSpPr>
          <p:cNvPr id="60" name="Text 54"/>
          <p:cNvSpPr/>
          <p:nvPr/>
        </p:nvSpPr>
        <p:spPr>
          <a:xfrm>
            <a:off x="3721608" y="59207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내일사장 독자 판단 및 안내 금지</a:t>
            </a:r>
            <a:endParaRPr lang="en-US" sz="1150" dirty="0"/>
          </a:p>
        </p:txBody>
      </p:sp>
      <p:sp>
        <p:nvSpPr>
          <p:cNvPr id="61" name="Shape 55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항목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운영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—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359152"/>
            <a:ext cx="6083503" cy="31089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Shape 26"/>
          <p:cNvSpPr/>
          <p:nvPr/>
        </p:nvSpPr>
        <p:spPr>
          <a:xfrm>
            <a:off x="5422392" y="2359152"/>
            <a:ext cx="45720" cy="310896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1" name="Text 27"/>
          <p:cNvSpPr/>
          <p:nvPr/>
        </p:nvSpPr>
        <p:spPr>
          <a:xfrm>
            <a:off x="5586984" y="2359152"/>
            <a:ext cx="580918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— 본사 결정 사항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6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9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Text 42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 및 단계별 파이프라인</a:t>
            </a:r>
            <a:endParaRPr lang="en-US" sz="1150" dirty="0"/>
          </a:p>
        </p:txBody>
      </p:sp>
      <p:sp>
        <p:nvSpPr>
          <p:cNvPr id="54" name="Shape 50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51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56" name="Text 52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8" name="Text 54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59" name="Text 55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 — 사유 제한 없음</a:t>
            </a:r>
            <a:endParaRPr lang="en-US" sz="1150" dirty="0"/>
          </a:p>
        </p:txBody>
      </p:sp>
      <p:sp>
        <p:nvSpPr>
          <p:cNvPr id="60" name="Shape 56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1" name="Text 57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2" name="Text 58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3" name="Shape 59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다섯 가지만 정해 주시면 그대로 따릅니다.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지윤진 본부장 · jiyj@sajang.app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2026-07-31T02:13:59Z</dcterms:created>
  <dcterms:modified xsi:type="dcterms:W3CDTF">2026-07-31T02:13:59Z</dcterms:modified>
</cp:coreProperties>
</file>