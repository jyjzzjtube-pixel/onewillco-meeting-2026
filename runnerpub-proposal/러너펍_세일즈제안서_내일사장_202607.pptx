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러너펍 본사에 드리는 가맹영업 대행 제안입니다. 핵심은 두 가지입니다. 첫째, 내일사장은 이미 창업 수요를 확보한 플랫폼입니다. 둘째, 계약이 성사된 건에만 비용이 발생합니다.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러너펍은 개설 기본비용 1,600만원을 전액 할인하는 프로모션을 운영 중이고, 계약에서 오픈까지 4~6주입니다. 확장 의지가 분명한 시점이라는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1,600억 거래, 앱 10만 다운로드, MAU 5만. 영업 모수를 새로 만들 필요가 없다는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신규 창업자와 기존 홀덤펍 리브랜딩, 두 트랙을 동시에 돌립니다. 리브랜딩 트랙은 이미 운영 중인 점주라 결정이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내일사장은 매장을 여는 수요를, 러너러너는 매장을 찾는 수요를 갖고 있습니다. 두 축이 붙으면 출점이 흐름이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 1건당 1,000만원, 부가세 별도. 성사된 건에만 청구합니다. 네고가 들어오면 저희 몫에서 부담하므로 본사 수취액은 변하지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조건만 확정되면 바로 가동할 수 있습니다. 본사 리스크는 0원입니다.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newillco-meeting-2026/e45e1d59-bb0f-5971-8866-2e14a767d632/scratchpad/deck/card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 rot="720000">
            <a:off x="9281160" y="1234440"/>
            <a:ext cx="3108960" cy="4453128"/>
          </a:xfrm>
          <a:prstGeom prst="rect">
            <a:avLst/>
          </a:prstGeom>
        </p:spPr>
      </p:pic>
      <p:pic>
        <p:nvPicPr>
          <p:cNvPr id="3" name="Image 1" descr="/tmp/claude-0/-home-user-onewillco-meeting-2026/e45e1d59-bb0f-5971-8866-2e14a767d632/scratchpad/deck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57200"/>
            <a:ext cx="2057400" cy="67665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430207" y="54864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1B1440">
              <a:alpha val="45000"/>
            </a:srgbClr>
          </a:solidFill>
          <a:ln w="9525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430207" y="548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E8E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PARTNERSHIP PROPOSAL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566928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개설 영업 · 모객 대행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66928" y="2157984"/>
            <a:ext cx="8046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러너펍의 다음 매장을,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C9B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 창업 수요</a:t>
            </a:r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위에서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열겠습니다.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566928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4BE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내일사장은 </a:t>
            </a:r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기반 창업 지원 플랫폼</a:t>
            </a:r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4BE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 가맹영업 전문 조직입니다.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4BE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확보한 창업 수요와 제휴망 위에서 러너펍 가맹점을 개설합니다.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66928" y="5285232"/>
            <a:ext cx="1733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1,600</a:t>
            </a:r>
            <a:pPr indent="0" marL="0">
              <a:buNone/>
            </a:pPr>
            <a:r>
              <a:rPr lang="en-US" sz="1000" b="1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억원+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66928" y="5596128"/>
            <a:ext cx="173324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매물 거래 규모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2409901" y="5285232"/>
            <a:ext cx="1733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100,000</a:t>
            </a:r>
            <a:pPr indent="0" marL="0">
              <a:buNone/>
            </a:pPr>
            <a:r>
              <a:rPr lang="en-US" sz="1000" b="1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건+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409901" y="5596128"/>
            <a:ext cx="173324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누적 다운로드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252874" y="5285232"/>
            <a:ext cx="1733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50,000</a:t>
            </a:r>
            <a:pPr indent="0" marL="0">
              <a:buNone/>
            </a:pPr>
            <a:r>
              <a:rPr lang="en-US" sz="1000" b="1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명+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252874" y="5596128"/>
            <a:ext cx="173324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활성 이용자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095848" y="5285232"/>
            <a:ext cx="1733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</a:t>
            </a:r>
            <a:pPr indent="0" marL="0">
              <a:buNone/>
            </a:pPr>
            <a:r>
              <a:rPr lang="en-US" sz="1000" b="1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건+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095848" y="5596128"/>
            <a:ext cx="173324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매물 등록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938821" y="5285232"/>
            <a:ext cx="1733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pPr indent="0" marL="0">
              <a:buNone/>
            </a:pPr>
            <a:r>
              <a:rPr lang="en-US" sz="1000" b="1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건+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938821" y="5596128"/>
            <a:ext cx="173324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거래 성사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9781794" y="5285232"/>
            <a:ext cx="1733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pPr indent="0" marL="0">
              <a:buNone/>
            </a:pPr>
            <a:r>
              <a:rPr lang="en-US" sz="1000" b="1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9781794" y="5596128"/>
            <a:ext cx="173324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리드타임 단축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66928" y="60899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endParaRPr lang="en-US" sz="1250" dirty="0"/>
          </a:p>
          <a:p>
            <a:pPr indent="0" marL="0">
              <a:buNone/>
            </a:pPr>
            <a:r>
              <a:rPr lang="en-US" sz="90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 개발 · 가맹 영업 · 모객 전문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967167" y="60899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러너스튜디오(주) 귀하</a:t>
            </a:r>
            <a:endParaRPr lang="en-US" sz="95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384048" cy="38404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601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러너펍은 지금,</a:t>
            </a:r>
            <a:endParaRPr lang="en-US" sz="2900" dirty="0"/>
          </a:p>
          <a:p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공격적으로</a:t>
            </a:r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문을 열고 있습니다.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2212848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가맹 안내 기준으로 러너펍은 초기 개설 부담을 사실상 없애고, 계약에서 오픈까지의 기간도 최단 구간으로 압축해 두었습니다. 브랜드는 이미 확장 준비를 마쳤습니다.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3200400"/>
            <a:ext cx="5532120" cy="2670048"/>
          </a:xfrm>
          <a:prstGeom prst="roundRect">
            <a:avLst>
              <a:gd name="adj" fmla="val 2055"/>
            </a:avLst>
          </a:prstGeom>
          <a:solidFill>
            <a:srgbClr val="12101F"/>
          </a:solidFill>
          <a:ln w="12700">
            <a:solidFill>
              <a:srgbClr val="1210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520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브랜드도, 시스템도, 조건도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준비되었습니다.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0976" y="43159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변수는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9B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“누가, 얼마나 빠르게 창업자를 데려오는가”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49194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영업 인력을 직접 늘리면 고정비와 채용 리스크가 함께 늘어납니다. 내일사장은 </a:t>
            </a:r>
            <a:pPr indent="0" marL="0">
              <a:lnSpc>
                <a:spcPts val="17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고정비 없이</a:t>
            </a:r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 물량을 외부에서 만들어 드립니다.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2157984"/>
            <a:ext cx="252054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3408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기본비용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20256" y="26151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trike="sngStrike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1,600만원</a:t>
            </a:r>
            <a:pPr indent="0" marL="0">
              <a:buNone/>
            </a:pPr>
            <a:r>
              <a:rPr lang="en-US" sz="1150" b="1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15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전액 할인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0256" y="30175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오픈지원비·교육비·계약이행보증금·설계감리비를 면제하는 프로모션 운영 중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104224" y="2157984"/>
            <a:ext cx="252054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60256" y="23408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→ 오픈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60256" y="2615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4~6</a:t>
            </a:r>
            <a:pPr indent="0" marL="0">
              <a:buNone/>
            </a:pPr>
            <a:r>
              <a:rPr lang="en-US" sz="1300" b="1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323680" y="30175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 검토부터 시공·교육·오픈 부스팅까지 단계별 지원 체계가 이미 갖춰져 있음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400800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이미 갖춘 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4379976"/>
            <a:ext cx="100584" cy="100584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42976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준법 운영 체계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57616" y="4279392"/>
            <a:ext cx="3267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현금 환전 등 불법 요소를 배제하는 운영 기준과 정기 점검 체크리스트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400800" y="4928616"/>
            <a:ext cx="100584" cy="100584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4846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검증 점포 추천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57616" y="4828032"/>
            <a:ext cx="3267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→ 본사 점포 추천 → 물색 → 확인 → 개점 입지 필터링 체계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400800" y="5477256"/>
            <a:ext cx="100584" cy="100584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5394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러너러너 플랫폼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57616" y="5376672"/>
            <a:ext cx="3267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6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예약·회원관리·정산·토너먼트 운영을 앱에서 처리, 운영 부담 최소화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56692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× 러너펍 가맹영업 파트너십 제안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384048" cy="38404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BRING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601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영업을 </a:t>
            </a:r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시작하지 않습니다.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내일사장은 이미 창업 수요와 거래 데이터가 모여 있는 플랫폼을 운영합니다. 러너펍은 이 위에 브랜드를 올리기만 하면 됩니다.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3411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1,600</a:t>
            </a:r>
            <a:pPr indent="0" marL="0">
              <a:buNone/>
            </a:pPr>
            <a:r>
              <a:rPr lang="en-US" sz="1200" b="1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억원+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6928" y="2743200"/>
            <a:ext cx="34116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매물 거래 규모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962656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계약 시장으로 연결된 거래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4252874" y="2286000"/>
            <a:ext cx="3411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100,000</a:t>
            </a:r>
            <a:pPr indent="0" marL="0">
              <a:buNone/>
            </a:pPr>
            <a:r>
              <a:rPr lang="en-US" sz="1200" b="1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52874" y="2743200"/>
            <a:ext cx="34116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누적 다운로드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52874" y="2962656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창업·양수 수요가 상주하는 채널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7938821" y="2286000"/>
            <a:ext cx="3411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50,000</a:t>
            </a:r>
            <a:pPr indent="0" marL="0">
              <a:buNone/>
            </a:pPr>
            <a:r>
              <a:rPr lang="en-US" sz="1200" b="1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938821" y="2743200"/>
            <a:ext cx="34116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활성 이용자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38821" y="2962656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MAU 기준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66928" y="3346704"/>
            <a:ext cx="3411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</a:t>
            </a:r>
            <a:pPr indent="0" marL="0">
              <a:buNone/>
            </a:pPr>
            <a:r>
              <a:rPr lang="en-US" sz="1200" b="1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6928" y="3803904"/>
            <a:ext cx="34116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매물 등록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023360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점포·상가 데이터베이스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252874" y="3346704"/>
            <a:ext cx="3411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pPr indent="0" marL="0">
              <a:buNone/>
            </a:pPr>
            <a:r>
              <a:rPr lang="en-US" sz="1200" b="1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252874" y="3803904"/>
            <a:ext cx="34116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거래 성사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2874" y="4023360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→ 상담 → 검증 → 계약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938821" y="3346704"/>
            <a:ext cx="3411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pPr indent="0" marL="0">
              <a:buNone/>
            </a:pPr>
            <a:r>
              <a:rPr lang="en-US" sz="1200" b="1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938821" y="3803904"/>
            <a:ext cx="34116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리드타임 단축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38821" y="4023360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계약까지 걸리는 기간 기준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66928" y="4498848"/>
            <a:ext cx="5419192" cy="859536"/>
          </a:xfrm>
          <a:prstGeom prst="roundRect">
            <a:avLst>
              <a:gd name="adj" fmla="val 6383"/>
            </a:avLst>
          </a:prstGeom>
          <a:solidFill>
            <a:srgbClr val="F6F4FC"/>
          </a:solidFill>
          <a:ln w="12700">
            <a:solidFill>
              <a:srgbClr val="F6F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62686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세종대학교 겸임교수진이 만든 플랫폼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486460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무자격 컨설턴트의 불법·허위 중개로 인한 소상공인 피해를 예방하고, 검증된 창업 수요와 거래 데이터를 축적합니다.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205576" y="4498848"/>
            <a:ext cx="5419192" cy="859536"/>
          </a:xfrm>
          <a:prstGeom prst="roundRect">
            <a:avLst>
              <a:gd name="adj" fmla="val 6383"/>
            </a:avLst>
          </a:prstGeom>
          <a:solidFill>
            <a:srgbClr val="F6F4FC"/>
          </a:solidFill>
          <a:ln w="12700">
            <a:solidFill>
              <a:srgbClr val="F6F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9896" y="462686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80개+ 브랜드가 이미 함께합니다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79896" y="486460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 네트워크와 공인중개사 제휴망(리맥스코리아 등)을 통해 입점지와 창업 수요를 동시에 확보합니다.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5486400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2101F"/>
          </a:solidFill>
          <a:ln w="12700">
            <a:solidFill>
              <a:srgbClr val="1210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5778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40" kern="0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숫자가 러너펍에 의미하는 것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4178808" y="56144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모수를 새로 만들 필요가 없다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4178808" y="58704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검토 수요가 이미 플랫폼 안에 있습니다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665976" y="56144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상담이 아니라 거래 경험이다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6665976" y="58704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2,000건 이상을 실제 계약까지 끌고 간 조직입니다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9153144" y="56144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결정까지의 시간이 짧아진다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9153144" y="58704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상권·손익 분석으로 판단 근거를 앞당깁니다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66928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상기 수치는 내일사장 플랫폼 누적 기준입니다.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10710367" y="6309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384048" cy="38404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WE SELL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601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트랙으로 </a:t>
            </a:r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</a:t>
            </a:r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물량을 만듭니다.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창업자만 기다리지 않습니다. 이미 홀덤펍을 운영 중인 점주를 러너펍으로 전환시키는 경로를 함께 가동해 계약 속도를 높입니다.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5419192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286000"/>
            <a:ext cx="5419192" cy="694944"/>
          </a:xfrm>
          <a:prstGeom prst="roundRect">
            <a:avLst>
              <a:gd name="adj" fmla="val 7895"/>
            </a:avLst>
          </a:prstGeom>
          <a:solidFill>
            <a:srgbClr val="241A5C"/>
          </a:solidFill>
          <a:ln w="12700">
            <a:solidFill>
              <a:srgbClr val="241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0"/>
            <a:ext cx="5419192" cy="237744"/>
          </a:xfrm>
          <a:prstGeom prst="rect">
            <a:avLst/>
          </a:prstGeom>
          <a:solidFill>
            <a:srgbClr val="241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377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40" kern="0" dirty="0">
                <a:solidFill>
                  <a:srgbClr val="A99B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 A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77824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창업자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3273552"/>
            <a:ext cx="91440" cy="91440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182112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플랫폼에 상주하는 예비창업자 수요에 러너펍을 직접 노출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96112" y="3694176"/>
            <a:ext cx="91440" cy="91440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602736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기본비용 전액 할인·4~6주 오픈을 핵심 소구점으로 제시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96112" y="4114800"/>
            <a:ext cx="91440" cy="91440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023360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상권분석·손익 시뮬레이션으로 창업 확신을 만들어 클로징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205576" y="2286000"/>
            <a:ext cx="5419192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5576" y="2286000"/>
            <a:ext cx="5419192" cy="694944"/>
          </a:xfrm>
          <a:prstGeom prst="roundRect">
            <a:avLst>
              <a:gd name="adj" fmla="val 7895"/>
            </a:avLst>
          </a:prstGeom>
          <a:solidFill>
            <a:srgbClr val="241A5C"/>
          </a:solidFill>
          <a:ln w="12700">
            <a:solidFill>
              <a:srgbClr val="241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5576" y="2743200"/>
            <a:ext cx="5419192" cy="237744"/>
          </a:xfrm>
          <a:prstGeom prst="rect">
            <a:avLst/>
          </a:prstGeom>
          <a:solidFill>
            <a:srgbClr val="241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6472" y="2377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40" kern="0" dirty="0">
                <a:solidFill>
                  <a:srgbClr val="A99B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 B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516472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홀덤펍 리브랜딩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4760" y="3273552"/>
            <a:ext cx="91440" cy="91440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4216" y="3182112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운영 홀덤펍 점주를 대상으로 러너펍 전환 제안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534760" y="3694176"/>
            <a:ext cx="91440" cy="91440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54216" y="3602736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러너러너 앱 입점에 따른 유입·예약·노쇼 관리 효과를 소구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34760" y="4114800"/>
            <a:ext cx="91440" cy="91440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4216" y="4023360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운영 중인 점주이므로 의사결정이 빠른 즉시 전환형 리드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66928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트랙을 동시에 굴리는 도구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" y="5065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66928" y="5285232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상권분석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5559552"/>
            <a:ext cx="249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적합성과 상권 데이터를 보고서로 제시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331388" y="5065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331388" y="5285232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손익분석 (P&amp;L)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1388" y="5559552"/>
            <a:ext cx="249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수익구조를 수치로 제시해 결정 지연 차단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6095848" y="5065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095848" y="5285232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· 리드관리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95848" y="5559552"/>
            <a:ext cx="249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상담부터 계약까지 파이프라인을 시스템으로 관리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8860307" y="5065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8860307" y="5285232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점포개발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860307" y="5559552"/>
            <a:ext cx="249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제휴 중개망을 통한 입지 물색·확보 지원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창업자가 결정을 미루는 이유는 대부분 정보 부족입니다. 내일사장은 </a:t>
            </a:r>
            <a:pPr indent="0" marL="0">
              <a:buNone/>
            </a:pPr>
            <a:r>
              <a:rPr lang="en-US" sz="10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문서로 제시</a:t>
            </a:r>
            <a:pPr indent="0" marL="0">
              <a:buNone/>
            </a:pPr>
            <a:r>
              <a:rPr lang="en-US" sz="100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그 지연을 끊습니다.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× 러너펍 가맹영업 파트너십 제안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384048" cy="38404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SYNERGY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601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플랫폼이 만나면 </a:t>
            </a:r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유입이 양방향</a:t>
            </a:r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됩니다.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러너펍은 “플랫폼이 만드는 홀덤펍의 새로운 기준”을 내세우는 브랜드입니다. 내일사장 역시 플랫폼 기업입니다. 두 플랫폼은 서로 다른 수요를 붙잡고 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340864"/>
            <a:ext cx="2395728" cy="1481328"/>
          </a:xfrm>
          <a:prstGeom prst="roundRect">
            <a:avLst>
              <a:gd name="adj" fmla="val 3704"/>
            </a:avLst>
          </a:prstGeom>
          <a:solidFill>
            <a:srgbClr val="F6F4FC"/>
          </a:solidFill>
          <a:ln w="12700">
            <a:solidFill>
              <a:srgbClr val="CFC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0545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7432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수요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31089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매장을 여는 사람</a:t>
            </a:r>
            <a:endParaRPr lang="en-US" sz="88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· 업종 전환 희망자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962656" y="2340864"/>
            <a:ext cx="5303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8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93008" y="2340864"/>
            <a:ext cx="23957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DF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250545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러너러너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93008" y="27432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 수요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93008" y="31089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매장을 찾는 사람</a:t>
            </a:r>
            <a:endParaRPr lang="en-US" sz="88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홀덤펍 이용자 · 토너먼트 참가자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345936" y="2340864"/>
            <a:ext cx="1207008" cy="384048"/>
          </a:xfrm>
          <a:prstGeom prst="roundRect">
            <a:avLst>
              <a:gd name="adj" fmla="val 11905"/>
            </a:avLst>
          </a:prstGeom>
          <a:solidFill>
            <a:srgbClr val="F6F4FC"/>
          </a:solidFill>
          <a:ln w="12700">
            <a:solidFill>
              <a:srgbClr val="F6F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340864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단계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717536" y="2304288"/>
            <a:ext cx="3907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4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플랫폼의 창업 수요가 러너펍 가맹점으로 전환됩니다.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345936" y="2907792"/>
            <a:ext cx="1207008" cy="384048"/>
          </a:xfrm>
          <a:prstGeom prst="roundRect">
            <a:avLst>
              <a:gd name="adj" fmla="val 11905"/>
            </a:avLst>
          </a:prstGeom>
          <a:solidFill>
            <a:srgbClr val="F6F4FC"/>
          </a:solidFill>
          <a:ln w="12700">
            <a:solidFill>
              <a:srgbClr val="F6F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90779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단계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7717536" y="2871216"/>
            <a:ext cx="3907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4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개설된 매장은 러너러너 앱의 예약·회원관리·토너먼트 운영 체계 위에서 고객을 확보합니다.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345936" y="3474720"/>
            <a:ext cx="1207008" cy="384048"/>
          </a:xfrm>
          <a:prstGeom prst="roundRect">
            <a:avLst>
              <a:gd name="adj" fmla="val 11905"/>
            </a:avLst>
          </a:prstGeom>
          <a:solidFill>
            <a:srgbClr val="F6F4FC"/>
          </a:solidFill>
          <a:ln w="12700">
            <a:solidFill>
              <a:srgbClr val="F6F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47472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1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단계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7717536" y="3438144"/>
            <a:ext cx="3907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4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운영이 안정된 매장의 성과는 다음 창업자를 설득하는 레퍼런스가 되어 다시 개설로 이어집니다.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566928" y="4059936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러너러너 앱은 리뉴얼 이후 토너먼트를 제외한 플랫폼 서비스 이용자가 </a:t>
            </a:r>
            <a:pPr indent="0" marL="0">
              <a:buNone/>
            </a:pPr>
            <a:r>
              <a:rPr lang="en-US" sz="10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1.5배 증가</a:t>
            </a:r>
            <a:pPr indent="0" marL="0">
              <a:buNone/>
            </a:pPr>
            <a:r>
              <a:rPr lang="en-US" sz="1000" dirty="0">
                <a:solidFill>
                  <a:srgbClr val="3A3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것으로 보도된 바 있습니다. 매장을 늘릴수록 앱의 밀도가 올라가고, 앱의 밀도는 다시 다음 가맹 상담의 설득 자료가 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4553712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12101F"/>
          </a:solidFill>
          <a:ln w="12700">
            <a:solidFill>
              <a:srgbClr val="1210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754880"/>
            <a:ext cx="102531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러너펍은 매장을 </a:t>
            </a:r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C9B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플랫폼을 가졌고, 내일사장은 매장을 </a:t>
            </a:r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C9B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여는</a:t>
            </a:r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수요를 가졌습니다.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축이 붙는 순간 출점은 이벤트가 아니라 흐름이 됩니다.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605332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러너러너 앱 이용자 증가 수치는 언론 보도(IT비즈뉴스, 2024. 7. 4.) 기준입니다.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56692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× 러너펍 가맹영업 파트너십 제안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384048" cy="38404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601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되지 않으면, </a:t>
            </a:r>
            <a:pPr indent="0" marL="0">
              <a:lnSpc>
                <a:spcPts val="3828"/>
              </a:lnSpc>
              <a:buNone/>
            </a:pPr>
            <a:r>
              <a:rPr lang="en-US" sz="29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비용도 없습니다.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11057839" cy="1115568"/>
          </a:xfrm>
          <a:prstGeom prst="roundRect">
            <a:avLst>
              <a:gd name="adj" fmla="val 4918"/>
            </a:avLst>
          </a:prstGeom>
          <a:solidFill>
            <a:srgbClr val="12101F"/>
          </a:solidFill>
          <a:ln w="12700">
            <a:solidFill>
              <a:srgbClr val="1210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105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만원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87552" y="23591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1건당 · 부가가치세 별도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98848" y="1847088"/>
            <a:ext cx="66687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체결과 가맹비 입금이 완료된 건에 대해서만 청구합니다.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착수금 · 월 고정비 · 광고비 등 그 외 비용은 일체 없습니다.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본사는 영업 인력을 늘리지 않고도 출점 물량을 확보하게 됩니다.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54096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  <a:gridCol w="612007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내일사장 수취 성공보수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매장 광고 집행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3A3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1,000만원 전액 수취 시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5B3D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내일사장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3A3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수취액 중 200만원을 해당 매장의 LSM(지역 매장 마케팅) 광고비로 집행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3A3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800만원 이하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5B3D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본사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3A3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본사가 해당 매장의 LSM 광고를 부담·집행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3A3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800만원 초과 1,000만원 미만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5B3D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3A35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집행 주체와 분담 비율을 양사 협의로 결정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66928" y="4736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41248" y="4736592"/>
            <a:ext cx="507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창업자 네고는 내일사장 몫에서 부담합니다.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841248" y="4974336"/>
            <a:ext cx="507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할인이 발생해도 그 금액은 전액 내일사장의 성공보수에서 차감하며, 본사 수취 금액에는 영향이 없습니다.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6205576" y="4736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79896" y="4736592"/>
            <a:ext cx="507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인테리어 시공은 내일사장이 진행할 수 있습니다.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479896" y="4974336"/>
            <a:ext cx="507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시공을 포함한 개설 과정의 추가 수익 분배는 양사가 별도 협의하여 정합니다.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566928" y="53949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1248" y="5394960"/>
            <a:ext cx="507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영업은 본사 승인 자료로만 진행합니다.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841248" y="5632704"/>
            <a:ext cx="507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소개서·창업비용 자료 등 승인된 자료만 사용하며 준법 운영 기준을 따릅니다.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6205576" y="53949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D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79896" y="5394960"/>
            <a:ext cx="507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21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상황은 주 단위로 공유합니다.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479896" y="5632704"/>
            <a:ext cx="507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 현황과 상담 단계를 정기 리포트로 제출해 파이프라인을 투명하게 유지합니다.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6692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× 러너펍 가맹영업 파트너십 제안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6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384048" cy="38404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" y="4023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00584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시작에 필요한 것은 </a:t>
            </a:r>
            <a:pPr indent="0" marL="0">
              <a:buNone/>
            </a:pPr>
            <a:r>
              <a:rPr lang="en-US" sz="3000" b="1" dirty="0">
                <a:solidFill>
                  <a:srgbClr val="C9B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하나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7556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AB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조건이 확정되면 곧바로 영업을 가동할 수 있습니다. 별도의 셋업 비용이나 준비 기간은 필요하지 않습니다.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2526716" cy="1060704"/>
          </a:xfrm>
          <a:prstGeom prst="roundRect">
            <a:avLst>
              <a:gd name="adj" fmla="val 517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23744"/>
            <a:ext cx="2215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21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조건과 업무 범위 논의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31388" y="2377440"/>
            <a:ext cx="2526716" cy="1060704"/>
          </a:xfrm>
          <a:prstGeom prst="roundRect">
            <a:avLst>
              <a:gd name="adj" fmla="val 517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7420" y="2523744"/>
            <a:ext cx="2215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587420" y="2724912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확정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7420" y="3017520"/>
            <a:ext cx="221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 · 정산 기준 합의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95848" y="2377440"/>
            <a:ext cx="2526716" cy="1060704"/>
          </a:xfrm>
          <a:prstGeom prst="roundRect">
            <a:avLst>
              <a:gd name="adj" fmla="val 517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1880" y="2523744"/>
            <a:ext cx="2215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351880" y="2724912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교육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1880" y="3017520"/>
            <a:ext cx="221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상품·준법 기준 숙지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860307" y="2377440"/>
            <a:ext cx="2526716" cy="1060704"/>
          </a:xfrm>
          <a:prstGeom prst="roundRect">
            <a:avLst>
              <a:gd name="adj" fmla="val 517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339" y="2523744"/>
            <a:ext cx="2215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04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116339" y="2724912"/>
            <a:ext cx="221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가동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16339" y="3017520"/>
            <a:ext cx="221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 발굴 및 상담 개시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66928" y="3913632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40" kern="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리스크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66928" y="4151376"/>
            <a:ext cx="332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indent="0" marL="0">
              <a:buNone/>
            </a:pPr>
            <a:r>
              <a:rPr lang="en-US" sz="1200" b="1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6928" y="4590288"/>
            <a:ext cx="332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성사된 건에만 비용이 발생합니다. 고정비도, 선투자도 없습니다.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252874" y="3913632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40" kern="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모수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252874" y="4151376"/>
            <a:ext cx="332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pPr indent="0" marL="0">
              <a:buNone/>
            </a:pPr>
            <a:r>
              <a:rPr lang="en-US" sz="1200" b="1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252874" y="4590288"/>
            <a:ext cx="332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수요와 제휴망이 이미 플랫폼 안에 있습니다. 처음부터 만들지 않습니다.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938821" y="3913632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40" kern="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시점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7938821" y="4151376"/>
            <a:ext cx="332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</a:t>
            </a:r>
            <a:pPr indent="0" marL="0">
              <a:buNone/>
            </a:pPr>
            <a:r>
              <a:rPr lang="en-US" sz="1200" b="1" dirty="0">
                <a:solidFill>
                  <a:srgbClr val="D8A8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가능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38821" y="4590288"/>
            <a:ext cx="3320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A9A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조건만 확정되면 셋업 기간 없이 바로 상담을 시작합니다.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66928" y="523036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러너펍은 이미 확장할 준비를 마쳤습니다.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C9B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속도를 만드는 일</a:t>
            </a:r>
            <a:pPr indent="0" marL="0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내일사장이 맡겠습니다.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928" y="60533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 개발 · 가맹 영업 · 모객 전문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67167" y="60533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러너스튜디오(주) 귀하</a:t>
            </a:r>
            <a:endParaRPr lang="en-US" sz="95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E97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내일사장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러너펍 가맹영업 파트너십 제안</dc:title>
  <dc:subject>PptxGenJS Presentation</dc:subject>
  <dc:creator>내일사장</dc:creator>
  <cp:lastModifiedBy>내일사장</cp:lastModifiedBy>
  <cp:revision>1</cp:revision>
  <dcterms:created xsi:type="dcterms:W3CDTF">2026-07-26T10:28:14Z</dcterms:created>
  <dcterms:modified xsi:type="dcterms:W3CDTF">2026-07-26T10:28:14Z</dcterms:modified>
</cp:coreProperties>
</file>